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8"/>
  </p:notesMasterIdLst>
  <p:sldIdLst>
    <p:sldId id="256" r:id="rId2"/>
    <p:sldId id="670" r:id="rId3"/>
    <p:sldId id="695" r:id="rId4"/>
    <p:sldId id="679" r:id="rId5"/>
    <p:sldId id="651" r:id="rId6"/>
    <p:sldId id="652" r:id="rId7"/>
    <p:sldId id="655" r:id="rId8"/>
    <p:sldId id="648" r:id="rId9"/>
    <p:sldId id="694" r:id="rId10"/>
    <p:sldId id="693" r:id="rId11"/>
    <p:sldId id="631" r:id="rId12"/>
    <p:sldId id="634" r:id="rId13"/>
    <p:sldId id="632" r:id="rId14"/>
    <p:sldId id="633" r:id="rId15"/>
    <p:sldId id="637" r:id="rId16"/>
    <p:sldId id="636" r:id="rId17"/>
    <p:sldId id="635" r:id="rId18"/>
    <p:sldId id="650" r:id="rId19"/>
    <p:sldId id="698" r:id="rId20"/>
    <p:sldId id="639" r:id="rId21"/>
    <p:sldId id="699" r:id="rId22"/>
    <p:sldId id="641" r:id="rId23"/>
    <p:sldId id="644" r:id="rId24"/>
    <p:sldId id="645" r:id="rId25"/>
    <p:sldId id="646" r:id="rId26"/>
    <p:sldId id="700" r:id="rId27"/>
    <p:sldId id="643" r:id="rId28"/>
    <p:sldId id="647" r:id="rId29"/>
    <p:sldId id="702" r:id="rId30"/>
    <p:sldId id="701" r:id="rId31"/>
    <p:sldId id="708" r:id="rId32"/>
    <p:sldId id="686" r:id="rId33"/>
    <p:sldId id="743" r:id="rId34"/>
    <p:sldId id="725" r:id="rId35"/>
    <p:sldId id="748" r:id="rId36"/>
    <p:sldId id="747" r:id="rId37"/>
    <p:sldId id="726" r:id="rId38"/>
    <p:sldId id="703" r:id="rId39"/>
    <p:sldId id="744" r:id="rId40"/>
    <p:sldId id="687" r:id="rId41"/>
    <p:sldId id="709" r:id="rId42"/>
    <p:sldId id="745" r:id="rId43"/>
    <p:sldId id="704" r:id="rId44"/>
    <p:sldId id="710" r:id="rId45"/>
    <p:sldId id="692" r:id="rId46"/>
    <p:sldId id="746" r:id="rId47"/>
    <p:sldId id="711" r:id="rId48"/>
    <p:sldId id="712" r:id="rId49"/>
    <p:sldId id="713" r:id="rId50"/>
    <p:sldId id="727" r:id="rId51"/>
    <p:sldId id="714" r:id="rId52"/>
    <p:sldId id="749" r:id="rId53"/>
    <p:sldId id="705" r:id="rId54"/>
    <p:sldId id="720" r:id="rId55"/>
    <p:sldId id="750" r:id="rId56"/>
    <p:sldId id="728" r:id="rId57"/>
    <p:sldId id="751" r:id="rId58"/>
    <p:sldId id="729" r:id="rId59"/>
    <p:sldId id="730" r:id="rId60"/>
    <p:sldId id="752" r:id="rId61"/>
    <p:sldId id="696" r:id="rId62"/>
    <p:sldId id="697" r:id="rId63"/>
    <p:sldId id="734" r:id="rId64"/>
    <p:sldId id="735" r:id="rId65"/>
    <p:sldId id="736" r:id="rId66"/>
    <p:sldId id="737" r:id="rId67"/>
    <p:sldId id="738" r:id="rId68"/>
    <p:sldId id="739" r:id="rId69"/>
    <p:sldId id="731" r:id="rId70"/>
    <p:sldId id="732" r:id="rId71"/>
    <p:sldId id="684" r:id="rId72"/>
    <p:sldId id="741" r:id="rId73"/>
    <p:sldId id="706" r:id="rId74"/>
    <p:sldId id="707" r:id="rId75"/>
    <p:sldId id="742" r:id="rId76"/>
    <p:sldId id="753" r:id="rId7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appels et Exercice" id="{9A02D4CA-36D1-0242-9570-74B9915D5B21}">
          <p14:sldIdLst>
            <p14:sldId id="256"/>
            <p14:sldId id="670"/>
            <p14:sldId id="695"/>
            <p14:sldId id="679"/>
          </p14:sldIdLst>
        </p14:section>
        <p14:section name="Exceptions" id="{4CA5D339-F766-A64D-A515-9B3EC608669C}">
          <p14:sldIdLst>
            <p14:sldId id="651"/>
            <p14:sldId id="652"/>
            <p14:sldId id="655"/>
            <p14:sldId id="648"/>
            <p14:sldId id="694"/>
            <p14:sldId id="693"/>
            <p14:sldId id="631"/>
            <p14:sldId id="634"/>
            <p14:sldId id="632"/>
            <p14:sldId id="633"/>
            <p14:sldId id="637"/>
            <p14:sldId id="636"/>
            <p14:sldId id="635"/>
            <p14:sldId id="650"/>
            <p14:sldId id="698"/>
            <p14:sldId id="639"/>
            <p14:sldId id="699"/>
            <p14:sldId id="641"/>
            <p14:sldId id="644"/>
            <p14:sldId id="645"/>
            <p14:sldId id="646"/>
            <p14:sldId id="700"/>
            <p14:sldId id="643"/>
            <p14:sldId id="647"/>
            <p14:sldId id="702"/>
            <p14:sldId id="701"/>
            <p14:sldId id="708"/>
            <p14:sldId id="686"/>
            <p14:sldId id="743"/>
            <p14:sldId id="725"/>
            <p14:sldId id="748"/>
            <p14:sldId id="747"/>
            <p14:sldId id="726"/>
            <p14:sldId id="703"/>
            <p14:sldId id="744"/>
            <p14:sldId id="687"/>
            <p14:sldId id="709"/>
            <p14:sldId id="745"/>
            <p14:sldId id="704"/>
            <p14:sldId id="710"/>
            <p14:sldId id="692"/>
            <p14:sldId id="746"/>
            <p14:sldId id="711"/>
            <p14:sldId id="712"/>
            <p14:sldId id="713"/>
            <p14:sldId id="727"/>
            <p14:sldId id="714"/>
            <p14:sldId id="749"/>
            <p14:sldId id="705"/>
            <p14:sldId id="720"/>
            <p14:sldId id="750"/>
            <p14:sldId id="728"/>
            <p14:sldId id="751"/>
            <p14:sldId id="729"/>
            <p14:sldId id="730"/>
            <p14:sldId id="752"/>
            <p14:sldId id="696"/>
            <p14:sldId id="697"/>
            <p14:sldId id="734"/>
            <p14:sldId id="735"/>
            <p14:sldId id="736"/>
            <p14:sldId id="737"/>
            <p14:sldId id="738"/>
            <p14:sldId id="739"/>
            <p14:sldId id="731"/>
            <p14:sldId id="732"/>
            <p14:sldId id="684"/>
            <p14:sldId id="741"/>
            <p14:sldId id="706"/>
            <p14:sldId id="707"/>
            <p14:sldId id="742"/>
            <p14:sldId id="75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2B2B"/>
    <a:srgbClr val="0102EF"/>
    <a:srgbClr val="2C91AF"/>
    <a:srgbClr val="2968A2"/>
    <a:srgbClr val="2866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238"/>
    <p:restoredTop sz="96327"/>
  </p:normalViewPr>
  <p:slideViewPr>
    <p:cSldViewPr snapToGrid="0">
      <p:cViewPr>
        <p:scale>
          <a:sx n="91" d="100"/>
          <a:sy n="91" d="100"/>
        </p:scale>
        <p:origin x="1904" y="18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01/03/2023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F6F35AA9-C5C6-934C-A51C-E9609006C10B}" type="slidenum">
              <a:rPr lang="fr-FR" smtClean="0"/>
              <a:t>15</a:t>
            </a:fld>
            <a:endParaRPr lang="fr-FR"/>
          </a:p>
        </p:txBody>
      </p:sp>
    </p:spTree>
    <p:extLst>
      <p:ext uri="{BB962C8B-B14F-4D97-AF65-F5344CB8AC3E}">
        <p14:creationId xmlns:p14="http://schemas.microsoft.com/office/powerpoint/2010/main" val="3033475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6F35AA9-C5C6-934C-A51C-E9609006C10B}" type="slidenum">
              <a:rPr lang="fr-FR" smtClean="0"/>
              <a:t>20</a:t>
            </a:fld>
            <a:endParaRPr lang="fr-FR"/>
          </a:p>
        </p:txBody>
      </p:sp>
    </p:spTree>
    <p:extLst>
      <p:ext uri="{BB962C8B-B14F-4D97-AF65-F5344CB8AC3E}">
        <p14:creationId xmlns:p14="http://schemas.microsoft.com/office/powerpoint/2010/main" val="1889076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6F35AA9-C5C6-934C-A51C-E9609006C10B}" type="slidenum">
              <a:rPr lang="fr-FR" smtClean="0"/>
              <a:t>41</a:t>
            </a:fld>
            <a:endParaRPr lang="fr-FR"/>
          </a:p>
        </p:txBody>
      </p:sp>
    </p:spTree>
    <p:extLst>
      <p:ext uri="{BB962C8B-B14F-4D97-AF65-F5344CB8AC3E}">
        <p14:creationId xmlns:p14="http://schemas.microsoft.com/office/powerpoint/2010/main" val="2073279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nl-BE" dirty="0"/>
              <a:t>Cliquez et modifiez le titre</a:t>
            </a:r>
            <a:endParaRPr lang="fr-FR" dirty="0"/>
          </a:p>
        </p:txBody>
      </p:sp>
      <p:pic>
        <p:nvPicPr>
          <p:cNvPr id="4" name="Image 3"/>
          <p:cNvPicPr>
            <a:picLocks noChangeAspect="1"/>
          </p:cNvPicPr>
          <p:nvPr userDrawn="1"/>
        </p:nvPicPr>
        <p:blipFill>
          <a:blip r:embed="rId2"/>
          <a:stretch>
            <a:fillRect/>
          </a:stretch>
        </p:blipFill>
        <p:spPr>
          <a:xfrm>
            <a:off x="8081953" y="152719"/>
            <a:ext cx="3517900" cy="1755752"/>
          </a:xfrm>
          <a:prstGeom prst="rect">
            <a:avLst/>
          </a:prstGeom>
        </p:spPr>
      </p:pic>
      <p:sp>
        <p:nvSpPr>
          <p:cNvPr id="5" name="Espace réservé du contenu 2"/>
          <p:cNvSpPr>
            <a:spLocks noGrp="1"/>
          </p:cNvSpPr>
          <p:nvPr>
            <p:ph idx="1"/>
          </p:nvPr>
        </p:nvSpPr>
        <p:spPr>
          <a:xfrm>
            <a:off x="605887" y="1752602"/>
            <a:ext cx="10160000" cy="4373563"/>
          </a:xfrm>
        </p:spPr>
        <p:txBody>
          <a:bodyPr/>
          <a:lstStyle>
            <a:lvl1pPr marL="457200" indent="-457200">
              <a:buFont typeface="+mj-lt"/>
              <a:buAutoNum type="arabicPeriod"/>
              <a:defRPr/>
            </a:lvl1pPr>
          </a:lstStyle>
          <a:p>
            <a:r>
              <a:rPr lang="fr-FR" dirty="0"/>
              <a:t>Accroche:</a:t>
            </a:r>
          </a:p>
          <a:p>
            <a:pPr marL="457200" indent="-457200">
              <a:buFont typeface="+mj-lt"/>
              <a:buAutoNum type="arabicPeriod"/>
            </a:pPr>
            <a:r>
              <a:rPr lang="fr-FR" dirty="0"/>
              <a:t>point 1</a:t>
            </a:r>
          </a:p>
          <a:p>
            <a:pPr marL="457200" indent="-457200">
              <a:buFont typeface="+mj-lt"/>
              <a:buAutoNum type="arabicPeriod"/>
            </a:pPr>
            <a:r>
              <a:rPr lang="fr-FR" dirty="0"/>
              <a:t>point 2</a:t>
            </a:r>
          </a:p>
        </p:txBody>
      </p:sp>
      <p:sp>
        <p:nvSpPr>
          <p:cNvPr id="6" name="Slide Number Placeholder 5"/>
          <p:cNvSpPr txBox="1">
            <a:spLocks/>
          </p:cNvSpPr>
          <p:nvPr userDrawn="1"/>
        </p:nvSpPr>
        <p:spPr>
          <a:xfrm rot="16200000">
            <a:off x="11185410" y="5824645"/>
            <a:ext cx="1315721" cy="486833"/>
          </a:xfrm>
          <a:prstGeom prst="rect">
            <a:avLst/>
          </a:prstGeom>
        </p:spPr>
        <p:txBody>
          <a:bodyPr vert="horz" lIns="91440" tIns="45720" rIns="91440" bIns="45720" rtlCol="0" anchor="ctr"/>
          <a:lstStyle>
            <a:defPPr>
              <a:defRPr lang="fr-FR"/>
            </a:defPPr>
            <a:lvl1pPr marL="0" algn="l" defTabSz="457200" rtl="0" eaLnBrk="1" latinLnBrk="0" hangingPunct="1">
              <a:defRPr sz="2400" b="1"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9CBC1A-C8E6-436B-AD6F-7C57258D788E}" type="slidenum">
              <a:rPr lang="nl-NL" sz="2400" smtClean="0"/>
              <a:pPr/>
              <a:t>‹N°›</a:t>
            </a:fld>
            <a:endParaRPr lang="nl-NL" sz="2400" dirty="0"/>
          </a:p>
        </p:txBody>
      </p:sp>
    </p:spTree>
    <p:extLst>
      <p:ext uri="{BB962C8B-B14F-4D97-AF65-F5344CB8AC3E}">
        <p14:creationId xmlns:p14="http://schemas.microsoft.com/office/powerpoint/2010/main" val="1010501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a:t>Cliquez et modifiez le titre</a:t>
            </a:r>
            <a:endParaRPr lang="en-US"/>
          </a:p>
        </p:txBody>
      </p:sp>
      <p:sp>
        <p:nvSpPr>
          <p:cNvPr id="3" name="Content Placeholder 2"/>
          <p:cNvSpPr>
            <a:spLocks noGrp="1"/>
          </p:cNvSpPr>
          <p:nvPr>
            <p:ph idx="1"/>
          </p:nvPr>
        </p:nvSpPr>
        <p:spPr>
          <a:xfrm>
            <a:off x="609600" y="1752601"/>
            <a:ext cx="4883253" cy="4373563"/>
          </a:xfrm>
        </p:spPr>
        <p:txBody>
          <a:bodyPr/>
          <a:lstStyle>
            <a:lvl1pPr>
              <a:defRPr b="1"/>
            </a:lvl1pPr>
            <a:lvl2pPr>
              <a:defRPr b="1"/>
            </a:lvl2pPr>
            <a:lvl3pPr>
              <a:defRPr b="1"/>
            </a:lvl3pPr>
            <a:lvl4pPr>
              <a:defRPr b="1"/>
            </a:lvl4pPr>
            <a:lvl5pPr>
              <a:defRPr b="1"/>
            </a:lvl5pPr>
          </a:lstStyle>
          <a:p>
            <a:pPr lvl="0"/>
            <a:r>
              <a:rPr lang="nl-BE" dirty="0"/>
              <a:t>Cliquez pour modifier les styles du texte du masque</a:t>
            </a:r>
          </a:p>
          <a:p>
            <a:pPr lvl="1"/>
            <a:r>
              <a:rPr lang="nl-BE" dirty="0"/>
              <a:t>Deuxième niveau</a:t>
            </a:r>
          </a:p>
          <a:p>
            <a:pPr lvl="2"/>
            <a:r>
              <a:rPr lang="nl-BE" dirty="0"/>
              <a:t>Troisième niveau</a:t>
            </a:r>
          </a:p>
          <a:p>
            <a:pPr lvl="3"/>
            <a:r>
              <a:rPr lang="nl-BE" dirty="0"/>
              <a:t>Quatrième niveau</a:t>
            </a:r>
          </a:p>
          <a:p>
            <a:pPr lvl="4"/>
            <a:r>
              <a:rPr lang="nl-BE" dirty="0"/>
              <a:t>Cinquième niveau</a:t>
            </a:r>
            <a:endParaRPr lang="en-US" dirty="0"/>
          </a:p>
        </p:txBody>
      </p:sp>
      <p:sp>
        <p:nvSpPr>
          <p:cNvPr id="6" name="Slide Number Placeholder 5"/>
          <p:cNvSpPr>
            <a:spLocks noGrp="1"/>
          </p:cNvSpPr>
          <p:nvPr>
            <p:ph type="sldNum" sz="quarter" idx="12"/>
          </p:nvPr>
        </p:nvSpPr>
        <p:spPr/>
        <p:txBody>
          <a:bodyPr/>
          <a:lstStyle/>
          <a:p>
            <a:fld id="{B2005DC0-9EAD-DA46-BDA8-BD693362A350}" type="slidenum">
              <a:rPr lang="fr-FR" smtClean="0"/>
              <a:t>‹N°›</a:t>
            </a:fld>
            <a:endParaRPr lang="fr-FR"/>
          </a:p>
        </p:txBody>
      </p:sp>
      <p:sp>
        <p:nvSpPr>
          <p:cNvPr id="5" name="Espace réservé du contenu 4"/>
          <p:cNvSpPr>
            <a:spLocks noGrp="1"/>
          </p:cNvSpPr>
          <p:nvPr>
            <p:ph sz="quarter" idx="13"/>
          </p:nvPr>
        </p:nvSpPr>
        <p:spPr>
          <a:xfrm>
            <a:off x="5712885" y="1752601"/>
            <a:ext cx="5397500" cy="4373563"/>
          </a:xfrm>
        </p:spPr>
        <p:txBody>
          <a:bodyPr/>
          <a:lstStyle/>
          <a:p>
            <a:pPr lvl="0"/>
            <a:r>
              <a:rPr lang="nl-BE"/>
              <a:t>Cliquez pour modifier les styles du texte du masque</a:t>
            </a:r>
          </a:p>
          <a:p>
            <a:pPr lvl="1"/>
            <a:r>
              <a:rPr lang="nl-BE"/>
              <a:t>Deuxième niveau</a:t>
            </a:r>
          </a:p>
          <a:p>
            <a:pPr lvl="2"/>
            <a:r>
              <a:rPr lang="nl-BE"/>
              <a:t>Troisième niveau</a:t>
            </a:r>
          </a:p>
          <a:p>
            <a:pPr lvl="3"/>
            <a:r>
              <a:rPr lang="nl-BE"/>
              <a:t>Quatrième niveau</a:t>
            </a:r>
          </a:p>
          <a:p>
            <a:pPr lvl="4"/>
            <a:r>
              <a:rPr lang="nl-BE"/>
              <a:t>Cinquième niveau</a:t>
            </a:r>
            <a:endParaRPr lang="fr-FR"/>
          </a:p>
        </p:txBody>
      </p:sp>
    </p:spTree>
    <p:extLst>
      <p:ext uri="{BB962C8B-B14F-4D97-AF65-F5344CB8AC3E}">
        <p14:creationId xmlns:p14="http://schemas.microsoft.com/office/powerpoint/2010/main" val="1630647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2022-2023</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hyperlink" Target="http://www.iban.fr/verification.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openclassrooms.com/fr/courses/26832-apprenez-a-programmer-en-java/22404-apprehendez-la-genericite-en-java" TargetMode="External"/><Relationship Id="rId2" Type="http://schemas.openxmlformats.org/officeDocument/2006/relationships/hyperlink" Target="http://fr.wikibooks.org/wiki/Programmation_Java/Types_g%C3%A9n%C3%A9riques" TargetMode="Externa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p:txBody>
          <a:bodyPr/>
          <a:lstStyle/>
          <a:p>
            <a:r>
              <a:rPr lang="fr-FR" dirty="0"/>
              <a:t>JAVA 2</a:t>
            </a:r>
          </a:p>
        </p:txBody>
      </p:sp>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POO – Module 2</a:t>
            </a:r>
          </a:p>
          <a:p>
            <a:r>
              <a:rPr lang="fr-FR"/>
              <a:t>Semaine 5</a:t>
            </a:r>
            <a:endParaRPr lang="fr-FR" dirty="0"/>
          </a:p>
        </p:txBody>
      </p:sp>
    </p:spTree>
    <p:extLst>
      <p:ext uri="{BB962C8B-B14F-4D97-AF65-F5344CB8AC3E}">
        <p14:creationId xmlns:p14="http://schemas.microsoft.com/office/powerpoint/2010/main" val="458771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DC44E8-5A9E-5199-B0B6-0DA56D0593E1}"/>
              </a:ext>
            </a:extLst>
          </p:cNvPr>
          <p:cNvSpPr>
            <a:spLocks noGrp="1"/>
          </p:cNvSpPr>
          <p:nvPr>
            <p:ph type="title"/>
          </p:nvPr>
        </p:nvSpPr>
        <p:spPr/>
        <p:txBody>
          <a:bodyPr/>
          <a:lstStyle/>
          <a:p>
            <a:r>
              <a:rPr lang="fr-FR" dirty="0"/>
              <a:t>Les exceptions</a:t>
            </a:r>
          </a:p>
        </p:txBody>
      </p:sp>
      <p:sp>
        <p:nvSpPr>
          <p:cNvPr id="3" name="Espace réservé du texte 2">
            <a:extLst>
              <a:ext uri="{FF2B5EF4-FFF2-40B4-BE49-F238E27FC236}">
                <a16:creationId xmlns:a16="http://schemas.microsoft.com/office/drawing/2014/main" id="{957BFC8C-D197-C40C-BF26-38C9800DB710}"/>
              </a:ext>
            </a:extLst>
          </p:cNvPr>
          <p:cNvSpPr>
            <a:spLocks noGrp="1"/>
          </p:cNvSpPr>
          <p:nvPr>
            <p:ph type="body" idx="1"/>
          </p:nvPr>
        </p:nvSpPr>
        <p:spPr/>
        <p:txBody>
          <a:bodyPr/>
          <a:lstStyle/>
          <a:p>
            <a:r>
              <a:rPr lang="fr-FR" dirty="0"/>
              <a:t>Comment indiquer à l’appelant que quelque chose a foiré…</a:t>
            </a:r>
          </a:p>
        </p:txBody>
      </p:sp>
    </p:spTree>
    <p:extLst>
      <p:ext uri="{BB962C8B-B14F-4D97-AF65-F5344CB8AC3E}">
        <p14:creationId xmlns:p14="http://schemas.microsoft.com/office/powerpoint/2010/main" val="4122595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Gestion des exceptions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Exemple pratique</a:t>
            </a:r>
          </a:p>
          <a:p>
            <a:pPr marL="342900" indent="-342900">
              <a:lnSpc>
                <a:spcPct val="80000"/>
              </a:lnSpc>
              <a:buFont typeface="Arial"/>
              <a:buChar char="•"/>
            </a:pPr>
            <a:r>
              <a:rPr lang="fr-FR" dirty="0"/>
              <a:t>Introduction</a:t>
            </a:r>
          </a:p>
          <a:p>
            <a:pPr marL="342900" indent="-342900">
              <a:lnSpc>
                <a:spcPct val="80000"/>
              </a:lnSpc>
              <a:buFont typeface="Arial"/>
              <a:buChar char="•"/>
            </a:pPr>
            <a:r>
              <a:rPr lang="fr-FR" dirty="0"/>
              <a:t>Plusieurs Exceptions </a:t>
            </a:r>
          </a:p>
          <a:p>
            <a:pPr marL="342900" indent="-342900">
              <a:lnSpc>
                <a:spcPct val="80000"/>
              </a:lnSpc>
              <a:buFont typeface="Arial"/>
              <a:buChar char="•"/>
            </a:pPr>
            <a:r>
              <a:rPr lang="fr-FR" dirty="0">
                <a:solidFill>
                  <a:schemeClr val="accent4"/>
                </a:solidFill>
              </a:rPr>
              <a:t>Communication avec le gestionnaire d'Exception</a:t>
            </a:r>
          </a:p>
          <a:p>
            <a:pPr marL="342900" indent="-342900">
              <a:lnSpc>
                <a:spcPct val="80000"/>
              </a:lnSpc>
              <a:buFont typeface="Arial"/>
              <a:buChar char="•"/>
            </a:pPr>
            <a:r>
              <a:rPr lang="fr-FR" dirty="0"/>
              <a:t>Le mécanisme de gestion des Exceptions</a:t>
            </a:r>
          </a:p>
          <a:p>
            <a:pPr marL="342900" indent="-342900">
              <a:lnSpc>
                <a:spcPct val="80000"/>
              </a:lnSpc>
              <a:buFont typeface="Arial"/>
              <a:buChar char="•"/>
            </a:pPr>
            <a:r>
              <a:rPr lang="fr-FR" dirty="0"/>
              <a:t>Les Exceptions standard</a:t>
            </a:r>
          </a:p>
          <a:p>
            <a:pPr marL="342900" indent="-342900">
              <a:lnSpc>
                <a:spcPct val="80000"/>
              </a:lnSpc>
              <a:buFont typeface="Arial"/>
              <a:buChar char="•"/>
            </a:pPr>
            <a:r>
              <a:rPr lang="fr-FR" dirty="0"/>
              <a:t>La méthode </a:t>
            </a:r>
            <a:r>
              <a:rPr lang="fr-FR" dirty="0" err="1">
                <a:latin typeface="Consolas"/>
                <a:cs typeface="Consolas"/>
              </a:rPr>
              <a:t>printStackTrace</a:t>
            </a:r>
            <a:endParaRPr lang="fr-FR" dirty="0">
              <a:latin typeface="Consolas"/>
              <a:cs typeface="Consolas"/>
            </a:endParaRPr>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Tree>
    <p:extLst>
      <p:ext uri="{BB962C8B-B14F-4D97-AF65-F5344CB8AC3E}">
        <p14:creationId xmlns:p14="http://schemas.microsoft.com/office/powerpoint/2010/main" val="1889768621"/>
      </p:ext>
    </p:extLst>
  </p:cSld>
  <p:clrMapOvr>
    <a:masterClrMapping/>
  </p:clrMapOvr>
  <p:transition>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BA38E6-91D6-0E28-4148-3A6223E416F9}"/>
              </a:ext>
            </a:extLst>
          </p:cNvPr>
          <p:cNvSpPr>
            <a:spLocks noGrp="1"/>
          </p:cNvSpPr>
          <p:nvPr>
            <p:ph type="title"/>
          </p:nvPr>
        </p:nvSpPr>
        <p:spPr/>
        <p:txBody>
          <a:bodyPr/>
          <a:lstStyle/>
          <a:p>
            <a:r>
              <a:rPr lang="fr-FR" dirty="0"/>
              <a:t>Au dernier cours, nous avons vu…</a:t>
            </a:r>
          </a:p>
        </p:txBody>
      </p:sp>
      <p:grpSp>
        <p:nvGrpSpPr>
          <p:cNvPr id="4" name="Grouper 15">
            <a:extLst>
              <a:ext uri="{FF2B5EF4-FFF2-40B4-BE49-F238E27FC236}">
                <a16:creationId xmlns:a16="http://schemas.microsoft.com/office/drawing/2014/main" id="{DE8BA7F7-82CD-EFB8-73F8-48C8AC83FAB9}"/>
              </a:ext>
            </a:extLst>
          </p:cNvPr>
          <p:cNvGrpSpPr/>
          <p:nvPr/>
        </p:nvGrpSpPr>
        <p:grpSpPr>
          <a:xfrm>
            <a:off x="1862486" y="4484506"/>
            <a:ext cx="3614388" cy="1611907"/>
            <a:chOff x="338486" y="4375646"/>
            <a:chExt cx="3614388" cy="1611907"/>
          </a:xfrm>
        </p:grpSpPr>
        <p:sp>
          <p:nvSpPr>
            <p:cNvPr id="5" name="Rectangle 4">
              <a:extLst>
                <a:ext uri="{FF2B5EF4-FFF2-40B4-BE49-F238E27FC236}">
                  <a16:creationId xmlns:a16="http://schemas.microsoft.com/office/drawing/2014/main" id="{697FA2C6-95EE-81D6-888C-C98336A6AF21}"/>
                </a:ext>
              </a:extLst>
            </p:cNvPr>
            <p:cNvSpPr/>
            <p:nvPr/>
          </p:nvSpPr>
          <p:spPr>
            <a:xfrm>
              <a:off x="338486" y="4857750"/>
              <a:ext cx="3109022" cy="1129803"/>
            </a:xfrm>
            <a:prstGeom prst="rect">
              <a:avLst/>
            </a:prstGeom>
            <a:solidFill>
              <a:schemeClr val="bg1"/>
            </a:solidFill>
            <a:ln>
              <a:solidFill>
                <a:srgbClr val="A608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solidFill>
                  <a:schemeClr val="accent4"/>
                </a:solidFill>
              </a:endParaRPr>
            </a:p>
          </p:txBody>
        </p:sp>
        <p:sp>
          <p:nvSpPr>
            <p:cNvPr id="6" name="ZoneTexte 5">
              <a:extLst>
                <a:ext uri="{FF2B5EF4-FFF2-40B4-BE49-F238E27FC236}">
                  <a16:creationId xmlns:a16="http://schemas.microsoft.com/office/drawing/2014/main" id="{CFA027F1-6C98-A888-48EA-B2B40C8043D1}"/>
                </a:ext>
              </a:extLst>
            </p:cNvPr>
            <p:cNvSpPr txBox="1"/>
            <p:nvPr/>
          </p:nvSpPr>
          <p:spPr>
            <a:xfrm>
              <a:off x="457199" y="4857750"/>
              <a:ext cx="3495675" cy="646331"/>
            </a:xfrm>
            <a:prstGeom prst="rect">
              <a:avLst/>
            </a:prstGeom>
            <a:noFill/>
          </p:spPr>
          <p:txBody>
            <a:bodyPr wrap="square" rtlCol="0">
              <a:spAutoFit/>
            </a:bodyPr>
            <a:lstStyle/>
            <a:p>
              <a:r>
                <a:rPr lang="fr-FR" b="1" dirty="0">
                  <a:solidFill>
                    <a:schemeClr val="accent4"/>
                  </a:solidFill>
                  <a:latin typeface="Consolas"/>
                  <a:cs typeface="Consolas"/>
                </a:rPr>
                <a:t>instruction;</a:t>
              </a:r>
            </a:p>
            <a:p>
              <a:r>
                <a:rPr lang="fr-FR" b="1" dirty="0">
                  <a:solidFill>
                    <a:schemeClr val="accent4"/>
                  </a:solidFill>
                  <a:latin typeface="Consolas"/>
                  <a:cs typeface="Consolas"/>
                </a:rPr>
                <a:t>... new Point(-1, 2);</a:t>
              </a:r>
            </a:p>
          </p:txBody>
        </p:sp>
        <p:sp>
          <p:nvSpPr>
            <p:cNvPr id="7" name="Rectangle 6">
              <a:extLst>
                <a:ext uri="{FF2B5EF4-FFF2-40B4-BE49-F238E27FC236}">
                  <a16:creationId xmlns:a16="http://schemas.microsoft.com/office/drawing/2014/main" id="{4888BF4A-C0AE-7127-BDF0-370FB9F852F9}"/>
                </a:ext>
              </a:extLst>
            </p:cNvPr>
            <p:cNvSpPr/>
            <p:nvPr/>
          </p:nvSpPr>
          <p:spPr>
            <a:xfrm>
              <a:off x="338486" y="4375646"/>
              <a:ext cx="3109022" cy="492145"/>
            </a:xfrm>
            <a:prstGeom prst="rect">
              <a:avLst/>
            </a:prstGeom>
            <a:solidFill>
              <a:schemeClr val="bg1"/>
            </a:solidFill>
            <a:ln>
              <a:solidFill>
                <a:srgbClr val="A608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b="1" dirty="0">
                  <a:solidFill>
                    <a:schemeClr val="accent4"/>
                  </a:solidFill>
                  <a:latin typeface="Consolas"/>
                  <a:cs typeface="Consolas"/>
                </a:rPr>
                <a:t>Programme</a:t>
              </a:r>
              <a:endParaRPr lang="fr-FR" dirty="0">
                <a:solidFill>
                  <a:schemeClr val="accent4"/>
                </a:solidFill>
              </a:endParaRPr>
            </a:p>
          </p:txBody>
        </p:sp>
      </p:grpSp>
      <p:grpSp>
        <p:nvGrpSpPr>
          <p:cNvPr id="8" name="Grouper 18">
            <a:extLst>
              <a:ext uri="{FF2B5EF4-FFF2-40B4-BE49-F238E27FC236}">
                <a16:creationId xmlns:a16="http://schemas.microsoft.com/office/drawing/2014/main" id="{C165802F-191E-3EDB-743B-F9224FF96027}"/>
              </a:ext>
            </a:extLst>
          </p:cNvPr>
          <p:cNvGrpSpPr/>
          <p:nvPr/>
        </p:nvGrpSpPr>
        <p:grpSpPr>
          <a:xfrm>
            <a:off x="4810126" y="4484506"/>
            <a:ext cx="5463633" cy="1611907"/>
            <a:chOff x="3286125" y="4375646"/>
            <a:chExt cx="5463633" cy="1611907"/>
          </a:xfrm>
        </p:grpSpPr>
        <p:grpSp>
          <p:nvGrpSpPr>
            <p:cNvPr id="9" name="Grouper 16">
              <a:extLst>
                <a:ext uri="{FF2B5EF4-FFF2-40B4-BE49-F238E27FC236}">
                  <a16:creationId xmlns:a16="http://schemas.microsoft.com/office/drawing/2014/main" id="{0153A45F-097E-FF8E-29ED-B21DA7F12374}"/>
                </a:ext>
              </a:extLst>
            </p:cNvPr>
            <p:cNvGrpSpPr/>
            <p:nvPr/>
          </p:nvGrpSpPr>
          <p:grpSpPr>
            <a:xfrm>
              <a:off x="5640736" y="4375646"/>
              <a:ext cx="3109022" cy="1611907"/>
              <a:chOff x="5640736" y="4375646"/>
              <a:chExt cx="3109022" cy="1611907"/>
            </a:xfrm>
          </p:grpSpPr>
          <p:sp>
            <p:nvSpPr>
              <p:cNvPr id="11" name="Rectangle 10">
                <a:extLst>
                  <a:ext uri="{FF2B5EF4-FFF2-40B4-BE49-F238E27FC236}">
                    <a16:creationId xmlns:a16="http://schemas.microsoft.com/office/drawing/2014/main" id="{48E8A846-416C-F0BB-8A9E-01EA9B5EB765}"/>
                  </a:ext>
                </a:extLst>
              </p:cNvPr>
              <p:cNvSpPr/>
              <p:nvPr/>
            </p:nvSpPr>
            <p:spPr>
              <a:xfrm>
                <a:off x="5640736" y="4857750"/>
                <a:ext cx="3109022" cy="1129803"/>
              </a:xfrm>
              <a:prstGeom prst="rect">
                <a:avLst/>
              </a:prstGeom>
              <a:solidFill>
                <a:schemeClr val="bg1"/>
              </a:solidFill>
              <a:ln>
                <a:solidFill>
                  <a:srgbClr val="A608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solidFill>
                    <a:schemeClr val="accent4"/>
                  </a:solidFill>
                </a:endParaRPr>
              </a:p>
            </p:txBody>
          </p:sp>
          <p:sp>
            <p:nvSpPr>
              <p:cNvPr id="12" name="ZoneTexte 11">
                <a:extLst>
                  <a:ext uri="{FF2B5EF4-FFF2-40B4-BE49-F238E27FC236}">
                    <a16:creationId xmlns:a16="http://schemas.microsoft.com/office/drawing/2014/main" id="{C2266100-0666-09BB-E7AD-F14877DDA252}"/>
                  </a:ext>
                </a:extLst>
              </p:cNvPr>
              <p:cNvSpPr txBox="1"/>
              <p:nvPr/>
            </p:nvSpPr>
            <p:spPr>
              <a:xfrm>
                <a:off x="5982107" y="5026541"/>
                <a:ext cx="2720568" cy="369332"/>
              </a:xfrm>
              <a:prstGeom prst="rect">
                <a:avLst/>
              </a:prstGeom>
              <a:noFill/>
            </p:spPr>
            <p:txBody>
              <a:bodyPr wrap="square" rtlCol="0">
                <a:spAutoFit/>
              </a:bodyPr>
              <a:lstStyle/>
              <a:p>
                <a:r>
                  <a:rPr lang="fr-FR" b="1" dirty="0">
                    <a:solidFill>
                      <a:schemeClr val="accent4"/>
                    </a:solidFill>
                    <a:latin typeface="Consolas"/>
                    <a:cs typeface="Consolas"/>
                  </a:rPr>
                  <a:t>vérifie coordonnées.</a:t>
                </a:r>
              </a:p>
            </p:txBody>
          </p:sp>
          <p:sp>
            <p:nvSpPr>
              <p:cNvPr id="13" name="Rectangle 12">
                <a:extLst>
                  <a:ext uri="{FF2B5EF4-FFF2-40B4-BE49-F238E27FC236}">
                    <a16:creationId xmlns:a16="http://schemas.microsoft.com/office/drawing/2014/main" id="{DD123283-D774-2D25-E7FF-99676C401E56}"/>
                  </a:ext>
                </a:extLst>
              </p:cNvPr>
              <p:cNvSpPr/>
              <p:nvPr/>
            </p:nvSpPr>
            <p:spPr>
              <a:xfrm>
                <a:off x="5640736" y="4375646"/>
                <a:ext cx="3109022" cy="492145"/>
              </a:xfrm>
              <a:prstGeom prst="rect">
                <a:avLst/>
              </a:prstGeom>
              <a:solidFill>
                <a:schemeClr val="bg1"/>
              </a:solidFill>
              <a:ln>
                <a:solidFill>
                  <a:srgbClr val="A6082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fr-FR" b="1" dirty="0">
                    <a:solidFill>
                      <a:schemeClr val="accent4"/>
                    </a:solidFill>
                    <a:latin typeface="Consolas"/>
                    <a:cs typeface="Consolas"/>
                  </a:rPr>
                  <a:t>Point</a:t>
                </a:r>
                <a:endParaRPr lang="fr-FR" dirty="0">
                  <a:solidFill>
                    <a:schemeClr val="accent4"/>
                  </a:solidFill>
                </a:endParaRPr>
              </a:p>
            </p:txBody>
          </p:sp>
        </p:grpSp>
        <p:sp>
          <p:nvSpPr>
            <p:cNvPr id="10" name="Flèche vers la droite 9">
              <a:extLst>
                <a:ext uri="{FF2B5EF4-FFF2-40B4-BE49-F238E27FC236}">
                  <a16:creationId xmlns:a16="http://schemas.microsoft.com/office/drawing/2014/main" id="{5F7BD4A9-4A51-0CD6-707B-08CF464603C8}"/>
                </a:ext>
              </a:extLst>
            </p:cNvPr>
            <p:cNvSpPr/>
            <p:nvPr/>
          </p:nvSpPr>
          <p:spPr>
            <a:xfrm>
              <a:off x="3286125" y="5261470"/>
              <a:ext cx="2695982" cy="134403"/>
            </a:xfrm>
            <a:prstGeom prst="rightArrow">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solidFill>
                  <a:schemeClr val="accent4"/>
                </a:solidFill>
              </a:endParaRPr>
            </a:p>
          </p:txBody>
        </p:sp>
      </p:grpSp>
      <p:sp>
        <p:nvSpPr>
          <p:cNvPr id="14" name="Flèche vers la gauche 13">
            <a:extLst>
              <a:ext uri="{FF2B5EF4-FFF2-40B4-BE49-F238E27FC236}">
                <a16:creationId xmlns:a16="http://schemas.microsoft.com/office/drawing/2014/main" id="{4AB0117E-DB83-4A42-3808-39C93D164B1A}"/>
              </a:ext>
            </a:extLst>
          </p:cNvPr>
          <p:cNvSpPr/>
          <p:nvPr/>
        </p:nvSpPr>
        <p:spPr>
          <a:xfrm>
            <a:off x="5083870" y="5560829"/>
            <a:ext cx="3789785" cy="614958"/>
          </a:xfrm>
          <a:prstGeom prst="leftArrow">
            <a:avLst/>
          </a:prstGeom>
          <a:solidFill>
            <a:schemeClr val="accent4"/>
          </a:solidFill>
        </p:spPr>
        <p:style>
          <a:lnRef idx="1">
            <a:schemeClr val="accent1"/>
          </a:lnRef>
          <a:fillRef idx="3">
            <a:schemeClr val="accent1"/>
          </a:fillRef>
          <a:effectRef idx="2">
            <a:schemeClr val="accent1"/>
          </a:effectRef>
          <a:fontRef idx="minor">
            <a:schemeClr val="lt1"/>
          </a:fontRef>
        </p:style>
        <p:txBody>
          <a:bodyPr rtlCol="0" anchor="ctr"/>
          <a:lstStyle/>
          <a:p>
            <a:r>
              <a:rPr lang="fr-FR" b="1" dirty="0">
                <a:solidFill>
                  <a:srgbClr val="A6082B"/>
                </a:solidFill>
                <a:latin typeface="Consolas"/>
                <a:cs typeface="Consolas"/>
              </a:rPr>
              <a:t>! Exception de Constructeur</a:t>
            </a:r>
          </a:p>
        </p:txBody>
      </p:sp>
      <p:sp>
        <p:nvSpPr>
          <p:cNvPr id="17" name="Espace réservé du contenu 2">
            <a:extLst>
              <a:ext uri="{FF2B5EF4-FFF2-40B4-BE49-F238E27FC236}">
                <a16:creationId xmlns:a16="http://schemas.microsoft.com/office/drawing/2014/main" id="{4B38FA8B-146F-A83A-72AA-52BE2670D8CB}"/>
              </a:ext>
            </a:extLst>
          </p:cNvPr>
          <p:cNvSpPr>
            <a:spLocks noGrp="1"/>
          </p:cNvSpPr>
          <p:nvPr>
            <p:ph idx="1"/>
          </p:nvPr>
        </p:nvSpPr>
        <p:spPr>
          <a:xfrm>
            <a:off x="838200" y="1825625"/>
            <a:ext cx="10515600" cy="4351338"/>
          </a:xfrm>
        </p:spPr>
        <p:txBody>
          <a:bodyPr/>
          <a:lstStyle/>
          <a:p>
            <a:r>
              <a:rPr lang="fr-FR" dirty="0"/>
              <a:t>La classe </a:t>
            </a:r>
            <a:r>
              <a:rPr lang="fr-FR" dirty="0">
                <a:solidFill>
                  <a:schemeClr val="accent4"/>
                </a:solidFill>
              </a:rPr>
              <a:t>Exception</a:t>
            </a:r>
            <a:endParaRPr lang="fr-FR" dirty="0"/>
          </a:p>
          <a:p>
            <a:pPr lvl="1"/>
            <a:r>
              <a:rPr lang="fr-FR" dirty="0"/>
              <a:t>Comment </a:t>
            </a:r>
            <a:r>
              <a:rPr lang="fr-FR" dirty="0">
                <a:solidFill>
                  <a:schemeClr val="accent4"/>
                </a:solidFill>
              </a:rPr>
              <a:t>créer sa propre Exception </a:t>
            </a:r>
          </a:p>
          <a:p>
            <a:pPr lvl="1"/>
            <a:r>
              <a:rPr lang="fr-FR" dirty="0"/>
              <a:t>Comment </a:t>
            </a:r>
            <a:r>
              <a:rPr lang="fr-FR" dirty="0">
                <a:solidFill>
                  <a:schemeClr val="accent4"/>
                </a:solidFill>
              </a:rPr>
              <a:t>générer l’Exception </a:t>
            </a:r>
            <a:r>
              <a:rPr lang="fr-FR" dirty="0"/>
              <a:t>au niveau de la méthode appelée</a:t>
            </a:r>
          </a:p>
          <a:p>
            <a:pPr lvl="1"/>
            <a:r>
              <a:rPr lang="fr-FR" dirty="0"/>
              <a:t>Comment indiquer à l’appelant qu’une </a:t>
            </a:r>
            <a:r>
              <a:rPr lang="fr-FR" dirty="0">
                <a:solidFill>
                  <a:schemeClr val="accent4"/>
                </a:solidFill>
              </a:rPr>
              <a:t>Exception peut être lancée</a:t>
            </a:r>
          </a:p>
          <a:p>
            <a:pPr lvl="1"/>
            <a:r>
              <a:rPr lang="fr-FR" dirty="0"/>
              <a:t>Comment </a:t>
            </a:r>
            <a:r>
              <a:rPr lang="fr-FR" dirty="0">
                <a:solidFill>
                  <a:schemeClr val="accent4"/>
                </a:solidFill>
              </a:rPr>
              <a:t>lancer l’Exception </a:t>
            </a:r>
            <a:r>
              <a:rPr lang="fr-FR" dirty="0"/>
              <a:t>dans la méthode appelée</a:t>
            </a:r>
          </a:p>
          <a:p>
            <a:pPr lvl="1"/>
            <a:r>
              <a:rPr lang="fr-FR" dirty="0"/>
              <a:t>Comment  </a:t>
            </a:r>
            <a:r>
              <a:rPr lang="fr-FR" dirty="0">
                <a:solidFill>
                  <a:schemeClr val="accent4"/>
                </a:solidFill>
              </a:rPr>
              <a:t>« attraper » l’Exception </a:t>
            </a:r>
            <a:r>
              <a:rPr lang="fr-FR" dirty="0"/>
              <a:t>dans l’appelant</a:t>
            </a:r>
          </a:p>
        </p:txBody>
      </p:sp>
    </p:spTree>
    <p:extLst>
      <p:ext uri="{BB962C8B-B14F-4D97-AF65-F5344CB8AC3E}">
        <p14:creationId xmlns:p14="http://schemas.microsoft.com/office/powerpoint/2010/main" val="2116151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fade">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fade">
                                      <p:cBhvr>
                                        <p:cTn id="17" dur="500"/>
                                        <p:tgtEl>
                                          <p:spTgt spid="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xEl>
                                              <p:pRg st="3" end="3"/>
                                            </p:txEl>
                                          </p:spTgt>
                                        </p:tgtEl>
                                        <p:attrNameLst>
                                          <p:attrName>style.visibility</p:attrName>
                                        </p:attrNameLst>
                                      </p:cBhvr>
                                      <p:to>
                                        <p:strVal val="visible"/>
                                      </p:to>
                                    </p:set>
                                    <p:animEffect transition="in" filter="fade">
                                      <p:cBhvr>
                                        <p:cTn id="22" dur="500"/>
                                        <p:tgtEl>
                                          <p:spTgt spid="1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xEl>
                                              <p:pRg st="4" end="4"/>
                                            </p:txEl>
                                          </p:spTgt>
                                        </p:tgtEl>
                                        <p:attrNameLst>
                                          <p:attrName>style.visibility</p:attrName>
                                        </p:attrNameLst>
                                      </p:cBhvr>
                                      <p:to>
                                        <p:strVal val="visible"/>
                                      </p:to>
                                    </p:set>
                                    <p:animEffect transition="in" filter="fade">
                                      <p:cBhvr>
                                        <p:cTn id="27" dur="500"/>
                                        <p:tgtEl>
                                          <p:spTgt spid="1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txEl>
                                              <p:pRg st="5" end="5"/>
                                            </p:txEl>
                                          </p:spTgt>
                                        </p:tgtEl>
                                        <p:attrNameLst>
                                          <p:attrName>style.visibility</p:attrName>
                                        </p:attrNameLst>
                                      </p:cBhvr>
                                      <p:to>
                                        <p:strVal val="visible"/>
                                      </p:to>
                                    </p:set>
                                    <p:animEffect transition="in" filter="fade">
                                      <p:cBhvr>
                                        <p:cTn id="32" dur="500"/>
                                        <p:tgtEl>
                                          <p:spTgt spid="1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2"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right)">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7"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GB" dirty="0" err="1"/>
              <a:t>Exercice</a:t>
            </a:r>
            <a:r>
              <a:rPr lang="en-GB" dirty="0"/>
              <a:t> (1/3)</a:t>
            </a:r>
          </a:p>
        </p:txBody>
      </p:sp>
      <p:sp>
        <p:nvSpPr>
          <p:cNvPr id="3" name="Espace réservé du contenu 2"/>
          <p:cNvSpPr>
            <a:spLocks noGrp="1"/>
          </p:cNvSpPr>
          <p:nvPr>
            <p:ph idx="1"/>
          </p:nvPr>
        </p:nvSpPr>
        <p:spPr/>
        <p:txBody>
          <a:bodyPr>
            <a:normAutofit lnSpcReduction="10000"/>
          </a:bodyPr>
          <a:lstStyle/>
          <a:p>
            <a:pPr marL="0" indent="0">
              <a:buNone/>
            </a:pPr>
            <a:r>
              <a:rPr lang="en-GB" dirty="0" err="1"/>
              <a:t>Ecrivez</a:t>
            </a:r>
            <a:r>
              <a:rPr lang="en-GB" dirty="0"/>
              <a:t> </a:t>
            </a:r>
            <a:r>
              <a:rPr lang="en-GB" dirty="0" err="1"/>
              <a:t>une</a:t>
            </a:r>
            <a:r>
              <a:rPr lang="en-GB" dirty="0"/>
              <a:t> </a:t>
            </a:r>
            <a:r>
              <a:rPr lang="en-GB" dirty="0" err="1"/>
              <a:t>classe</a:t>
            </a:r>
            <a:r>
              <a:rPr lang="en-GB" dirty="0"/>
              <a:t> </a:t>
            </a:r>
            <a:r>
              <a:rPr lang="en-GB" sz="2400" dirty="0" err="1">
                <a:solidFill>
                  <a:schemeClr val="accent4"/>
                </a:solidFill>
                <a:latin typeface="Consolas"/>
                <a:cs typeface="Consolas"/>
              </a:rPr>
              <a:t>Compte</a:t>
            </a:r>
            <a:r>
              <a:rPr lang="en-GB" dirty="0"/>
              <a:t> (</a:t>
            </a:r>
            <a:r>
              <a:rPr lang="en-GB" dirty="0" err="1"/>
              <a:t>belge</a:t>
            </a:r>
            <a:r>
              <a:rPr lang="en-GB" dirty="0"/>
              <a:t>).</a:t>
            </a:r>
          </a:p>
          <a:p>
            <a:pPr marL="0" indent="0">
              <a:buNone/>
            </a:pPr>
            <a:r>
              <a:rPr lang="en-GB" dirty="0"/>
              <a:t>La </a:t>
            </a:r>
            <a:r>
              <a:rPr lang="en-GB" dirty="0" err="1"/>
              <a:t>classe</a:t>
            </a:r>
            <a:r>
              <a:rPr lang="en-GB" dirty="0"/>
              <a:t> a </a:t>
            </a:r>
          </a:p>
          <a:p>
            <a:r>
              <a:rPr lang="en-GB" dirty="0"/>
              <a:t>un </a:t>
            </a:r>
            <a:r>
              <a:rPr lang="en-GB" dirty="0" err="1"/>
              <a:t>constructeur</a:t>
            </a:r>
            <a:r>
              <a:rPr lang="en-GB" dirty="0"/>
              <a:t> par </a:t>
            </a:r>
            <a:r>
              <a:rPr lang="en-GB" dirty="0" err="1"/>
              <a:t>défaut</a:t>
            </a:r>
            <a:r>
              <a:rPr lang="en-GB" dirty="0"/>
              <a:t> (</a:t>
            </a:r>
            <a:r>
              <a:rPr lang="en-GB" dirty="0" err="1"/>
              <a:t>donc</a:t>
            </a:r>
            <a:r>
              <a:rPr lang="en-GB" dirty="0"/>
              <a:t> pas de </a:t>
            </a:r>
            <a:r>
              <a:rPr lang="en-GB" dirty="0" err="1"/>
              <a:t>constructeur</a:t>
            </a:r>
            <a:r>
              <a:rPr lang="en-GB" dirty="0"/>
              <a:t> </a:t>
            </a:r>
            <a:r>
              <a:rPr lang="en-GB" dirty="0" err="1"/>
              <a:t>explicite</a:t>
            </a:r>
            <a:r>
              <a:rPr lang="en-GB" dirty="0"/>
              <a:t>), </a:t>
            </a:r>
          </a:p>
          <a:p>
            <a:r>
              <a:rPr lang="en-GB" dirty="0"/>
              <a:t>un </a:t>
            </a:r>
            <a:r>
              <a:rPr lang="en-GB" dirty="0" err="1"/>
              <a:t>solde</a:t>
            </a:r>
            <a:r>
              <a:rPr lang="en-GB" dirty="0"/>
              <a:t> (0) </a:t>
            </a:r>
            <a:r>
              <a:rPr lang="en-GB" sz="2400" dirty="0">
                <a:solidFill>
                  <a:schemeClr val="accent4"/>
                </a:solidFill>
                <a:latin typeface="Consolas"/>
                <a:cs typeface="Consolas"/>
              </a:rPr>
              <a:t>double</a:t>
            </a:r>
          </a:p>
          <a:p>
            <a:r>
              <a:rPr lang="en-GB" dirty="0" err="1"/>
              <a:t>une</a:t>
            </a:r>
            <a:r>
              <a:rPr lang="en-GB" dirty="0"/>
              <a:t> </a:t>
            </a:r>
            <a:r>
              <a:rPr lang="en-GB" dirty="0" err="1"/>
              <a:t>méthode</a:t>
            </a:r>
            <a:r>
              <a:rPr lang="en-GB" dirty="0"/>
              <a:t> </a:t>
            </a:r>
            <a:r>
              <a:rPr lang="en-GB" sz="2400" dirty="0">
                <a:solidFill>
                  <a:schemeClr val="accent4"/>
                </a:solidFill>
                <a:latin typeface="Consolas"/>
                <a:cs typeface="Consolas"/>
              </a:rPr>
              <a:t>double </a:t>
            </a:r>
            <a:r>
              <a:rPr lang="en-GB" sz="2400" dirty="0" err="1">
                <a:solidFill>
                  <a:schemeClr val="accent4"/>
                </a:solidFill>
                <a:latin typeface="Consolas"/>
                <a:cs typeface="Consolas"/>
              </a:rPr>
              <a:t>getSolde</a:t>
            </a:r>
            <a:r>
              <a:rPr lang="en-GB" sz="2400" dirty="0">
                <a:solidFill>
                  <a:schemeClr val="accent4"/>
                </a:solidFill>
                <a:latin typeface="Consolas"/>
                <a:cs typeface="Consolas"/>
              </a:rPr>
              <a:t>() </a:t>
            </a:r>
          </a:p>
          <a:p>
            <a:r>
              <a:rPr lang="en-GB" dirty="0" err="1"/>
              <a:t>une</a:t>
            </a:r>
            <a:r>
              <a:rPr lang="en-GB" dirty="0"/>
              <a:t> </a:t>
            </a:r>
            <a:r>
              <a:rPr lang="en-GB" dirty="0" err="1"/>
              <a:t>méthode</a:t>
            </a:r>
            <a:r>
              <a:rPr lang="en-GB" dirty="0"/>
              <a:t> </a:t>
            </a:r>
            <a:r>
              <a:rPr lang="en-GB" sz="2400" dirty="0">
                <a:solidFill>
                  <a:schemeClr val="accent4"/>
                </a:solidFill>
                <a:latin typeface="Consolas"/>
                <a:cs typeface="Consolas"/>
              </a:rPr>
              <a:t>void </a:t>
            </a:r>
            <a:r>
              <a:rPr lang="en-GB" sz="2400" dirty="0" err="1">
                <a:solidFill>
                  <a:schemeClr val="accent4"/>
                </a:solidFill>
                <a:latin typeface="Consolas"/>
                <a:cs typeface="Consolas"/>
              </a:rPr>
              <a:t>ajoute</a:t>
            </a:r>
            <a:r>
              <a:rPr lang="en-GB" sz="2400" dirty="0">
                <a:solidFill>
                  <a:schemeClr val="accent4"/>
                </a:solidFill>
                <a:latin typeface="Consolas"/>
                <a:cs typeface="Consolas"/>
              </a:rPr>
              <a:t>(</a:t>
            </a:r>
            <a:r>
              <a:rPr lang="en-GB" sz="2400" dirty="0" err="1">
                <a:solidFill>
                  <a:schemeClr val="accent4"/>
                </a:solidFill>
                <a:latin typeface="Consolas"/>
                <a:cs typeface="Consolas"/>
              </a:rPr>
              <a:t>montant</a:t>
            </a:r>
            <a:r>
              <a:rPr lang="en-GB" sz="2400" dirty="0">
                <a:solidFill>
                  <a:schemeClr val="accent4"/>
                </a:solidFill>
                <a:latin typeface="Consolas"/>
                <a:cs typeface="Consolas"/>
              </a:rPr>
              <a:t>) </a:t>
            </a:r>
          </a:p>
          <a:p>
            <a:r>
              <a:rPr lang="en-GB" dirty="0" err="1"/>
              <a:t>une</a:t>
            </a:r>
            <a:r>
              <a:rPr lang="en-GB" dirty="0"/>
              <a:t> </a:t>
            </a:r>
            <a:r>
              <a:rPr lang="en-GB" dirty="0" err="1"/>
              <a:t>méthode</a:t>
            </a:r>
            <a:r>
              <a:rPr lang="en-GB" dirty="0"/>
              <a:t> </a:t>
            </a:r>
            <a:r>
              <a:rPr lang="en-GB" sz="2400" dirty="0">
                <a:solidFill>
                  <a:schemeClr val="accent4"/>
                </a:solidFill>
                <a:latin typeface="Consolas"/>
                <a:cs typeface="Consolas"/>
              </a:rPr>
              <a:t>double retire(</a:t>
            </a:r>
            <a:r>
              <a:rPr lang="en-GB" sz="2400" dirty="0" err="1">
                <a:solidFill>
                  <a:schemeClr val="accent4"/>
                </a:solidFill>
                <a:latin typeface="Consolas"/>
                <a:cs typeface="Consolas"/>
              </a:rPr>
              <a:t>montant</a:t>
            </a:r>
            <a:r>
              <a:rPr lang="en-GB" sz="2400" dirty="0">
                <a:solidFill>
                  <a:schemeClr val="accent4"/>
                </a:solidFill>
                <a:latin typeface="Consolas"/>
                <a:cs typeface="Consolas"/>
              </a:rPr>
              <a:t>)</a:t>
            </a:r>
            <a:r>
              <a:rPr lang="en-GB" dirty="0"/>
              <a:t>, qui </a:t>
            </a:r>
            <a:r>
              <a:rPr lang="en-GB" dirty="0" err="1"/>
              <a:t>retourne</a:t>
            </a:r>
            <a:r>
              <a:rPr lang="en-GB" dirty="0"/>
              <a:t> le </a:t>
            </a:r>
            <a:r>
              <a:rPr lang="en-GB" dirty="0" err="1"/>
              <a:t>montant</a:t>
            </a:r>
            <a:r>
              <a:rPr lang="en-GB" dirty="0"/>
              <a:t> </a:t>
            </a:r>
            <a:r>
              <a:rPr lang="en-GB" dirty="0" err="1"/>
              <a:t>retiré</a:t>
            </a:r>
            <a:r>
              <a:rPr lang="en-GB" dirty="0"/>
              <a:t>; </a:t>
            </a:r>
            <a:r>
              <a:rPr lang="en-GB" dirty="0" err="1"/>
              <a:t>cette</a:t>
            </a:r>
            <a:r>
              <a:rPr lang="en-GB" dirty="0"/>
              <a:t> </a:t>
            </a:r>
            <a:r>
              <a:rPr lang="en-GB" dirty="0" err="1"/>
              <a:t>méthode</a:t>
            </a:r>
            <a:r>
              <a:rPr lang="en-GB" dirty="0"/>
              <a:t> ne </a:t>
            </a:r>
            <a:r>
              <a:rPr lang="en-GB" dirty="0" err="1"/>
              <a:t>permet</a:t>
            </a:r>
            <a:r>
              <a:rPr lang="en-GB" dirty="0"/>
              <a:t> pas de </a:t>
            </a:r>
            <a:r>
              <a:rPr lang="en-GB" dirty="0" err="1"/>
              <a:t>retirer</a:t>
            </a:r>
            <a:r>
              <a:rPr lang="en-GB" dirty="0"/>
              <a:t> plus que le </a:t>
            </a:r>
            <a:r>
              <a:rPr lang="en-GB" dirty="0" err="1"/>
              <a:t>solde</a:t>
            </a:r>
            <a:r>
              <a:rPr lang="en-GB" dirty="0"/>
              <a:t> disponible (</a:t>
            </a:r>
            <a:r>
              <a:rPr lang="en-GB" dirty="0" err="1"/>
              <a:t>donc</a:t>
            </a:r>
            <a:r>
              <a:rPr lang="en-GB" dirty="0"/>
              <a:t> </a:t>
            </a:r>
            <a:r>
              <a:rPr lang="en-GB" dirty="0" err="1"/>
              <a:t>si</a:t>
            </a:r>
            <a:r>
              <a:rPr lang="en-GB" dirty="0"/>
              <a:t> le </a:t>
            </a:r>
            <a:r>
              <a:rPr lang="en-GB" dirty="0" err="1"/>
              <a:t>compte</a:t>
            </a:r>
            <a:r>
              <a:rPr lang="en-GB" dirty="0"/>
              <a:t> </a:t>
            </a:r>
            <a:r>
              <a:rPr lang="en-GB" dirty="0" err="1"/>
              <a:t>est</a:t>
            </a:r>
            <a:r>
              <a:rPr lang="en-GB" dirty="0"/>
              <a:t> </a:t>
            </a:r>
            <a:r>
              <a:rPr lang="en-GB" dirty="0" err="1"/>
              <a:t>à</a:t>
            </a:r>
            <a:r>
              <a:rPr lang="en-GB" dirty="0"/>
              <a:t> 100 et </a:t>
            </a:r>
            <a:r>
              <a:rPr lang="en-GB" dirty="0" err="1"/>
              <a:t>qu’on</a:t>
            </a:r>
            <a:r>
              <a:rPr lang="en-GB" dirty="0"/>
              <a:t> retire 120, </a:t>
            </a:r>
            <a:r>
              <a:rPr lang="en-GB" dirty="0" err="1"/>
              <a:t>elle</a:t>
            </a:r>
            <a:r>
              <a:rPr lang="en-GB" dirty="0"/>
              <a:t> </a:t>
            </a:r>
            <a:r>
              <a:rPr lang="en-GB" dirty="0" err="1"/>
              <a:t>retourne</a:t>
            </a:r>
            <a:r>
              <a:rPr lang="en-GB" dirty="0"/>
              <a:t> 100).</a:t>
            </a:r>
            <a:endParaRPr lang="en-GB" dirty="0">
              <a:solidFill>
                <a:srgbClr val="A6082B"/>
              </a:solidFill>
              <a:latin typeface="Consolas"/>
              <a:cs typeface="Consolas"/>
            </a:endParaRPr>
          </a:p>
        </p:txBody>
      </p:sp>
      <p:pic>
        <p:nvPicPr>
          <p:cNvPr id="6" name="Image 5">
            <a:extLst>
              <a:ext uri="{FF2B5EF4-FFF2-40B4-BE49-F238E27FC236}">
                <a16:creationId xmlns:a16="http://schemas.microsoft.com/office/drawing/2014/main" id="{57BE8FF1-96EB-FAC0-ABA2-2E3F6DEAC679}"/>
              </a:ext>
            </a:extLst>
          </p:cNvPr>
          <p:cNvPicPr>
            <a:picLocks noChangeAspect="1"/>
          </p:cNvPicPr>
          <p:nvPr/>
        </p:nvPicPr>
        <p:blipFill>
          <a:blip r:embed="rId2"/>
          <a:stretch>
            <a:fillRect/>
          </a:stretch>
        </p:blipFill>
        <p:spPr>
          <a:xfrm>
            <a:off x="10415310" y="-12915"/>
            <a:ext cx="1666442" cy="1666442"/>
          </a:xfrm>
          <a:prstGeom prst="rect">
            <a:avLst/>
          </a:prstGeom>
        </p:spPr>
      </p:pic>
    </p:spTree>
    <p:extLst>
      <p:ext uri="{BB962C8B-B14F-4D97-AF65-F5344CB8AC3E}">
        <p14:creationId xmlns:p14="http://schemas.microsoft.com/office/powerpoint/2010/main" val="2825970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GB" dirty="0" err="1"/>
              <a:t>Exercice</a:t>
            </a:r>
            <a:r>
              <a:rPr lang="en-GB" dirty="0"/>
              <a:t> (2/3)</a:t>
            </a:r>
          </a:p>
        </p:txBody>
      </p:sp>
      <p:sp>
        <p:nvSpPr>
          <p:cNvPr id="3" name="Espace réservé du contenu 2"/>
          <p:cNvSpPr>
            <a:spLocks noGrp="1"/>
          </p:cNvSpPr>
          <p:nvPr>
            <p:ph idx="1"/>
          </p:nvPr>
        </p:nvSpPr>
        <p:spPr/>
        <p:txBody>
          <a:bodyPr>
            <a:normAutofit fontScale="92500"/>
          </a:bodyPr>
          <a:lstStyle/>
          <a:p>
            <a:pPr marL="0" indent="0">
              <a:buNone/>
            </a:pPr>
            <a:r>
              <a:rPr lang="en-GB" dirty="0" err="1"/>
              <a:t>Ecrivez</a:t>
            </a:r>
            <a:r>
              <a:rPr lang="en-GB" dirty="0"/>
              <a:t> </a:t>
            </a:r>
            <a:r>
              <a:rPr lang="en-GB" dirty="0" err="1"/>
              <a:t>aussi</a:t>
            </a:r>
            <a:r>
              <a:rPr lang="en-GB" dirty="0"/>
              <a:t> un programme </a:t>
            </a:r>
            <a:r>
              <a:rPr lang="en-GB" sz="2600" dirty="0" err="1">
                <a:solidFill>
                  <a:schemeClr val="accent4"/>
                </a:solidFill>
                <a:latin typeface="Consolas"/>
                <a:cs typeface="Consolas"/>
              </a:rPr>
              <a:t>GestionDeCompte</a:t>
            </a:r>
            <a:r>
              <a:rPr lang="en-GB" dirty="0"/>
              <a:t> qui utilise </a:t>
            </a:r>
            <a:r>
              <a:rPr lang="en-GB" dirty="0" err="1"/>
              <a:t>votre</a:t>
            </a:r>
            <a:r>
              <a:rPr lang="en-GB" dirty="0"/>
              <a:t> </a:t>
            </a:r>
            <a:r>
              <a:rPr lang="en-GB" dirty="0" err="1"/>
              <a:t>compte</a:t>
            </a:r>
            <a:r>
              <a:rPr lang="en-GB" dirty="0"/>
              <a:t>.</a:t>
            </a:r>
          </a:p>
          <a:p>
            <a:pPr marL="0" indent="0">
              <a:buNone/>
            </a:pPr>
            <a:r>
              <a:rPr lang="en-GB" dirty="0" err="1"/>
              <a:t>Vérifiez</a:t>
            </a:r>
            <a:r>
              <a:rPr lang="en-GB" dirty="0"/>
              <a:t> que les </a:t>
            </a:r>
            <a:r>
              <a:rPr lang="en-GB" dirty="0" err="1"/>
              <a:t>méthodes</a:t>
            </a:r>
            <a:r>
              <a:rPr lang="en-GB" dirty="0"/>
              <a:t> </a:t>
            </a:r>
            <a:r>
              <a:rPr lang="en-GB" sz="2600" dirty="0" err="1">
                <a:solidFill>
                  <a:schemeClr val="accent4"/>
                </a:solidFill>
                <a:latin typeface="Consolas"/>
                <a:cs typeface="Consolas"/>
              </a:rPr>
              <a:t>ajoute</a:t>
            </a:r>
            <a:r>
              <a:rPr lang="en-GB" dirty="0"/>
              <a:t> et </a:t>
            </a:r>
            <a:r>
              <a:rPr lang="en-GB" sz="2600" dirty="0">
                <a:solidFill>
                  <a:schemeClr val="accent4"/>
                </a:solidFill>
                <a:latin typeface="Consolas"/>
                <a:cs typeface="Consolas"/>
              </a:rPr>
              <a:t>retire</a:t>
            </a:r>
            <a:r>
              <a:rPr lang="en-GB" dirty="0"/>
              <a:t> </a:t>
            </a:r>
            <a:r>
              <a:rPr lang="en-GB" dirty="0" err="1"/>
              <a:t>fonctionnent</a:t>
            </a:r>
            <a:r>
              <a:rPr lang="en-GB" dirty="0"/>
              <a:t> </a:t>
            </a:r>
            <a:r>
              <a:rPr lang="en-GB" dirty="0" err="1"/>
              <a:t>correctement</a:t>
            </a:r>
            <a:r>
              <a:rPr lang="en-GB" dirty="0"/>
              <a:t>.</a:t>
            </a:r>
          </a:p>
          <a:p>
            <a:pPr marL="0" indent="0">
              <a:buNone/>
            </a:pPr>
            <a:endParaRPr lang="en-GB" dirty="0"/>
          </a:p>
          <a:p>
            <a:pPr marL="0" indent="0">
              <a:buNone/>
            </a:pPr>
            <a:r>
              <a:rPr lang="en-GB" dirty="0"/>
              <a:t>Un </a:t>
            </a:r>
            <a:r>
              <a:rPr lang="en-GB" dirty="0" err="1"/>
              <a:t>compte</a:t>
            </a:r>
            <a:r>
              <a:rPr lang="en-GB" dirty="0"/>
              <a:t> a </a:t>
            </a:r>
            <a:r>
              <a:rPr lang="en-GB" dirty="0" err="1"/>
              <a:t>également</a:t>
            </a:r>
            <a:r>
              <a:rPr lang="en-GB" dirty="0"/>
              <a:t> un </a:t>
            </a:r>
            <a:r>
              <a:rPr lang="en-GB" dirty="0" err="1"/>
              <a:t>numéro</a:t>
            </a:r>
            <a:r>
              <a:rPr lang="en-GB" dirty="0"/>
              <a:t> de la </a:t>
            </a:r>
            <a:r>
              <a:rPr lang="en-GB" dirty="0" err="1"/>
              <a:t>forme</a:t>
            </a:r>
            <a:r>
              <a:rPr lang="en-GB" dirty="0"/>
              <a:t> </a:t>
            </a:r>
          </a:p>
          <a:p>
            <a:pPr marL="0" indent="0" algn="ctr">
              <a:buNone/>
            </a:pPr>
            <a:r>
              <a:rPr lang="en-GB" dirty="0"/>
              <a:t>BECC NNNN NNNN NNNN </a:t>
            </a:r>
          </a:p>
          <a:p>
            <a:pPr marL="0" indent="0">
              <a:buNone/>
            </a:pPr>
            <a:r>
              <a:rPr lang="en-GB" dirty="0" err="1"/>
              <a:t>Voir</a:t>
            </a:r>
            <a:r>
              <a:rPr lang="en-GB" dirty="0"/>
              <a:t> </a:t>
            </a:r>
            <a:r>
              <a:rPr lang="en-GB" dirty="0">
                <a:hlinkClick r:id="rId2"/>
              </a:rPr>
              <a:t>http://www.iban.fr/verification.html</a:t>
            </a:r>
            <a:r>
              <a:rPr lang="en-GB" dirty="0"/>
              <a:t> pour </a:t>
            </a:r>
            <a:r>
              <a:rPr lang="en-GB" dirty="0" err="1"/>
              <a:t>l’algorithme</a:t>
            </a:r>
            <a:r>
              <a:rPr lang="en-GB" dirty="0"/>
              <a:t> de </a:t>
            </a:r>
            <a:r>
              <a:rPr lang="en-GB" dirty="0" err="1"/>
              <a:t>vérification</a:t>
            </a:r>
            <a:r>
              <a:rPr lang="en-GB" dirty="0"/>
              <a:t> de </a:t>
            </a:r>
            <a:r>
              <a:rPr lang="en-GB" dirty="0" err="1"/>
              <a:t>l’IBAN</a:t>
            </a:r>
            <a:r>
              <a:rPr lang="en-GB" dirty="0"/>
              <a:t> (</a:t>
            </a:r>
            <a:r>
              <a:rPr lang="en-GB" dirty="0" err="1"/>
              <a:t>voir</a:t>
            </a:r>
            <a:r>
              <a:rPr lang="en-GB" dirty="0"/>
              <a:t> </a:t>
            </a:r>
            <a:r>
              <a:rPr lang="en-GB" dirty="0" err="1"/>
              <a:t>aussi</a:t>
            </a:r>
            <a:r>
              <a:rPr lang="en-GB" dirty="0"/>
              <a:t> slide </a:t>
            </a:r>
            <a:r>
              <a:rPr lang="en-GB" dirty="0" err="1"/>
              <a:t>suivant</a:t>
            </a:r>
            <a:r>
              <a:rPr lang="en-GB" dirty="0"/>
              <a:t>).</a:t>
            </a:r>
          </a:p>
          <a:p>
            <a:pPr marL="0" indent="0">
              <a:buNone/>
            </a:pPr>
            <a:r>
              <a:rPr lang="en-GB" dirty="0" err="1"/>
              <a:t>Ajoutez</a:t>
            </a:r>
            <a:r>
              <a:rPr lang="en-GB" dirty="0"/>
              <a:t> </a:t>
            </a:r>
            <a:r>
              <a:rPr lang="en-GB" dirty="0" err="1"/>
              <a:t>donc</a:t>
            </a:r>
            <a:r>
              <a:rPr lang="en-GB" dirty="0"/>
              <a:t> le </a:t>
            </a:r>
            <a:r>
              <a:rPr lang="en-GB" dirty="0" err="1"/>
              <a:t>numéro</a:t>
            </a:r>
            <a:r>
              <a:rPr lang="en-GB" dirty="0"/>
              <a:t> de </a:t>
            </a:r>
            <a:r>
              <a:rPr lang="en-GB" dirty="0" err="1"/>
              <a:t>compte</a:t>
            </a:r>
            <a:r>
              <a:rPr lang="en-GB" dirty="0"/>
              <a:t> </a:t>
            </a:r>
            <a:r>
              <a:rPr lang="en-GB" dirty="0" err="1"/>
              <a:t>à</a:t>
            </a:r>
            <a:r>
              <a:rPr lang="en-GB" dirty="0"/>
              <a:t> </a:t>
            </a:r>
            <a:r>
              <a:rPr lang="en-GB" dirty="0" err="1"/>
              <a:t>votre</a:t>
            </a:r>
            <a:r>
              <a:rPr lang="en-GB" dirty="0"/>
              <a:t> </a:t>
            </a:r>
            <a:r>
              <a:rPr lang="en-GB" dirty="0" err="1"/>
              <a:t>classe</a:t>
            </a:r>
            <a:r>
              <a:rPr lang="en-GB" dirty="0"/>
              <a:t>. Attention, </a:t>
            </a:r>
            <a:r>
              <a:rPr lang="en-GB" dirty="0" err="1"/>
              <a:t>c’est</a:t>
            </a:r>
            <a:r>
              <a:rPr lang="en-GB" dirty="0"/>
              <a:t> bien un </a:t>
            </a:r>
            <a:r>
              <a:rPr lang="en-GB" sz="2600" dirty="0">
                <a:solidFill>
                  <a:schemeClr val="accent4"/>
                </a:solidFill>
                <a:latin typeface="Consolas"/>
                <a:cs typeface="Consolas"/>
              </a:rPr>
              <a:t>String</a:t>
            </a:r>
            <a:r>
              <a:rPr lang="en-GB" dirty="0"/>
              <a:t>!</a:t>
            </a:r>
          </a:p>
          <a:p>
            <a:pPr marL="0" indent="0">
              <a:buNone/>
            </a:pPr>
            <a:endParaRPr lang="en-GB" dirty="0"/>
          </a:p>
        </p:txBody>
      </p:sp>
      <p:pic>
        <p:nvPicPr>
          <p:cNvPr id="6" name="Image 5">
            <a:extLst>
              <a:ext uri="{FF2B5EF4-FFF2-40B4-BE49-F238E27FC236}">
                <a16:creationId xmlns:a16="http://schemas.microsoft.com/office/drawing/2014/main" id="{B51A4310-85B4-BD02-F88C-3E215472B42E}"/>
              </a:ext>
            </a:extLst>
          </p:cNvPr>
          <p:cNvPicPr>
            <a:picLocks noChangeAspect="1"/>
          </p:cNvPicPr>
          <p:nvPr/>
        </p:nvPicPr>
        <p:blipFill>
          <a:blip r:embed="rId3"/>
          <a:stretch>
            <a:fillRect/>
          </a:stretch>
        </p:blipFill>
        <p:spPr>
          <a:xfrm>
            <a:off x="10415310" y="-12915"/>
            <a:ext cx="1666442" cy="1666442"/>
          </a:xfrm>
          <a:prstGeom prst="rect">
            <a:avLst/>
          </a:prstGeom>
        </p:spPr>
      </p:pic>
    </p:spTree>
    <p:extLst>
      <p:ext uri="{BB962C8B-B14F-4D97-AF65-F5344CB8AC3E}">
        <p14:creationId xmlns:p14="http://schemas.microsoft.com/office/powerpoint/2010/main" val="2540958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60457A3-71DE-F147-93F9-B50E7F930BC7}"/>
              </a:ext>
            </a:extLst>
          </p:cNvPr>
          <p:cNvSpPr>
            <a:spLocks noGrp="1"/>
          </p:cNvSpPr>
          <p:nvPr>
            <p:ph type="title"/>
          </p:nvPr>
        </p:nvSpPr>
        <p:spPr/>
        <p:txBody>
          <a:bodyPr>
            <a:normAutofit/>
          </a:bodyPr>
          <a:lstStyle/>
          <a:p>
            <a:r>
              <a:rPr lang="fr-FR" dirty="0"/>
              <a:t>Contrôle de l’IBAN</a:t>
            </a:r>
          </a:p>
        </p:txBody>
      </p:sp>
      <p:sp>
        <p:nvSpPr>
          <p:cNvPr id="3" name="Espace réservé du contenu 2">
            <a:extLst>
              <a:ext uri="{FF2B5EF4-FFF2-40B4-BE49-F238E27FC236}">
                <a16:creationId xmlns:a16="http://schemas.microsoft.com/office/drawing/2014/main" id="{FD532E6E-3B82-294D-933D-26745EBC9C15}"/>
              </a:ext>
            </a:extLst>
          </p:cNvPr>
          <p:cNvSpPr>
            <a:spLocks noGrp="1"/>
          </p:cNvSpPr>
          <p:nvPr>
            <p:ph idx="1"/>
          </p:nvPr>
        </p:nvSpPr>
        <p:spPr/>
        <p:txBody>
          <a:bodyPr>
            <a:normAutofit fontScale="77500" lnSpcReduction="20000"/>
          </a:bodyPr>
          <a:lstStyle/>
          <a:p>
            <a:pPr marL="0" indent="0">
              <a:buNone/>
            </a:pPr>
            <a:r>
              <a:rPr lang="fr-FR" dirty="0"/>
              <a:t>Soit le numéro </a:t>
            </a:r>
            <a:r>
              <a:rPr lang="fr-BE" dirty="0"/>
              <a:t>CH10 0023 00A1 0235 0260 1 à vérifier.</a:t>
            </a:r>
          </a:p>
          <a:p>
            <a:pPr marL="457200" indent="-457200">
              <a:buAutoNum type="arabicPeriod"/>
            </a:pPr>
            <a:r>
              <a:rPr lang="fr-BE" dirty="0"/>
              <a:t>Retirer tous les caractères non alphanumériques (A-Z0-9)</a:t>
            </a:r>
            <a:endParaRPr lang="fr-FR" dirty="0"/>
          </a:p>
          <a:p>
            <a:pPr marL="0" indent="0" algn="ctr">
              <a:buNone/>
            </a:pPr>
            <a:r>
              <a:rPr lang="fr-BE" sz="2400" dirty="0">
                <a:solidFill>
                  <a:schemeClr val="accent4"/>
                </a:solidFill>
                <a:latin typeface="Consolas"/>
                <a:cs typeface="Consolas"/>
              </a:rPr>
              <a:t>s = </a:t>
            </a:r>
            <a:r>
              <a:rPr lang="fr-BE" sz="2400" dirty="0" err="1">
                <a:solidFill>
                  <a:schemeClr val="accent4"/>
                </a:solidFill>
                <a:latin typeface="Consolas"/>
                <a:cs typeface="Consolas"/>
              </a:rPr>
              <a:t>s.replaceAll</a:t>
            </a:r>
            <a:r>
              <a:rPr lang="fr-BE" sz="2400" dirty="0">
                <a:solidFill>
                  <a:schemeClr val="accent4"/>
                </a:solidFill>
                <a:latin typeface="Consolas"/>
                <a:cs typeface="Consolas"/>
              </a:rPr>
              <a:t>("[^a-zA-Z0-9]", "");</a:t>
            </a:r>
            <a:endParaRPr lang="fr-BE" sz="2400" dirty="0">
              <a:solidFill>
                <a:schemeClr val="accent4"/>
              </a:solidFill>
            </a:endParaRPr>
          </a:p>
          <a:p>
            <a:pPr marL="457200" indent="-457200">
              <a:buFont typeface="+mj-lt"/>
              <a:buAutoNum type="arabicPeriod" startAt="2"/>
            </a:pPr>
            <a:r>
              <a:rPr lang="fr-BE" dirty="0"/>
              <a:t>Déplacer les 4 premiers caractères à droite.</a:t>
            </a:r>
          </a:p>
          <a:p>
            <a:pPr marL="457200" indent="-457200">
              <a:buFont typeface="+mj-lt"/>
              <a:buAutoNum type="arabicPeriod" startAt="2"/>
            </a:pPr>
            <a:r>
              <a:rPr lang="fr-FR" dirty="0"/>
              <a:t>Mettre tout en majuscules</a:t>
            </a:r>
          </a:p>
          <a:p>
            <a:pPr marL="457200" indent="-457200">
              <a:buFont typeface="+mj-lt"/>
              <a:buAutoNum type="arabicPeriod" startAt="2"/>
            </a:pPr>
            <a:r>
              <a:rPr lang="fr-BE" dirty="0"/>
              <a:t>Transformer les caractères alphabétiques en numériques (on peut convertir le </a:t>
            </a:r>
            <a:r>
              <a:rPr lang="fr-BE" sz="2400" dirty="0">
                <a:solidFill>
                  <a:schemeClr val="accent4"/>
                </a:solidFill>
                <a:latin typeface="Consolas"/>
                <a:cs typeface="Consolas"/>
              </a:rPr>
              <a:t>char</a:t>
            </a:r>
            <a:r>
              <a:rPr lang="fr-BE" dirty="0"/>
              <a:t> en </a:t>
            </a:r>
            <a:r>
              <a:rPr lang="fr-BE" sz="2400" dirty="0" err="1">
                <a:solidFill>
                  <a:schemeClr val="accent4"/>
                </a:solidFill>
                <a:latin typeface="Consolas"/>
                <a:cs typeface="Consolas"/>
              </a:rPr>
              <a:t>int</a:t>
            </a:r>
            <a:r>
              <a:rPr lang="fr-BE" dirty="0"/>
              <a:t> pour obtenir son code ascii, sachant que ascii de </a:t>
            </a:r>
            <a:r>
              <a:rPr lang="fr-BE" sz="2400" dirty="0">
                <a:solidFill>
                  <a:schemeClr val="accent4"/>
                </a:solidFill>
                <a:latin typeface="Consolas"/>
                <a:cs typeface="Consolas"/>
              </a:rPr>
              <a:t>'A'</a:t>
            </a:r>
            <a:r>
              <a:rPr lang="fr-BE" dirty="0"/>
              <a:t> est 65) </a:t>
            </a:r>
          </a:p>
          <a:p>
            <a:pPr marL="457200" indent="-457200">
              <a:buFont typeface="+mj-lt"/>
              <a:buAutoNum type="arabicPeriod" startAt="2"/>
            </a:pPr>
            <a:endParaRPr lang="fr-BE" dirty="0"/>
          </a:p>
          <a:p>
            <a:pPr marL="457200" indent="-457200">
              <a:buFont typeface="+mj-lt"/>
              <a:buAutoNum type="arabicPeriod" startAt="2"/>
            </a:pPr>
            <a:endParaRPr lang="fr-BE" dirty="0"/>
          </a:p>
          <a:p>
            <a:pPr marL="457200" indent="-457200">
              <a:buFont typeface="+mj-lt"/>
              <a:buAutoNum type="arabicPeriod" startAt="2"/>
            </a:pPr>
            <a:endParaRPr lang="fr-BE" dirty="0"/>
          </a:p>
          <a:p>
            <a:pPr marL="457200" indent="-457200">
              <a:buFont typeface="+mj-lt"/>
              <a:buAutoNum type="arabicPeriod" startAt="2"/>
            </a:pPr>
            <a:endParaRPr lang="fr-BE" dirty="0"/>
          </a:p>
          <a:p>
            <a:pPr marL="457200" indent="-457200">
              <a:buFont typeface="+mj-lt"/>
              <a:buAutoNum type="arabicPeriod" startAt="2"/>
            </a:pPr>
            <a:r>
              <a:rPr lang="fr-BE" dirty="0"/>
              <a:t>Diviser le nombre obtenu par 97; le résultat doit être 1. Utiliser </a:t>
            </a:r>
            <a:r>
              <a:rPr lang="fr-BE" sz="2400" dirty="0" err="1">
                <a:solidFill>
                  <a:schemeClr val="accent4"/>
                </a:solidFill>
                <a:latin typeface="Consolas"/>
                <a:cs typeface="Consolas"/>
              </a:rPr>
              <a:t>BigInteger</a:t>
            </a:r>
            <a:r>
              <a:rPr lang="fr-BE" dirty="0"/>
              <a:t>.</a:t>
            </a:r>
          </a:p>
        </p:txBody>
      </p:sp>
      <p:graphicFrame>
        <p:nvGraphicFramePr>
          <p:cNvPr id="7" name="Tableau 7">
            <a:extLst>
              <a:ext uri="{FF2B5EF4-FFF2-40B4-BE49-F238E27FC236}">
                <a16:creationId xmlns:a16="http://schemas.microsoft.com/office/drawing/2014/main" id="{49B046DF-3711-A347-AAC6-ECAFD01A2DC7}"/>
              </a:ext>
            </a:extLst>
          </p:cNvPr>
          <p:cNvGraphicFramePr>
            <a:graphicFrameLocks noGrp="1"/>
          </p:cNvGraphicFramePr>
          <p:nvPr/>
        </p:nvGraphicFramePr>
        <p:xfrm>
          <a:off x="3972233" y="4465741"/>
          <a:ext cx="4819035" cy="1036320"/>
        </p:xfrm>
        <a:graphic>
          <a:graphicData uri="http://schemas.openxmlformats.org/drawingml/2006/table">
            <a:tbl>
              <a:tblPr firstRow="1" bandRow="1">
                <a:tableStyleId>{5C22544A-7EE6-4342-B048-85BDC9FD1C3A}</a:tableStyleId>
              </a:tblPr>
              <a:tblGrid>
                <a:gridCol w="370695">
                  <a:extLst>
                    <a:ext uri="{9D8B030D-6E8A-4147-A177-3AD203B41FA5}">
                      <a16:colId xmlns:a16="http://schemas.microsoft.com/office/drawing/2014/main" val="3108691057"/>
                    </a:ext>
                  </a:extLst>
                </a:gridCol>
                <a:gridCol w="370695">
                  <a:extLst>
                    <a:ext uri="{9D8B030D-6E8A-4147-A177-3AD203B41FA5}">
                      <a16:colId xmlns:a16="http://schemas.microsoft.com/office/drawing/2014/main" val="3627964571"/>
                    </a:ext>
                  </a:extLst>
                </a:gridCol>
                <a:gridCol w="370695">
                  <a:extLst>
                    <a:ext uri="{9D8B030D-6E8A-4147-A177-3AD203B41FA5}">
                      <a16:colId xmlns:a16="http://schemas.microsoft.com/office/drawing/2014/main" val="3574538088"/>
                    </a:ext>
                  </a:extLst>
                </a:gridCol>
                <a:gridCol w="370695">
                  <a:extLst>
                    <a:ext uri="{9D8B030D-6E8A-4147-A177-3AD203B41FA5}">
                      <a16:colId xmlns:a16="http://schemas.microsoft.com/office/drawing/2014/main" val="1280928552"/>
                    </a:ext>
                  </a:extLst>
                </a:gridCol>
                <a:gridCol w="370695">
                  <a:extLst>
                    <a:ext uri="{9D8B030D-6E8A-4147-A177-3AD203B41FA5}">
                      <a16:colId xmlns:a16="http://schemas.microsoft.com/office/drawing/2014/main" val="2871858473"/>
                    </a:ext>
                  </a:extLst>
                </a:gridCol>
                <a:gridCol w="370695">
                  <a:extLst>
                    <a:ext uri="{9D8B030D-6E8A-4147-A177-3AD203B41FA5}">
                      <a16:colId xmlns:a16="http://schemas.microsoft.com/office/drawing/2014/main" val="3212231196"/>
                    </a:ext>
                  </a:extLst>
                </a:gridCol>
                <a:gridCol w="370695">
                  <a:extLst>
                    <a:ext uri="{9D8B030D-6E8A-4147-A177-3AD203B41FA5}">
                      <a16:colId xmlns:a16="http://schemas.microsoft.com/office/drawing/2014/main" val="3210174638"/>
                    </a:ext>
                  </a:extLst>
                </a:gridCol>
                <a:gridCol w="370695">
                  <a:extLst>
                    <a:ext uri="{9D8B030D-6E8A-4147-A177-3AD203B41FA5}">
                      <a16:colId xmlns:a16="http://schemas.microsoft.com/office/drawing/2014/main" val="2838379712"/>
                    </a:ext>
                  </a:extLst>
                </a:gridCol>
                <a:gridCol w="370695">
                  <a:extLst>
                    <a:ext uri="{9D8B030D-6E8A-4147-A177-3AD203B41FA5}">
                      <a16:colId xmlns:a16="http://schemas.microsoft.com/office/drawing/2014/main" val="981286387"/>
                    </a:ext>
                  </a:extLst>
                </a:gridCol>
                <a:gridCol w="370695">
                  <a:extLst>
                    <a:ext uri="{9D8B030D-6E8A-4147-A177-3AD203B41FA5}">
                      <a16:colId xmlns:a16="http://schemas.microsoft.com/office/drawing/2014/main" val="194900814"/>
                    </a:ext>
                  </a:extLst>
                </a:gridCol>
                <a:gridCol w="370695">
                  <a:extLst>
                    <a:ext uri="{9D8B030D-6E8A-4147-A177-3AD203B41FA5}">
                      <a16:colId xmlns:a16="http://schemas.microsoft.com/office/drawing/2014/main" val="3781505057"/>
                    </a:ext>
                  </a:extLst>
                </a:gridCol>
                <a:gridCol w="370695">
                  <a:extLst>
                    <a:ext uri="{9D8B030D-6E8A-4147-A177-3AD203B41FA5}">
                      <a16:colId xmlns:a16="http://schemas.microsoft.com/office/drawing/2014/main" val="4210445677"/>
                    </a:ext>
                  </a:extLst>
                </a:gridCol>
                <a:gridCol w="370695">
                  <a:extLst>
                    <a:ext uri="{9D8B030D-6E8A-4147-A177-3AD203B41FA5}">
                      <a16:colId xmlns:a16="http://schemas.microsoft.com/office/drawing/2014/main" val="3484509006"/>
                    </a:ext>
                  </a:extLst>
                </a:gridCol>
              </a:tblGrid>
              <a:tr h="190490">
                <a:tc>
                  <a:txBody>
                    <a:bodyPr/>
                    <a:lstStyle/>
                    <a:p>
                      <a:r>
                        <a:rPr lang="fr-FR" sz="1100" dirty="0"/>
                        <a:t>A</a:t>
                      </a:r>
                    </a:p>
                  </a:txBody>
                  <a:tcPr>
                    <a:solidFill>
                      <a:schemeClr val="accent1"/>
                    </a:solidFill>
                  </a:tcPr>
                </a:tc>
                <a:tc>
                  <a:txBody>
                    <a:bodyPr/>
                    <a:lstStyle/>
                    <a:p>
                      <a:r>
                        <a:rPr lang="fr-FR" sz="1100" dirty="0"/>
                        <a:t>B</a:t>
                      </a:r>
                    </a:p>
                  </a:txBody>
                  <a:tcPr>
                    <a:solidFill>
                      <a:schemeClr val="accent1"/>
                    </a:solidFill>
                  </a:tcPr>
                </a:tc>
                <a:tc>
                  <a:txBody>
                    <a:bodyPr/>
                    <a:lstStyle/>
                    <a:p>
                      <a:r>
                        <a:rPr lang="fr-FR" sz="1100" dirty="0"/>
                        <a:t>C</a:t>
                      </a:r>
                    </a:p>
                  </a:txBody>
                  <a:tcPr>
                    <a:solidFill>
                      <a:schemeClr val="accent1"/>
                    </a:solidFill>
                  </a:tcPr>
                </a:tc>
                <a:tc>
                  <a:txBody>
                    <a:bodyPr/>
                    <a:lstStyle/>
                    <a:p>
                      <a:r>
                        <a:rPr lang="fr-FR" sz="1100" dirty="0"/>
                        <a:t>D</a:t>
                      </a:r>
                    </a:p>
                  </a:txBody>
                  <a:tcPr>
                    <a:solidFill>
                      <a:schemeClr val="accent1"/>
                    </a:solidFill>
                  </a:tcPr>
                </a:tc>
                <a:tc>
                  <a:txBody>
                    <a:bodyPr/>
                    <a:lstStyle/>
                    <a:p>
                      <a:r>
                        <a:rPr lang="fr-FR" sz="1100" dirty="0"/>
                        <a:t>E</a:t>
                      </a:r>
                    </a:p>
                  </a:txBody>
                  <a:tcPr>
                    <a:solidFill>
                      <a:schemeClr val="accent1"/>
                    </a:solidFill>
                  </a:tcPr>
                </a:tc>
                <a:tc>
                  <a:txBody>
                    <a:bodyPr/>
                    <a:lstStyle/>
                    <a:p>
                      <a:r>
                        <a:rPr lang="fr-FR" sz="1100" dirty="0"/>
                        <a:t>F</a:t>
                      </a:r>
                    </a:p>
                  </a:txBody>
                  <a:tcPr>
                    <a:solidFill>
                      <a:schemeClr val="accent1"/>
                    </a:solidFill>
                  </a:tcPr>
                </a:tc>
                <a:tc>
                  <a:txBody>
                    <a:bodyPr/>
                    <a:lstStyle/>
                    <a:p>
                      <a:r>
                        <a:rPr lang="fr-FR" sz="1100" dirty="0"/>
                        <a:t>G</a:t>
                      </a:r>
                    </a:p>
                  </a:txBody>
                  <a:tcPr>
                    <a:solidFill>
                      <a:schemeClr val="accent1"/>
                    </a:solidFill>
                  </a:tcPr>
                </a:tc>
                <a:tc>
                  <a:txBody>
                    <a:bodyPr/>
                    <a:lstStyle/>
                    <a:p>
                      <a:r>
                        <a:rPr lang="fr-FR" sz="1100" dirty="0"/>
                        <a:t>H</a:t>
                      </a:r>
                    </a:p>
                  </a:txBody>
                  <a:tcPr>
                    <a:solidFill>
                      <a:schemeClr val="accent1"/>
                    </a:solidFill>
                  </a:tcPr>
                </a:tc>
                <a:tc>
                  <a:txBody>
                    <a:bodyPr/>
                    <a:lstStyle/>
                    <a:p>
                      <a:r>
                        <a:rPr lang="fr-FR" sz="1100" dirty="0"/>
                        <a:t>I</a:t>
                      </a:r>
                    </a:p>
                  </a:txBody>
                  <a:tcPr>
                    <a:solidFill>
                      <a:schemeClr val="accent1"/>
                    </a:solidFill>
                  </a:tcPr>
                </a:tc>
                <a:tc>
                  <a:txBody>
                    <a:bodyPr/>
                    <a:lstStyle/>
                    <a:p>
                      <a:r>
                        <a:rPr lang="fr-FR" sz="1100" dirty="0"/>
                        <a:t>J</a:t>
                      </a:r>
                    </a:p>
                  </a:txBody>
                  <a:tcPr>
                    <a:solidFill>
                      <a:schemeClr val="accent1"/>
                    </a:solidFill>
                  </a:tcPr>
                </a:tc>
                <a:tc>
                  <a:txBody>
                    <a:bodyPr/>
                    <a:lstStyle/>
                    <a:p>
                      <a:r>
                        <a:rPr lang="fr-FR" sz="1100" dirty="0"/>
                        <a:t>K</a:t>
                      </a:r>
                    </a:p>
                  </a:txBody>
                  <a:tcPr>
                    <a:solidFill>
                      <a:schemeClr val="accent1"/>
                    </a:solidFill>
                  </a:tcPr>
                </a:tc>
                <a:tc>
                  <a:txBody>
                    <a:bodyPr/>
                    <a:lstStyle/>
                    <a:p>
                      <a:r>
                        <a:rPr lang="fr-FR" sz="1100" dirty="0"/>
                        <a:t>L</a:t>
                      </a:r>
                    </a:p>
                  </a:txBody>
                  <a:tcPr>
                    <a:solidFill>
                      <a:schemeClr val="accent1"/>
                    </a:solidFill>
                  </a:tcPr>
                </a:tc>
                <a:tc>
                  <a:txBody>
                    <a:bodyPr/>
                    <a:lstStyle/>
                    <a:p>
                      <a:r>
                        <a:rPr lang="fr-FR" sz="1100" dirty="0"/>
                        <a:t>M</a:t>
                      </a:r>
                    </a:p>
                  </a:txBody>
                  <a:tcPr>
                    <a:solidFill>
                      <a:schemeClr val="accent1"/>
                    </a:solidFill>
                  </a:tcPr>
                </a:tc>
                <a:extLst>
                  <a:ext uri="{0D108BD9-81ED-4DB2-BD59-A6C34878D82A}">
                    <a16:rowId xmlns:a16="http://schemas.microsoft.com/office/drawing/2014/main" val="90195745"/>
                  </a:ext>
                </a:extLst>
              </a:tr>
              <a:tr h="177698">
                <a:tc>
                  <a:txBody>
                    <a:bodyPr/>
                    <a:lstStyle/>
                    <a:p>
                      <a:r>
                        <a:rPr lang="fr-FR" sz="1100" dirty="0"/>
                        <a:t>10</a:t>
                      </a:r>
                    </a:p>
                  </a:txBody>
                  <a:tcPr/>
                </a:tc>
                <a:tc>
                  <a:txBody>
                    <a:bodyPr/>
                    <a:lstStyle/>
                    <a:p>
                      <a:r>
                        <a:rPr lang="fr-FR" sz="1100" dirty="0"/>
                        <a:t>11</a:t>
                      </a:r>
                    </a:p>
                  </a:txBody>
                  <a:tcPr/>
                </a:tc>
                <a:tc>
                  <a:txBody>
                    <a:bodyPr/>
                    <a:lstStyle/>
                    <a:p>
                      <a:r>
                        <a:rPr lang="fr-FR" sz="1100" dirty="0"/>
                        <a:t>12</a:t>
                      </a:r>
                    </a:p>
                  </a:txBody>
                  <a:tcPr/>
                </a:tc>
                <a:tc>
                  <a:txBody>
                    <a:bodyPr/>
                    <a:lstStyle/>
                    <a:p>
                      <a:r>
                        <a:rPr lang="fr-FR" sz="1100" dirty="0"/>
                        <a:t>13</a:t>
                      </a:r>
                    </a:p>
                  </a:txBody>
                  <a:tcPr/>
                </a:tc>
                <a:tc>
                  <a:txBody>
                    <a:bodyPr/>
                    <a:lstStyle/>
                    <a:p>
                      <a:r>
                        <a:rPr lang="fr-FR" sz="1100" dirty="0"/>
                        <a:t>14</a:t>
                      </a:r>
                    </a:p>
                  </a:txBody>
                  <a:tcPr/>
                </a:tc>
                <a:tc>
                  <a:txBody>
                    <a:bodyPr/>
                    <a:lstStyle/>
                    <a:p>
                      <a:r>
                        <a:rPr lang="fr-FR" sz="1100" dirty="0"/>
                        <a:t>15</a:t>
                      </a:r>
                    </a:p>
                  </a:txBody>
                  <a:tcPr/>
                </a:tc>
                <a:tc>
                  <a:txBody>
                    <a:bodyPr/>
                    <a:lstStyle/>
                    <a:p>
                      <a:r>
                        <a:rPr lang="fr-FR" sz="1100" dirty="0"/>
                        <a:t>16</a:t>
                      </a:r>
                    </a:p>
                  </a:txBody>
                  <a:tcPr/>
                </a:tc>
                <a:tc>
                  <a:txBody>
                    <a:bodyPr/>
                    <a:lstStyle/>
                    <a:p>
                      <a:r>
                        <a:rPr lang="fr-FR" sz="1100" dirty="0"/>
                        <a:t>17</a:t>
                      </a:r>
                    </a:p>
                  </a:txBody>
                  <a:tcPr/>
                </a:tc>
                <a:tc>
                  <a:txBody>
                    <a:bodyPr/>
                    <a:lstStyle/>
                    <a:p>
                      <a:r>
                        <a:rPr lang="fr-FR" sz="1100" dirty="0"/>
                        <a:t>18</a:t>
                      </a:r>
                    </a:p>
                  </a:txBody>
                  <a:tcPr/>
                </a:tc>
                <a:tc>
                  <a:txBody>
                    <a:bodyPr/>
                    <a:lstStyle/>
                    <a:p>
                      <a:r>
                        <a:rPr lang="fr-FR" sz="1100" dirty="0"/>
                        <a:t>19</a:t>
                      </a:r>
                    </a:p>
                  </a:txBody>
                  <a:tcPr/>
                </a:tc>
                <a:tc>
                  <a:txBody>
                    <a:bodyPr/>
                    <a:lstStyle/>
                    <a:p>
                      <a:r>
                        <a:rPr lang="fr-FR" sz="1100" dirty="0"/>
                        <a:t>20</a:t>
                      </a:r>
                    </a:p>
                  </a:txBody>
                  <a:tcPr/>
                </a:tc>
                <a:tc>
                  <a:txBody>
                    <a:bodyPr/>
                    <a:lstStyle/>
                    <a:p>
                      <a:r>
                        <a:rPr lang="fr-FR" sz="1100" dirty="0"/>
                        <a:t>21</a:t>
                      </a:r>
                    </a:p>
                  </a:txBody>
                  <a:tcPr/>
                </a:tc>
                <a:tc>
                  <a:txBody>
                    <a:bodyPr/>
                    <a:lstStyle/>
                    <a:p>
                      <a:r>
                        <a:rPr lang="fr-FR" sz="1100" dirty="0"/>
                        <a:t>22</a:t>
                      </a:r>
                    </a:p>
                  </a:txBody>
                  <a:tcPr/>
                </a:tc>
                <a:extLst>
                  <a:ext uri="{0D108BD9-81ED-4DB2-BD59-A6C34878D82A}">
                    <a16:rowId xmlns:a16="http://schemas.microsoft.com/office/drawing/2014/main" val="2831803743"/>
                  </a:ext>
                </a:extLst>
              </a:tr>
              <a:tr h="177698">
                <a:tc>
                  <a:txBody>
                    <a:bodyPr/>
                    <a:lstStyle/>
                    <a:p>
                      <a:pPr marL="0" algn="l" defTabSz="914400" rtl="0" eaLnBrk="1" latinLnBrk="0" hangingPunct="1"/>
                      <a:r>
                        <a:rPr lang="fr-FR" sz="1100" b="1" kern="1200" dirty="0">
                          <a:solidFill>
                            <a:schemeClr val="lt1"/>
                          </a:solidFill>
                          <a:latin typeface="+mn-lt"/>
                          <a:ea typeface="+mn-ea"/>
                          <a:cs typeface="+mn-cs"/>
                        </a:rPr>
                        <a:t>N</a:t>
                      </a:r>
                    </a:p>
                  </a:txBody>
                  <a:tcPr>
                    <a:solidFill>
                      <a:schemeClr val="accent1"/>
                    </a:solidFill>
                  </a:tcPr>
                </a:tc>
                <a:tc>
                  <a:txBody>
                    <a:bodyPr/>
                    <a:lstStyle/>
                    <a:p>
                      <a:pPr marL="0" algn="l" defTabSz="914400" rtl="0" eaLnBrk="1" latinLnBrk="0" hangingPunct="1"/>
                      <a:r>
                        <a:rPr lang="fr-FR" sz="1100" b="1" kern="1200" dirty="0">
                          <a:solidFill>
                            <a:schemeClr val="lt1"/>
                          </a:solidFill>
                          <a:latin typeface="+mn-lt"/>
                          <a:ea typeface="+mn-ea"/>
                          <a:cs typeface="+mn-cs"/>
                        </a:rPr>
                        <a:t>O</a:t>
                      </a:r>
                    </a:p>
                  </a:txBody>
                  <a:tcPr>
                    <a:solidFill>
                      <a:schemeClr val="accent1"/>
                    </a:solidFill>
                  </a:tcPr>
                </a:tc>
                <a:tc>
                  <a:txBody>
                    <a:bodyPr/>
                    <a:lstStyle/>
                    <a:p>
                      <a:pPr marL="0" algn="l" defTabSz="914400" rtl="0" eaLnBrk="1" latinLnBrk="0" hangingPunct="1"/>
                      <a:r>
                        <a:rPr lang="fr-FR" sz="1100" b="1" kern="1200" dirty="0">
                          <a:solidFill>
                            <a:schemeClr val="lt1"/>
                          </a:solidFill>
                          <a:latin typeface="+mn-lt"/>
                          <a:ea typeface="+mn-ea"/>
                          <a:cs typeface="+mn-cs"/>
                        </a:rPr>
                        <a:t>P</a:t>
                      </a:r>
                    </a:p>
                  </a:txBody>
                  <a:tcPr>
                    <a:solidFill>
                      <a:schemeClr val="accent1"/>
                    </a:solidFill>
                  </a:tcPr>
                </a:tc>
                <a:tc>
                  <a:txBody>
                    <a:bodyPr/>
                    <a:lstStyle/>
                    <a:p>
                      <a:pPr marL="0" algn="l" defTabSz="914400" rtl="0" eaLnBrk="1" latinLnBrk="0" hangingPunct="1"/>
                      <a:r>
                        <a:rPr lang="fr-FR" sz="1100" b="1" kern="1200" dirty="0">
                          <a:solidFill>
                            <a:schemeClr val="lt1"/>
                          </a:solidFill>
                          <a:latin typeface="+mn-lt"/>
                          <a:ea typeface="+mn-ea"/>
                          <a:cs typeface="+mn-cs"/>
                        </a:rPr>
                        <a:t>Q</a:t>
                      </a:r>
                    </a:p>
                  </a:txBody>
                  <a:tcPr>
                    <a:solidFill>
                      <a:schemeClr val="accent1"/>
                    </a:solidFill>
                  </a:tcPr>
                </a:tc>
                <a:tc>
                  <a:txBody>
                    <a:bodyPr/>
                    <a:lstStyle/>
                    <a:p>
                      <a:pPr marL="0" algn="l" defTabSz="914400" rtl="0" eaLnBrk="1" latinLnBrk="0" hangingPunct="1"/>
                      <a:r>
                        <a:rPr lang="fr-FR" sz="1100" b="1" kern="1200" dirty="0">
                          <a:solidFill>
                            <a:schemeClr val="lt1"/>
                          </a:solidFill>
                          <a:latin typeface="+mn-lt"/>
                          <a:ea typeface="+mn-ea"/>
                          <a:cs typeface="+mn-cs"/>
                        </a:rPr>
                        <a:t>R</a:t>
                      </a:r>
                    </a:p>
                  </a:txBody>
                  <a:tcPr>
                    <a:solidFill>
                      <a:schemeClr val="accent1"/>
                    </a:solidFill>
                  </a:tcPr>
                </a:tc>
                <a:tc>
                  <a:txBody>
                    <a:bodyPr/>
                    <a:lstStyle/>
                    <a:p>
                      <a:pPr marL="0" algn="l" defTabSz="914400" rtl="0" eaLnBrk="1" latinLnBrk="0" hangingPunct="1"/>
                      <a:r>
                        <a:rPr lang="fr-FR" sz="1100" b="1" kern="1200" dirty="0">
                          <a:solidFill>
                            <a:schemeClr val="lt1"/>
                          </a:solidFill>
                          <a:latin typeface="+mn-lt"/>
                          <a:ea typeface="+mn-ea"/>
                          <a:cs typeface="+mn-cs"/>
                        </a:rPr>
                        <a:t>S</a:t>
                      </a:r>
                    </a:p>
                  </a:txBody>
                  <a:tcPr>
                    <a:solidFill>
                      <a:schemeClr val="accent1"/>
                    </a:solidFill>
                  </a:tcPr>
                </a:tc>
                <a:tc>
                  <a:txBody>
                    <a:bodyPr/>
                    <a:lstStyle/>
                    <a:p>
                      <a:pPr marL="0" algn="l" defTabSz="914400" rtl="0" eaLnBrk="1" latinLnBrk="0" hangingPunct="1"/>
                      <a:r>
                        <a:rPr lang="fr-FR" sz="1100" b="1" kern="1200" dirty="0" err="1">
                          <a:solidFill>
                            <a:schemeClr val="lt1"/>
                          </a:solidFill>
                          <a:latin typeface="+mn-lt"/>
                          <a:ea typeface="+mn-ea"/>
                          <a:cs typeface="+mn-cs"/>
                        </a:rPr>
                        <a:t>T</a:t>
                      </a:r>
                      <a:endParaRPr lang="fr-FR" sz="1100" b="1" kern="1200" dirty="0">
                        <a:solidFill>
                          <a:schemeClr val="lt1"/>
                        </a:solidFill>
                        <a:latin typeface="+mn-lt"/>
                        <a:ea typeface="+mn-ea"/>
                        <a:cs typeface="+mn-cs"/>
                      </a:endParaRPr>
                    </a:p>
                  </a:txBody>
                  <a:tcPr>
                    <a:solidFill>
                      <a:schemeClr val="accent1"/>
                    </a:solidFill>
                  </a:tcPr>
                </a:tc>
                <a:tc>
                  <a:txBody>
                    <a:bodyPr/>
                    <a:lstStyle/>
                    <a:p>
                      <a:pPr marL="0" algn="l" defTabSz="914400" rtl="0" eaLnBrk="1" latinLnBrk="0" hangingPunct="1"/>
                      <a:r>
                        <a:rPr lang="fr-FR" sz="1100" b="1" kern="1200" dirty="0">
                          <a:solidFill>
                            <a:schemeClr val="lt1"/>
                          </a:solidFill>
                          <a:latin typeface="+mn-lt"/>
                          <a:ea typeface="+mn-ea"/>
                          <a:cs typeface="+mn-cs"/>
                        </a:rPr>
                        <a:t>U</a:t>
                      </a:r>
                    </a:p>
                  </a:txBody>
                  <a:tcPr>
                    <a:solidFill>
                      <a:schemeClr val="accent1"/>
                    </a:solidFill>
                  </a:tcPr>
                </a:tc>
                <a:tc>
                  <a:txBody>
                    <a:bodyPr/>
                    <a:lstStyle/>
                    <a:p>
                      <a:pPr marL="0" algn="l" defTabSz="914400" rtl="0" eaLnBrk="1" latinLnBrk="0" hangingPunct="1"/>
                      <a:r>
                        <a:rPr lang="fr-FR" sz="1100" b="1" kern="1200" dirty="0">
                          <a:solidFill>
                            <a:schemeClr val="lt1"/>
                          </a:solidFill>
                          <a:latin typeface="+mn-lt"/>
                          <a:ea typeface="+mn-ea"/>
                          <a:cs typeface="+mn-cs"/>
                        </a:rPr>
                        <a:t>V</a:t>
                      </a:r>
                    </a:p>
                  </a:txBody>
                  <a:tcPr>
                    <a:solidFill>
                      <a:schemeClr val="accent1"/>
                    </a:solidFill>
                  </a:tcPr>
                </a:tc>
                <a:tc>
                  <a:txBody>
                    <a:bodyPr/>
                    <a:lstStyle/>
                    <a:p>
                      <a:pPr marL="0" algn="l" defTabSz="914400" rtl="0" eaLnBrk="1" latinLnBrk="0" hangingPunct="1"/>
                      <a:r>
                        <a:rPr lang="fr-FR" sz="1100" b="1" kern="1200" dirty="0">
                          <a:solidFill>
                            <a:schemeClr val="lt1"/>
                          </a:solidFill>
                          <a:latin typeface="+mn-lt"/>
                          <a:ea typeface="+mn-ea"/>
                          <a:cs typeface="+mn-cs"/>
                        </a:rPr>
                        <a:t>W</a:t>
                      </a:r>
                    </a:p>
                  </a:txBody>
                  <a:tcPr>
                    <a:solidFill>
                      <a:schemeClr val="accent1"/>
                    </a:solidFill>
                  </a:tcPr>
                </a:tc>
                <a:tc>
                  <a:txBody>
                    <a:bodyPr/>
                    <a:lstStyle/>
                    <a:p>
                      <a:pPr marL="0" algn="l" defTabSz="914400" rtl="0" eaLnBrk="1" latinLnBrk="0" hangingPunct="1"/>
                      <a:r>
                        <a:rPr lang="fr-FR" sz="1100" b="1" kern="1200" dirty="0">
                          <a:solidFill>
                            <a:schemeClr val="lt1"/>
                          </a:solidFill>
                          <a:latin typeface="+mn-lt"/>
                          <a:ea typeface="+mn-ea"/>
                          <a:cs typeface="+mn-cs"/>
                        </a:rPr>
                        <a:t>X</a:t>
                      </a:r>
                    </a:p>
                  </a:txBody>
                  <a:tcPr>
                    <a:solidFill>
                      <a:schemeClr val="accent1"/>
                    </a:solidFill>
                  </a:tcPr>
                </a:tc>
                <a:tc>
                  <a:txBody>
                    <a:bodyPr/>
                    <a:lstStyle/>
                    <a:p>
                      <a:pPr marL="0" algn="l" defTabSz="914400" rtl="0" eaLnBrk="1" latinLnBrk="0" hangingPunct="1"/>
                      <a:r>
                        <a:rPr lang="fr-FR" sz="1100" b="1" kern="1200" dirty="0">
                          <a:solidFill>
                            <a:schemeClr val="lt1"/>
                          </a:solidFill>
                          <a:latin typeface="+mn-lt"/>
                          <a:ea typeface="+mn-ea"/>
                          <a:cs typeface="+mn-cs"/>
                        </a:rPr>
                        <a:t>Y</a:t>
                      </a:r>
                    </a:p>
                  </a:txBody>
                  <a:tcPr>
                    <a:solidFill>
                      <a:schemeClr val="accent1"/>
                    </a:solidFill>
                  </a:tcPr>
                </a:tc>
                <a:tc>
                  <a:txBody>
                    <a:bodyPr/>
                    <a:lstStyle/>
                    <a:p>
                      <a:pPr marL="0" algn="l" defTabSz="914400" rtl="0" eaLnBrk="1" latinLnBrk="0" hangingPunct="1"/>
                      <a:r>
                        <a:rPr lang="fr-FR" sz="1100" b="1" kern="1200" dirty="0">
                          <a:solidFill>
                            <a:schemeClr val="lt1"/>
                          </a:solidFill>
                          <a:latin typeface="+mn-lt"/>
                          <a:ea typeface="+mn-ea"/>
                          <a:cs typeface="+mn-cs"/>
                        </a:rPr>
                        <a:t>Z</a:t>
                      </a:r>
                    </a:p>
                  </a:txBody>
                  <a:tcPr>
                    <a:solidFill>
                      <a:schemeClr val="accent1"/>
                    </a:solidFill>
                  </a:tcPr>
                </a:tc>
                <a:extLst>
                  <a:ext uri="{0D108BD9-81ED-4DB2-BD59-A6C34878D82A}">
                    <a16:rowId xmlns:a16="http://schemas.microsoft.com/office/drawing/2014/main" val="127952647"/>
                  </a:ext>
                </a:extLst>
              </a:tr>
              <a:tr h="177698">
                <a:tc>
                  <a:txBody>
                    <a:bodyPr/>
                    <a:lstStyle/>
                    <a:p>
                      <a:r>
                        <a:rPr lang="fr-FR" sz="1100" dirty="0"/>
                        <a:t>23</a:t>
                      </a:r>
                    </a:p>
                  </a:txBody>
                  <a:tcPr/>
                </a:tc>
                <a:tc>
                  <a:txBody>
                    <a:bodyPr/>
                    <a:lstStyle/>
                    <a:p>
                      <a:r>
                        <a:rPr lang="fr-FR" sz="1100" dirty="0"/>
                        <a:t>24</a:t>
                      </a:r>
                    </a:p>
                  </a:txBody>
                  <a:tcPr/>
                </a:tc>
                <a:tc>
                  <a:txBody>
                    <a:bodyPr/>
                    <a:lstStyle/>
                    <a:p>
                      <a:r>
                        <a:rPr lang="fr-FR" sz="1100" dirty="0"/>
                        <a:t>25</a:t>
                      </a:r>
                    </a:p>
                  </a:txBody>
                  <a:tcPr/>
                </a:tc>
                <a:tc>
                  <a:txBody>
                    <a:bodyPr/>
                    <a:lstStyle/>
                    <a:p>
                      <a:r>
                        <a:rPr lang="fr-FR" sz="1100" dirty="0"/>
                        <a:t>26</a:t>
                      </a:r>
                    </a:p>
                  </a:txBody>
                  <a:tcPr/>
                </a:tc>
                <a:tc>
                  <a:txBody>
                    <a:bodyPr/>
                    <a:lstStyle/>
                    <a:p>
                      <a:r>
                        <a:rPr lang="fr-FR" sz="1100" dirty="0"/>
                        <a:t>27</a:t>
                      </a:r>
                    </a:p>
                  </a:txBody>
                  <a:tcPr/>
                </a:tc>
                <a:tc>
                  <a:txBody>
                    <a:bodyPr/>
                    <a:lstStyle/>
                    <a:p>
                      <a:r>
                        <a:rPr lang="fr-FR" sz="1100" dirty="0"/>
                        <a:t>28</a:t>
                      </a:r>
                    </a:p>
                  </a:txBody>
                  <a:tcPr/>
                </a:tc>
                <a:tc>
                  <a:txBody>
                    <a:bodyPr/>
                    <a:lstStyle/>
                    <a:p>
                      <a:r>
                        <a:rPr lang="fr-FR" sz="1100" dirty="0"/>
                        <a:t>29</a:t>
                      </a:r>
                    </a:p>
                  </a:txBody>
                  <a:tcPr/>
                </a:tc>
                <a:tc>
                  <a:txBody>
                    <a:bodyPr/>
                    <a:lstStyle/>
                    <a:p>
                      <a:r>
                        <a:rPr lang="fr-FR" sz="1100" dirty="0"/>
                        <a:t>30</a:t>
                      </a:r>
                    </a:p>
                  </a:txBody>
                  <a:tcPr/>
                </a:tc>
                <a:tc>
                  <a:txBody>
                    <a:bodyPr/>
                    <a:lstStyle/>
                    <a:p>
                      <a:r>
                        <a:rPr lang="fr-FR" sz="1100" dirty="0"/>
                        <a:t>31</a:t>
                      </a:r>
                    </a:p>
                  </a:txBody>
                  <a:tcPr/>
                </a:tc>
                <a:tc>
                  <a:txBody>
                    <a:bodyPr/>
                    <a:lstStyle/>
                    <a:p>
                      <a:r>
                        <a:rPr lang="fr-FR" sz="1100" dirty="0"/>
                        <a:t>32</a:t>
                      </a:r>
                    </a:p>
                  </a:txBody>
                  <a:tcPr/>
                </a:tc>
                <a:tc>
                  <a:txBody>
                    <a:bodyPr/>
                    <a:lstStyle/>
                    <a:p>
                      <a:r>
                        <a:rPr lang="fr-FR" sz="1100" dirty="0"/>
                        <a:t>33</a:t>
                      </a:r>
                    </a:p>
                  </a:txBody>
                  <a:tcPr/>
                </a:tc>
                <a:tc>
                  <a:txBody>
                    <a:bodyPr/>
                    <a:lstStyle/>
                    <a:p>
                      <a:r>
                        <a:rPr lang="fr-FR" sz="1100" dirty="0"/>
                        <a:t>34</a:t>
                      </a:r>
                    </a:p>
                  </a:txBody>
                  <a:tcPr/>
                </a:tc>
                <a:tc>
                  <a:txBody>
                    <a:bodyPr/>
                    <a:lstStyle/>
                    <a:p>
                      <a:r>
                        <a:rPr lang="fr-FR" sz="1100" dirty="0"/>
                        <a:t>35</a:t>
                      </a:r>
                    </a:p>
                  </a:txBody>
                  <a:tcPr/>
                </a:tc>
                <a:extLst>
                  <a:ext uri="{0D108BD9-81ED-4DB2-BD59-A6C34878D82A}">
                    <a16:rowId xmlns:a16="http://schemas.microsoft.com/office/drawing/2014/main" val="1912730788"/>
                  </a:ext>
                </a:extLst>
              </a:tr>
            </a:tbl>
          </a:graphicData>
        </a:graphic>
      </p:graphicFrame>
      <p:pic>
        <p:nvPicPr>
          <p:cNvPr id="2051" name="Picture 3" descr="Que peut-on faire avec un IBAN ? Le donner est-il dangereux ?">
            <a:extLst>
              <a:ext uri="{FF2B5EF4-FFF2-40B4-BE49-F238E27FC236}">
                <a16:creationId xmlns:a16="http://schemas.microsoft.com/office/drawing/2014/main" id="{841497A8-5D17-C043-B6ED-1C67A19F177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197837" y="132080"/>
            <a:ext cx="2705663" cy="9740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8241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Exercice (3/3)</a:t>
            </a:r>
          </a:p>
        </p:txBody>
      </p:sp>
      <p:sp>
        <p:nvSpPr>
          <p:cNvPr id="3" name="Espace réservé du contenu 2"/>
          <p:cNvSpPr>
            <a:spLocks noGrp="1"/>
          </p:cNvSpPr>
          <p:nvPr>
            <p:ph idx="1"/>
          </p:nvPr>
        </p:nvSpPr>
        <p:spPr/>
        <p:txBody>
          <a:bodyPr>
            <a:normAutofit lnSpcReduction="10000"/>
          </a:bodyPr>
          <a:lstStyle/>
          <a:p>
            <a:pPr marL="0" indent="0">
              <a:buNone/>
            </a:pPr>
            <a:r>
              <a:rPr lang="fr-FR" dirty="0">
                <a:cs typeface="Consolas"/>
              </a:rPr>
              <a:t>Modifiez votre classe </a:t>
            </a:r>
            <a:r>
              <a:rPr lang="fr-FR" sz="2400" dirty="0">
                <a:solidFill>
                  <a:schemeClr val="accent4"/>
                </a:solidFill>
                <a:latin typeface="Consolas"/>
                <a:cs typeface="Consolas"/>
              </a:rPr>
              <a:t>Compte</a:t>
            </a:r>
            <a:r>
              <a:rPr lang="fr-FR" dirty="0">
                <a:cs typeface="Consolas"/>
              </a:rPr>
              <a:t> de manière à utiliser des exceptions</a:t>
            </a:r>
            <a:r>
              <a:rPr lang="mr-IN" dirty="0">
                <a:cs typeface="Consolas"/>
              </a:rPr>
              <a:t>…</a:t>
            </a:r>
            <a:endParaRPr lang="nl-BE" dirty="0">
              <a:cs typeface="Consolas"/>
            </a:endParaRPr>
          </a:p>
          <a:p>
            <a:pPr marL="0" indent="0">
              <a:buNone/>
            </a:pPr>
            <a:r>
              <a:rPr lang="nl-BE" dirty="0">
                <a:cs typeface="Consolas"/>
              </a:rPr>
              <a:t>Construisez un constructeur explicite, qui recevra le numéro du compte (champ final)</a:t>
            </a:r>
            <a:endParaRPr lang="fr-FR" dirty="0">
              <a:cs typeface="Consolas"/>
            </a:endParaRPr>
          </a:p>
          <a:p>
            <a:pPr marL="0" indent="0">
              <a:buNone/>
            </a:pPr>
            <a:r>
              <a:rPr lang="fr-FR" dirty="0">
                <a:cs typeface="Consolas"/>
              </a:rPr>
              <a:t>Créez une </a:t>
            </a:r>
            <a:r>
              <a:rPr lang="fr-FR" sz="2400" dirty="0">
                <a:solidFill>
                  <a:schemeClr val="accent4"/>
                </a:solidFill>
                <a:latin typeface="Consolas"/>
                <a:cs typeface="Consolas"/>
              </a:rPr>
              <a:t>Exception</a:t>
            </a:r>
            <a:r>
              <a:rPr lang="fr-FR" dirty="0">
                <a:cs typeface="Consolas"/>
              </a:rPr>
              <a:t> pour chaque erreur possible.</a:t>
            </a:r>
          </a:p>
          <a:p>
            <a:pPr lvl="1"/>
            <a:r>
              <a:rPr lang="en-GB" dirty="0"/>
              <a:t>Pas 16 chars</a:t>
            </a:r>
          </a:p>
          <a:p>
            <a:pPr lvl="1"/>
            <a:r>
              <a:rPr lang="en-GB" dirty="0"/>
              <a:t>Ne commence pas par “BE”</a:t>
            </a:r>
          </a:p>
          <a:p>
            <a:pPr lvl="1"/>
            <a:r>
              <a:rPr lang="en-GB" dirty="0"/>
              <a:t>Modulo 97 inexact.</a:t>
            </a:r>
            <a:endParaRPr lang="fr-FR" strike="sngStrike" dirty="0">
              <a:cs typeface="Consolas"/>
            </a:endParaRPr>
          </a:p>
          <a:p>
            <a:pPr marL="0" indent="0">
              <a:buNone/>
            </a:pPr>
            <a:r>
              <a:rPr lang="fr-FR" dirty="0">
                <a:cs typeface="Consolas"/>
              </a:rPr>
              <a:t>Faites en sorte que le constructeur puisse lever ces exceptions.</a:t>
            </a:r>
          </a:p>
          <a:p>
            <a:pPr marL="0" indent="0">
              <a:buNone/>
            </a:pPr>
            <a:r>
              <a:rPr lang="fr-FR" dirty="0">
                <a:cs typeface="Consolas"/>
              </a:rPr>
              <a:t>Faites en sorte que votre programme </a:t>
            </a:r>
            <a:r>
              <a:rPr lang="fr-FR" sz="2400" dirty="0" err="1">
                <a:solidFill>
                  <a:schemeClr val="accent4"/>
                </a:solidFill>
                <a:latin typeface="Consolas"/>
                <a:cs typeface="Consolas"/>
              </a:rPr>
              <a:t>GestionDeCompte</a:t>
            </a:r>
            <a:r>
              <a:rPr lang="fr-FR" dirty="0">
                <a:cs typeface="Consolas"/>
              </a:rPr>
              <a:t> traite ces exceptions (de toutes façons vous n’avez pas le choix).</a:t>
            </a:r>
          </a:p>
          <a:p>
            <a:pPr marL="0" indent="0">
              <a:buNone/>
            </a:pPr>
            <a:endParaRPr lang="fr-FR" dirty="0">
              <a:cs typeface="Consolas"/>
            </a:endParaRPr>
          </a:p>
        </p:txBody>
      </p:sp>
      <p:pic>
        <p:nvPicPr>
          <p:cNvPr id="5" name="Image 4">
            <a:extLst>
              <a:ext uri="{FF2B5EF4-FFF2-40B4-BE49-F238E27FC236}">
                <a16:creationId xmlns:a16="http://schemas.microsoft.com/office/drawing/2014/main" id="{7FFECBB7-34F9-CC3B-3361-FBE254035EE7}"/>
              </a:ext>
            </a:extLst>
          </p:cNvPr>
          <p:cNvPicPr>
            <a:picLocks noChangeAspect="1"/>
          </p:cNvPicPr>
          <p:nvPr/>
        </p:nvPicPr>
        <p:blipFill>
          <a:blip r:embed="rId2"/>
          <a:stretch>
            <a:fillRect/>
          </a:stretch>
        </p:blipFill>
        <p:spPr>
          <a:xfrm>
            <a:off x="10415310" y="-12915"/>
            <a:ext cx="1666442" cy="1666442"/>
          </a:xfrm>
          <a:prstGeom prst="rect">
            <a:avLst/>
          </a:prstGeom>
        </p:spPr>
      </p:pic>
    </p:spTree>
    <p:extLst>
      <p:ext uri="{BB962C8B-B14F-4D97-AF65-F5344CB8AC3E}">
        <p14:creationId xmlns:p14="http://schemas.microsoft.com/office/powerpoint/2010/main" val="783350517"/>
      </p:ext>
    </p:extLst>
  </p:cSld>
  <p:clrMapOvr>
    <a:masterClrMapping/>
  </p:clrMapOvr>
  <p:transition>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Gestion des exceptions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Exemple pratique</a:t>
            </a:r>
          </a:p>
          <a:p>
            <a:pPr marL="342900" indent="-342900">
              <a:lnSpc>
                <a:spcPct val="80000"/>
              </a:lnSpc>
              <a:buFont typeface="Arial"/>
              <a:buChar char="•"/>
            </a:pPr>
            <a:r>
              <a:rPr lang="fr-FR" dirty="0"/>
              <a:t>Introduction</a:t>
            </a:r>
          </a:p>
          <a:p>
            <a:pPr marL="342900" indent="-342900">
              <a:lnSpc>
                <a:spcPct val="80000"/>
              </a:lnSpc>
              <a:buFont typeface="Arial"/>
              <a:buChar char="•"/>
            </a:pPr>
            <a:r>
              <a:rPr lang="fr-FR" dirty="0"/>
              <a:t>Plusieurs Exceptions </a:t>
            </a:r>
          </a:p>
          <a:p>
            <a:pPr marL="342900" indent="-342900">
              <a:lnSpc>
                <a:spcPct val="80000"/>
              </a:lnSpc>
              <a:buFont typeface="Arial"/>
              <a:buChar char="•"/>
            </a:pPr>
            <a:r>
              <a:rPr lang="fr-FR" dirty="0">
                <a:solidFill>
                  <a:schemeClr val="accent4"/>
                </a:solidFill>
              </a:rPr>
              <a:t>Communication avec le gestionnaire d'Exception</a:t>
            </a:r>
          </a:p>
          <a:p>
            <a:pPr marL="342900" indent="-342900">
              <a:lnSpc>
                <a:spcPct val="80000"/>
              </a:lnSpc>
              <a:buFont typeface="Arial"/>
              <a:buChar char="•"/>
            </a:pPr>
            <a:r>
              <a:rPr lang="fr-FR" dirty="0"/>
              <a:t>Le mécanisme de gestion des Exceptions</a:t>
            </a:r>
          </a:p>
          <a:p>
            <a:pPr marL="342900" indent="-342900">
              <a:lnSpc>
                <a:spcPct val="80000"/>
              </a:lnSpc>
              <a:buFont typeface="Arial"/>
              <a:buChar char="•"/>
            </a:pPr>
            <a:r>
              <a:rPr lang="fr-FR" dirty="0"/>
              <a:t>Les Exceptions standard</a:t>
            </a:r>
          </a:p>
          <a:p>
            <a:pPr marL="342900" indent="-342900">
              <a:lnSpc>
                <a:spcPct val="80000"/>
              </a:lnSpc>
              <a:buFont typeface="Arial"/>
              <a:buChar char="•"/>
            </a:pPr>
            <a:r>
              <a:rPr lang="fr-FR" dirty="0"/>
              <a:t>La méthode </a:t>
            </a:r>
            <a:r>
              <a:rPr lang="fr-FR" dirty="0" err="1">
                <a:latin typeface="Consolas"/>
                <a:cs typeface="Consolas"/>
              </a:rPr>
              <a:t>printStackTrace</a:t>
            </a:r>
            <a:endParaRPr lang="fr-FR" dirty="0">
              <a:latin typeface="Consolas"/>
              <a:cs typeface="Consolas"/>
            </a:endParaRPr>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Tree>
    <p:extLst>
      <p:ext uri="{BB962C8B-B14F-4D97-AF65-F5344CB8AC3E}">
        <p14:creationId xmlns:p14="http://schemas.microsoft.com/office/powerpoint/2010/main" val="2744629760"/>
      </p:ext>
    </p:extLst>
  </p:cSld>
  <p:clrMapOvr>
    <a:masterClrMapping/>
  </p:clrMapOvr>
  <p:transition>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Communiquer avec le gestionnaire</a:t>
            </a:r>
          </a:p>
        </p:txBody>
      </p:sp>
      <p:sp>
        <p:nvSpPr>
          <p:cNvPr id="3" name="Espace réservé du contenu 2"/>
          <p:cNvSpPr>
            <a:spLocks noGrp="1"/>
          </p:cNvSpPr>
          <p:nvPr>
            <p:ph idx="1"/>
          </p:nvPr>
        </p:nvSpPr>
        <p:spPr/>
        <p:txBody>
          <a:bodyPr>
            <a:normAutofit/>
          </a:bodyPr>
          <a:lstStyle/>
          <a:p>
            <a:pPr marL="0" indent="0">
              <a:buNone/>
            </a:pPr>
            <a:r>
              <a:rPr lang="fr-FR" dirty="0">
                <a:cs typeface="Consolas"/>
              </a:rPr>
              <a:t>Il y a plusieurs façons de communiquer avec le gestionnaire d'exceptions:</a:t>
            </a:r>
          </a:p>
          <a:p>
            <a:pPr marL="457200" indent="-457200">
              <a:buAutoNum type="arabicPeriod"/>
            </a:pPr>
            <a:r>
              <a:rPr lang="fr-FR" dirty="0">
                <a:solidFill>
                  <a:schemeClr val="accent4"/>
                </a:solidFill>
                <a:cs typeface="Consolas"/>
              </a:rPr>
              <a:t>via l'objet</a:t>
            </a:r>
            <a:r>
              <a:rPr lang="fr-FR" dirty="0">
                <a:cs typeface="Consolas"/>
              </a:rPr>
              <a:t> fourni dans le </a:t>
            </a:r>
            <a:r>
              <a:rPr lang="fr-FR" dirty="0" err="1">
                <a:cs typeface="Consolas"/>
              </a:rPr>
              <a:t>throw</a:t>
            </a:r>
            <a:r>
              <a:rPr lang="fr-FR" dirty="0">
                <a:cs typeface="Consolas"/>
              </a:rPr>
              <a:t>.</a:t>
            </a:r>
          </a:p>
          <a:p>
            <a:pPr marL="457200" indent="-457200">
              <a:buAutoNum type="arabicPeriod"/>
            </a:pPr>
            <a:r>
              <a:rPr lang="fr-FR" dirty="0">
                <a:cs typeface="Consolas"/>
              </a:rPr>
              <a:t>par la classe </a:t>
            </a:r>
            <a:r>
              <a:rPr lang="fr-FR" dirty="0">
                <a:solidFill>
                  <a:schemeClr val="accent4"/>
                </a:solidFill>
                <a:cs typeface="Consolas"/>
              </a:rPr>
              <a:t>Exception</a:t>
            </a:r>
            <a:r>
              <a:rPr lang="fr-FR" dirty="0">
                <a:cs typeface="Consolas"/>
              </a:rPr>
              <a:t>.</a:t>
            </a:r>
          </a:p>
        </p:txBody>
      </p:sp>
    </p:spTree>
    <p:extLst>
      <p:ext uri="{BB962C8B-B14F-4D97-AF65-F5344CB8AC3E}">
        <p14:creationId xmlns:p14="http://schemas.microsoft.com/office/powerpoint/2010/main" val="4210672453"/>
      </p:ext>
    </p:extLst>
  </p:cSld>
  <p:clrMapOvr>
    <a:masterClrMapping/>
  </p:clrMapOvr>
  <p:transition>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Communiquer via l'objet</a:t>
            </a:r>
          </a:p>
        </p:txBody>
      </p:sp>
      <p:sp>
        <p:nvSpPr>
          <p:cNvPr id="3" name="Espace réservé du contenu 2"/>
          <p:cNvSpPr>
            <a:spLocks noGrp="1"/>
          </p:cNvSpPr>
          <p:nvPr>
            <p:ph idx="1"/>
          </p:nvPr>
        </p:nvSpPr>
        <p:spPr/>
        <p:txBody>
          <a:bodyPr>
            <a:normAutofit/>
          </a:bodyPr>
          <a:lstStyle/>
          <a:p>
            <a:pPr marL="0" indent="0">
              <a:buNone/>
            </a:pPr>
            <a:r>
              <a:rPr lang="fr-FR" dirty="0">
                <a:cs typeface="Consolas"/>
              </a:rPr>
              <a:t>Comme l'objet Exception est transmis au gestionnaire d'exception, on peut (lors de sa conception) lui ajouter des propriétés...</a:t>
            </a:r>
          </a:p>
          <a:p>
            <a:pPr marL="0" indent="0">
              <a:buNone/>
            </a:pPr>
            <a:endParaRPr lang="fr-FR" dirty="0">
              <a:cs typeface="Consolas"/>
            </a:endParaRPr>
          </a:p>
          <a:p>
            <a:pPr marL="0" indent="0">
              <a:buNone/>
            </a:pPr>
            <a:r>
              <a:rPr lang="fr-FR" dirty="0">
                <a:cs typeface="Consolas"/>
              </a:rPr>
              <a:t>Par exemple</a:t>
            </a:r>
          </a:p>
        </p:txBody>
      </p:sp>
      <p:sp>
        <p:nvSpPr>
          <p:cNvPr id="7" name="ZoneTexte 6">
            <a:extLst>
              <a:ext uri="{FF2B5EF4-FFF2-40B4-BE49-F238E27FC236}">
                <a16:creationId xmlns:a16="http://schemas.microsoft.com/office/drawing/2014/main" id="{D1BF9312-445F-E62D-1B5A-1218DD27D777}"/>
              </a:ext>
            </a:extLst>
          </p:cNvPr>
          <p:cNvSpPr txBox="1"/>
          <p:nvPr/>
        </p:nvSpPr>
        <p:spPr>
          <a:xfrm>
            <a:off x="3306337" y="3429000"/>
            <a:ext cx="6963936" cy="2554545"/>
          </a:xfrm>
          <a:prstGeom prst="rect">
            <a:avLst/>
          </a:prstGeom>
          <a:solidFill>
            <a:srgbClr val="2B2B2B"/>
          </a:solidFill>
        </p:spPr>
        <p:txBody>
          <a:bodyPr wrap="square">
            <a:spAutoFit/>
          </a:bodyPr>
          <a:lstStyle/>
          <a:p>
            <a:r>
              <a:rPr lang="fr-BE" sz="2000" dirty="0">
                <a:solidFill>
                  <a:srgbClr val="CC7832"/>
                </a:solidFill>
                <a:effectLst/>
                <a:latin typeface="Consolas" panose="020B0609020204030204" pitchFamily="49" charset="0"/>
                <a:cs typeface="Consolas" panose="020B0609020204030204" pitchFamily="49" charset="0"/>
              </a:rPr>
              <a:t>class </a:t>
            </a:r>
            <a:r>
              <a:rPr lang="fr-BE" sz="2000" dirty="0" err="1">
                <a:latin typeface="Consolas" panose="020B0609020204030204" pitchFamily="49" charset="0"/>
                <a:cs typeface="Consolas" panose="020B0609020204030204" pitchFamily="49" charset="0"/>
              </a:rPr>
              <a:t>ConstructorException</a:t>
            </a:r>
            <a:r>
              <a:rPr lang="fr-BE" sz="2000" dirty="0">
                <a:latin typeface="Consolas" panose="020B0609020204030204" pitchFamily="49" charset="0"/>
                <a:cs typeface="Consolas" panose="020B0609020204030204" pitchFamily="49" charset="0"/>
              </a:rPr>
              <a:t> </a:t>
            </a:r>
            <a:r>
              <a:rPr lang="fr-BE" sz="2000" dirty="0" err="1">
                <a:solidFill>
                  <a:srgbClr val="CC7832"/>
                </a:solidFill>
                <a:effectLst/>
                <a:latin typeface="Consolas" panose="020B0609020204030204" pitchFamily="49" charset="0"/>
                <a:cs typeface="Consolas" panose="020B0609020204030204" pitchFamily="49" charset="0"/>
              </a:rPr>
              <a:t>extends</a:t>
            </a:r>
            <a:r>
              <a:rPr lang="fr-BE" sz="2000" dirty="0">
                <a:solidFill>
                  <a:srgbClr val="CC7832"/>
                </a:solidFill>
                <a:effectLst/>
                <a:latin typeface="Consolas" panose="020B0609020204030204" pitchFamily="49" charset="0"/>
                <a:cs typeface="Consolas" panose="020B0609020204030204" pitchFamily="49" charset="0"/>
              </a:rPr>
              <a:t> </a:t>
            </a:r>
            <a:r>
              <a:rPr lang="fr-BE" sz="2000" dirty="0">
                <a:latin typeface="Consolas" panose="020B0609020204030204" pitchFamily="49" charset="0"/>
                <a:cs typeface="Consolas" panose="020B0609020204030204" pitchFamily="49" charset="0"/>
              </a:rPr>
              <a:t>Exception {</a:t>
            </a:r>
            <a:br>
              <a:rPr lang="fr-BE" sz="2000" dirty="0">
                <a:latin typeface="Consolas" panose="020B0609020204030204" pitchFamily="49" charset="0"/>
                <a:cs typeface="Consolas" panose="020B0609020204030204" pitchFamily="49" charset="0"/>
              </a:rPr>
            </a:br>
            <a:r>
              <a:rPr lang="fr-BE" sz="2000" dirty="0">
                <a:latin typeface="Consolas" panose="020B0609020204030204" pitchFamily="49" charset="0"/>
                <a:cs typeface="Consolas" panose="020B0609020204030204" pitchFamily="49" charset="0"/>
              </a:rPr>
              <a:t>    </a:t>
            </a:r>
            <a:r>
              <a:rPr lang="fr-BE" sz="2000" dirty="0">
                <a:solidFill>
                  <a:srgbClr val="CC7832"/>
                </a:solidFill>
                <a:effectLst/>
                <a:latin typeface="Consolas" panose="020B0609020204030204" pitchFamily="49" charset="0"/>
                <a:cs typeface="Consolas" panose="020B0609020204030204" pitchFamily="49" charset="0"/>
              </a:rPr>
              <a:t>public </a:t>
            </a:r>
            <a:r>
              <a:rPr lang="fr-BE" sz="2000" dirty="0" err="1">
                <a:solidFill>
                  <a:srgbClr val="CC7832"/>
                </a:solidFill>
                <a:effectLst/>
                <a:latin typeface="Consolas" panose="020B0609020204030204" pitchFamily="49" charset="0"/>
                <a:cs typeface="Consolas" panose="020B0609020204030204" pitchFamily="49" charset="0"/>
              </a:rPr>
              <a:t>int</a:t>
            </a:r>
            <a:r>
              <a:rPr lang="fr-BE" sz="2000" dirty="0">
                <a:solidFill>
                  <a:srgbClr val="CC7832"/>
                </a:solidFill>
                <a:effectLst/>
                <a:latin typeface="Consolas" panose="020B0609020204030204" pitchFamily="49" charset="0"/>
                <a:cs typeface="Consolas" panose="020B0609020204030204" pitchFamily="49" charset="0"/>
              </a:rPr>
              <a:t> </a:t>
            </a:r>
            <a:r>
              <a:rPr lang="fr-BE" sz="2000" dirty="0">
                <a:solidFill>
                  <a:srgbClr val="9876AA"/>
                </a:solidFill>
                <a:effectLst/>
                <a:latin typeface="Consolas" panose="020B0609020204030204" pitchFamily="49" charset="0"/>
                <a:cs typeface="Consolas" panose="020B0609020204030204" pitchFamily="49" charset="0"/>
              </a:rPr>
              <a:t>abs</a:t>
            </a:r>
            <a:r>
              <a:rPr lang="fr-BE" sz="2000" dirty="0">
                <a:solidFill>
                  <a:srgbClr val="CC7832"/>
                </a:solidFill>
                <a:effectLst/>
                <a:latin typeface="Consolas" panose="020B0609020204030204" pitchFamily="49" charset="0"/>
                <a:cs typeface="Consolas" panose="020B0609020204030204" pitchFamily="49" charset="0"/>
              </a:rPr>
              <a:t>, </a:t>
            </a:r>
            <a:r>
              <a:rPr lang="fr-BE" sz="2000" dirty="0">
                <a:solidFill>
                  <a:srgbClr val="9876AA"/>
                </a:solidFill>
                <a:effectLst/>
                <a:latin typeface="Consolas" panose="020B0609020204030204" pitchFamily="49" charset="0"/>
                <a:cs typeface="Consolas" panose="020B0609020204030204" pitchFamily="49" charset="0"/>
              </a:rPr>
              <a:t>ord</a:t>
            </a:r>
            <a:r>
              <a:rPr lang="fr-BE" sz="2000" dirty="0">
                <a:solidFill>
                  <a:srgbClr val="CC7832"/>
                </a:solidFill>
                <a:effectLst/>
                <a:latin typeface="Consolas" panose="020B0609020204030204" pitchFamily="49" charset="0"/>
                <a:cs typeface="Consolas" panose="020B0609020204030204" pitchFamily="49" charset="0"/>
              </a:rPr>
              <a:t>;</a:t>
            </a:r>
            <a:br>
              <a:rPr lang="fr-BE" sz="2000" dirty="0">
                <a:solidFill>
                  <a:srgbClr val="CC7832"/>
                </a:solidFill>
                <a:effectLst/>
                <a:latin typeface="Consolas" panose="020B0609020204030204" pitchFamily="49" charset="0"/>
                <a:cs typeface="Consolas" panose="020B0609020204030204" pitchFamily="49" charset="0"/>
              </a:rPr>
            </a:br>
            <a:br>
              <a:rPr lang="fr-BE" sz="2000" dirty="0">
                <a:solidFill>
                  <a:srgbClr val="CC7832"/>
                </a:solidFill>
                <a:effectLst/>
                <a:latin typeface="Consolas" panose="020B0609020204030204" pitchFamily="49" charset="0"/>
                <a:cs typeface="Consolas" panose="020B0609020204030204" pitchFamily="49" charset="0"/>
              </a:rPr>
            </a:br>
            <a:r>
              <a:rPr lang="fr-BE" sz="2000" dirty="0">
                <a:solidFill>
                  <a:srgbClr val="CC7832"/>
                </a:solidFill>
                <a:effectLst/>
                <a:latin typeface="Consolas" panose="020B0609020204030204" pitchFamily="49" charset="0"/>
                <a:cs typeface="Consolas" panose="020B0609020204030204" pitchFamily="49" charset="0"/>
              </a:rPr>
              <a:t>    </a:t>
            </a:r>
            <a:r>
              <a:rPr lang="fr-BE" sz="2000" dirty="0" err="1">
                <a:solidFill>
                  <a:srgbClr val="FFC66D"/>
                </a:solidFill>
                <a:effectLst/>
                <a:latin typeface="Consolas" panose="020B0609020204030204" pitchFamily="49" charset="0"/>
                <a:cs typeface="Consolas" panose="020B0609020204030204" pitchFamily="49" charset="0"/>
              </a:rPr>
              <a:t>ConstructorException</a:t>
            </a:r>
            <a:r>
              <a:rPr lang="fr-BE" sz="2000" dirty="0">
                <a:latin typeface="Consolas" panose="020B0609020204030204" pitchFamily="49" charset="0"/>
                <a:cs typeface="Consolas" panose="020B0609020204030204" pitchFamily="49" charset="0"/>
              </a:rPr>
              <a:t>(</a:t>
            </a:r>
            <a:r>
              <a:rPr lang="fr-BE" sz="2000" dirty="0" err="1">
                <a:solidFill>
                  <a:srgbClr val="CC7832"/>
                </a:solidFill>
                <a:effectLst/>
                <a:latin typeface="Consolas" panose="020B0609020204030204" pitchFamily="49" charset="0"/>
                <a:cs typeface="Consolas" panose="020B0609020204030204" pitchFamily="49" charset="0"/>
              </a:rPr>
              <a:t>int</a:t>
            </a:r>
            <a:r>
              <a:rPr lang="fr-BE" sz="2000" dirty="0">
                <a:solidFill>
                  <a:srgbClr val="CC7832"/>
                </a:solidFill>
                <a:effectLst/>
                <a:latin typeface="Consolas" panose="020B0609020204030204" pitchFamily="49" charset="0"/>
                <a:cs typeface="Consolas" panose="020B0609020204030204" pitchFamily="49" charset="0"/>
              </a:rPr>
              <a:t> </a:t>
            </a:r>
            <a:r>
              <a:rPr lang="fr-BE" sz="2000" dirty="0">
                <a:latin typeface="Consolas" panose="020B0609020204030204" pitchFamily="49" charset="0"/>
                <a:cs typeface="Consolas" panose="020B0609020204030204" pitchFamily="49" charset="0"/>
              </a:rPr>
              <a:t>abs</a:t>
            </a:r>
            <a:r>
              <a:rPr lang="fr-BE" sz="2000" dirty="0">
                <a:solidFill>
                  <a:srgbClr val="CC7832"/>
                </a:solidFill>
                <a:effectLst/>
                <a:latin typeface="Consolas" panose="020B0609020204030204" pitchFamily="49" charset="0"/>
                <a:cs typeface="Consolas" panose="020B0609020204030204" pitchFamily="49" charset="0"/>
              </a:rPr>
              <a:t>, </a:t>
            </a:r>
            <a:r>
              <a:rPr lang="fr-BE" sz="2000" dirty="0" err="1">
                <a:solidFill>
                  <a:srgbClr val="CC7832"/>
                </a:solidFill>
                <a:effectLst/>
                <a:latin typeface="Consolas" panose="020B0609020204030204" pitchFamily="49" charset="0"/>
                <a:cs typeface="Consolas" panose="020B0609020204030204" pitchFamily="49" charset="0"/>
              </a:rPr>
              <a:t>int</a:t>
            </a:r>
            <a:r>
              <a:rPr lang="fr-BE" sz="2000" dirty="0">
                <a:solidFill>
                  <a:srgbClr val="CC7832"/>
                </a:solidFill>
                <a:effectLst/>
                <a:latin typeface="Consolas" panose="020B0609020204030204" pitchFamily="49" charset="0"/>
                <a:cs typeface="Consolas" panose="020B0609020204030204" pitchFamily="49" charset="0"/>
              </a:rPr>
              <a:t> </a:t>
            </a:r>
            <a:r>
              <a:rPr lang="fr-BE" sz="2000" dirty="0">
                <a:latin typeface="Consolas" panose="020B0609020204030204" pitchFamily="49" charset="0"/>
                <a:cs typeface="Consolas" panose="020B0609020204030204" pitchFamily="49" charset="0"/>
              </a:rPr>
              <a:t>ord) {</a:t>
            </a:r>
            <a:br>
              <a:rPr lang="fr-BE" sz="2000" dirty="0">
                <a:latin typeface="Consolas" panose="020B0609020204030204" pitchFamily="49" charset="0"/>
                <a:cs typeface="Consolas" panose="020B0609020204030204" pitchFamily="49" charset="0"/>
              </a:rPr>
            </a:br>
            <a:r>
              <a:rPr lang="fr-BE" sz="2000" dirty="0">
                <a:latin typeface="Consolas" panose="020B0609020204030204" pitchFamily="49" charset="0"/>
                <a:cs typeface="Consolas" panose="020B0609020204030204" pitchFamily="49" charset="0"/>
              </a:rPr>
              <a:t>        </a:t>
            </a:r>
            <a:r>
              <a:rPr lang="fr-BE" sz="2000" dirty="0" err="1">
                <a:solidFill>
                  <a:srgbClr val="CC7832"/>
                </a:solidFill>
                <a:effectLst/>
                <a:latin typeface="Consolas" panose="020B0609020204030204" pitchFamily="49" charset="0"/>
                <a:cs typeface="Consolas" panose="020B0609020204030204" pitchFamily="49" charset="0"/>
              </a:rPr>
              <a:t>this</a:t>
            </a:r>
            <a:r>
              <a:rPr lang="fr-BE" sz="2000" dirty="0" err="1">
                <a:latin typeface="Consolas" panose="020B0609020204030204" pitchFamily="49" charset="0"/>
                <a:cs typeface="Consolas" panose="020B0609020204030204" pitchFamily="49" charset="0"/>
              </a:rPr>
              <a:t>.</a:t>
            </a:r>
            <a:r>
              <a:rPr lang="fr-BE" sz="2000" dirty="0" err="1">
                <a:solidFill>
                  <a:srgbClr val="9876AA"/>
                </a:solidFill>
                <a:effectLst/>
                <a:latin typeface="Consolas" panose="020B0609020204030204" pitchFamily="49" charset="0"/>
                <a:cs typeface="Consolas" panose="020B0609020204030204" pitchFamily="49" charset="0"/>
              </a:rPr>
              <a:t>abs</a:t>
            </a:r>
            <a:r>
              <a:rPr lang="fr-BE" sz="2000" dirty="0">
                <a:solidFill>
                  <a:srgbClr val="9876AA"/>
                </a:solidFill>
                <a:effectLst/>
                <a:latin typeface="Consolas" panose="020B0609020204030204" pitchFamily="49" charset="0"/>
                <a:cs typeface="Consolas" panose="020B0609020204030204" pitchFamily="49" charset="0"/>
              </a:rPr>
              <a:t> </a:t>
            </a:r>
            <a:r>
              <a:rPr lang="fr-BE" sz="2000" dirty="0">
                <a:latin typeface="Consolas" panose="020B0609020204030204" pitchFamily="49" charset="0"/>
                <a:cs typeface="Consolas" panose="020B0609020204030204" pitchFamily="49" charset="0"/>
              </a:rPr>
              <a:t>= abs</a:t>
            </a:r>
            <a:r>
              <a:rPr lang="fr-BE" sz="2000" dirty="0">
                <a:solidFill>
                  <a:srgbClr val="CC7832"/>
                </a:solidFill>
                <a:effectLst/>
                <a:latin typeface="Consolas" panose="020B0609020204030204" pitchFamily="49" charset="0"/>
                <a:cs typeface="Consolas" panose="020B0609020204030204" pitchFamily="49" charset="0"/>
              </a:rPr>
              <a:t>;</a:t>
            </a:r>
            <a:br>
              <a:rPr lang="fr-BE" sz="2000" dirty="0">
                <a:solidFill>
                  <a:srgbClr val="CC7832"/>
                </a:solidFill>
                <a:effectLst/>
                <a:latin typeface="Consolas" panose="020B0609020204030204" pitchFamily="49" charset="0"/>
                <a:cs typeface="Consolas" panose="020B0609020204030204" pitchFamily="49" charset="0"/>
              </a:rPr>
            </a:br>
            <a:r>
              <a:rPr lang="fr-BE" sz="2000" dirty="0">
                <a:solidFill>
                  <a:srgbClr val="CC7832"/>
                </a:solidFill>
                <a:effectLst/>
                <a:latin typeface="Consolas" panose="020B0609020204030204" pitchFamily="49" charset="0"/>
                <a:cs typeface="Consolas" panose="020B0609020204030204" pitchFamily="49" charset="0"/>
              </a:rPr>
              <a:t>        </a:t>
            </a:r>
            <a:r>
              <a:rPr lang="fr-BE" sz="2000" dirty="0" err="1">
                <a:solidFill>
                  <a:srgbClr val="CC7832"/>
                </a:solidFill>
                <a:effectLst/>
                <a:latin typeface="Consolas" panose="020B0609020204030204" pitchFamily="49" charset="0"/>
                <a:cs typeface="Consolas" panose="020B0609020204030204" pitchFamily="49" charset="0"/>
              </a:rPr>
              <a:t>this</a:t>
            </a:r>
            <a:r>
              <a:rPr lang="fr-BE" sz="2000" dirty="0" err="1">
                <a:latin typeface="Consolas" panose="020B0609020204030204" pitchFamily="49" charset="0"/>
                <a:cs typeface="Consolas" panose="020B0609020204030204" pitchFamily="49" charset="0"/>
              </a:rPr>
              <a:t>.</a:t>
            </a:r>
            <a:r>
              <a:rPr lang="fr-BE" sz="2000" dirty="0" err="1">
                <a:solidFill>
                  <a:srgbClr val="9876AA"/>
                </a:solidFill>
                <a:effectLst/>
                <a:latin typeface="Consolas" panose="020B0609020204030204" pitchFamily="49" charset="0"/>
                <a:cs typeface="Consolas" panose="020B0609020204030204" pitchFamily="49" charset="0"/>
              </a:rPr>
              <a:t>ord</a:t>
            </a:r>
            <a:r>
              <a:rPr lang="fr-BE" sz="2000" dirty="0">
                <a:solidFill>
                  <a:srgbClr val="9876AA"/>
                </a:solidFill>
                <a:effectLst/>
                <a:latin typeface="Consolas" panose="020B0609020204030204" pitchFamily="49" charset="0"/>
                <a:cs typeface="Consolas" panose="020B0609020204030204" pitchFamily="49" charset="0"/>
              </a:rPr>
              <a:t> </a:t>
            </a:r>
            <a:r>
              <a:rPr lang="fr-BE" sz="2000" dirty="0">
                <a:latin typeface="Consolas" panose="020B0609020204030204" pitchFamily="49" charset="0"/>
                <a:cs typeface="Consolas" panose="020B0609020204030204" pitchFamily="49" charset="0"/>
              </a:rPr>
              <a:t>= ord</a:t>
            </a:r>
            <a:r>
              <a:rPr lang="fr-BE" sz="2000" dirty="0">
                <a:solidFill>
                  <a:srgbClr val="CC7832"/>
                </a:solidFill>
                <a:effectLst/>
                <a:latin typeface="Consolas" panose="020B0609020204030204" pitchFamily="49" charset="0"/>
                <a:cs typeface="Consolas" panose="020B0609020204030204" pitchFamily="49" charset="0"/>
              </a:rPr>
              <a:t>;</a:t>
            </a:r>
            <a:br>
              <a:rPr lang="fr-BE" sz="2000" dirty="0">
                <a:solidFill>
                  <a:srgbClr val="CC7832"/>
                </a:solidFill>
                <a:effectLst/>
                <a:latin typeface="Consolas" panose="020B0609020204030204" pitchFamily="49" charset="0"/>
                <a:cs typeface="Consolas" panose="020B0609020204030204" pitchFamily="49" charset="0"/>
              </a:rPr>
            </a:br>
            <a:r>
              <a:rPr lang="fr-BE" sz="2000" dirty="0">
                <a:solidFill>
                  <a:srgbClr val="CC7832"/>
                </a:solidFill>
                <a:effectLst/>
                <a:latin typeface="Consolas" panose="020B0609020204030204" pitchFamily="49" charset="0"/>
                <a:cs typeface="Consolas" panose="020B0609020204030204" pitchFamily="49" charset="0"/>
              </a:rPr>
              <a:t>    </a:t>
            </a:r>
            <a:r>
              <a:rPr lang="fr-BE" sz="2000" dirty="0">
                <a:latin typeface="Consolas" panose="020B0609020204030204" pitchFamily="49" charset="0"/>
                <a:cs typeface="Consolas" panose="020B0609020204030204" pitchFamily="49" charset="0"/>
              </a:rPr>
              <a:t>}</a:t>
            </a:r>
            <a:br>
              <a:rPr lang="fr-BE" sz="2000" dirty="0">
                <a:latin typeface="Consolas" panose="020B0609020204030204" pitchFamily="49" charset="0"/>
                <a:cs typeface="Consolas" panose="020B0609020204030204" pitchFamily="49" charset="0"/>
              </a:rPr>
            </a:br>
            <a:r>
              <a:rPr lang="fr-BE" sz="2000" dirty="0">
                <a:latin typeface="Consolas" panose="020B0609020204030204" pitchFamily="49" charset="0"/>
                <a:cs typeface="Consolas" panose="020B0609020204030204" pitchFamily="49" charset="0"/>
              </a:rPr>
              <a:t>}</a:t>
            </a:r>
            <a:endParaRPr lang="fr-FR" sz="20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146326325"/>
      </p:ext>
    </p:extLst>
  </p:cSld>
  <p:clrMapOvr>
    <a:masterClrMapping/>
  </p:clrMapOvr>
  <p:transition>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Communiquer via l'objet</a:t>
            </a:r>
          </a:p>
        </p:txBody>
      </p:sp>
      <p:sp>
        <p:nvSpPr>
          <p:cNvPr id="3" name="Espace réservé du contenu 2"/>
          <p:cNvSpPr>
            <a:spLocks noGrp="1"/>
          </p:cNvSpPr>
          <p:nvPr>
            <p:ph idx="1"/>
          </p:nvPr>
        </p:nvSpPr>
        <p:spPr/>
        <p:txBody>
          <a:bodyPr>
            <a:normAutofit/>
          </a:bodyPr>
          <a:lstStyle/>
          <a:p>
            <a:pPr marL="0" indent="0">
              <a:buNone/>
            </a:pPr>
            <a:r>
              <a:rPr lang="fr-FR" dirty="0">
                <a:cs typeface="Consolas"/>
              </a:rPr>
              <a:t>Lorsque l'exception se produit, il faut donner des valeurs aux champs</a:t>
            </a:r>
          </a:p>
          <a:p>
            <a:pPr marL="0" indent="0">
              <a:buNone/>
            </a:pPr>
            <a:endParaRPr lang="fr-FR" dirty="0">
              <a:cs typeface="Consolas"/>
            </a:endParaRPr>
          </a:p>
          <a:p>
            <a:pPr marL="0" indent="0">
              <a:buNone/>
            </a:pPr>
            <a:r>
              <a:rPr lang="fr-FR" dirty="0">
                <a:cs typeface="Consolas"/>
              </a:rPr>
              <a:t>Par exemple</a:t>
            </a:r>
          </a:p>
        </p:txBody>
      </p:sp>
      <p:sp>
        <p:nvSpPr>
          <p:cNvPr id="7" name="ZoneTexte 6">
            <a:extLst>
              <a:ext uri="{FF2B5EF4-FFF2-40B4-BE49-F238E27FC236}">
                <a16:creationId xmlns:a16="http://schemas.microsoft.com/office/drawing/2014/main" id="{69213AAF-D347-1635-6A93-4513855123A3}"/>
              </a:ext>
            </a:extLst>
          </p:cNvPr>
          <p:cNvSpPr txBox="1"/>
          <p:nvPr/>
        </p:nvSpPr>
        <p:spPr>
          <a:xfrm>
            <a:off x="2782230" y="3702425"/>
            <a:ext cx="6099716" cy="400110"/>
          </a:xfrm>
          <a:prstGeom prst="rect">
            <a:avLst/>
          </a:prstGeom>
          <a:solidFill>
            <a:srgbClr val="2B2B2B"/>
          </a:solidFill>
        </p:spPr>
        <p:txBody>
          <a:bodyPr wrap="square">
            <a:spAutoFit/>
          </a:bodyPr>
          <a:lstStyle/>
          <a:p>
            <a:r>
              <a:rPr lang="fr-BE" sz="2000" dirty="0" err="1">
                <a:solidFill>
                  <a:srgbClr val="CC7832"/>
                </a:solidFill>
                <a:effectLst/>
                <a:latin typeface="Consolas" panose="020B0609020204030204" pitchFamily="49" charset="0"/>
                <a:cs typeface="Consolas" panose="020B0609020204030204" pitchFamily="49" charset="0"/>
              </a:rPr>
              <a:t>throw</a:t>
            </a:r>
            <a:r>
              <a:rPr lang="fr-BE" sz="2000" dirty="0">
                <a:solidFill>
                  <a:srgbClr val="CC7832"/>
                </a:solidFill>
                <a:effectLst/>
                <a:latin typeface="Consolas" panose="020B0609020204030204" pitchFamily="49" charset="0"/>
                <a:cs typeface="Consolas" panose="020B0609020204030204" pitchFamily="49" charset="0"/>
              </a:rPr>
              <a:t> new </a:t>
            </a:r>
            <a:r>
              <a:rPr lang="fr-BE" sz="2000" dirty="0" err="1">
                <a:latin typeface="Consolas" panose="020B0609020204030204" pitchFamily="49" charset="0"/>
                <a:cs typeface="Consolas" panose="020B0609020204030204" pitchFamily="49" charset="0"/>
              </a:rPr>
              <a:t>ConstructorException</a:t>
            </a:r>
            <a:r>
              <a:rPr lang="fr-BE" sz="2000" dirty="0">
                <a:latin typeface="Consolas" panose="020B0609020204030204" pitchFamily="49" charset="0"/>
                <a:cs typeface="Consolas" panose="020B0609020204030204" pitchFamily="49" charset="0"/>
              </a:rPr>
              <a:t>(x</a:t>
            </a:r>
            <a:r>
              <a:rPr lang="fr-BE" sz="2000" dirty="0">
                <a:solidFill>
                  <a:srgbClr val="CC7832"/>
                </a:solidFill>
                <a:effectLst/>
                <a:latin typeface="Consolas" panose="020B0609020204030204" pitchFamily="49" charset="0"/>
                <a:cs typeface="Consolas" panose="020B0609020204030204" pitchFamily="49" charset="0"/>
              </a:rPr>
              <a:t>, </a:t>
            </a:r>
            <a:r>
              <a:rPr lang="fr-BE" sz="2000" dirty="0">
                <a:latin typeface="Consolas" panose="020B0609020204030204" pitchFamily="49" charset="0"/>
                <a:cs typeface="Consolas" panose="020B0609020204030204" pitchFamily="49" charset="0"/>
              </a:rPr>
              <a:t>y) </a:t>
            </a:r>
            <a:r>
              <a:rPr lang="fr-BE" sz="2000" dirty="0">
                <a:solidFill>
                  <a:srgbClr val="CC7832"/>
                </a:solidFill>
                <a:effectLst/>
                <a:latin typeface="Consolas" panose="020B0609020204030204" pitchFamily="49" charset="0"/>
                <a:cs typeface="Consolas" panose="020B0609020204030204" pitchFamily="49" charset="0"/>
              </a:rPr>
              <a:t>;</a:t>
            </a:r>
            <a:endParaRPr lang="fr-FR" sz="20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784101481"/>
      </p:ext>
    </p:extLst>
  </p:cSld>
  <p:clrMapOvr>
    <a:masterClrMapping/>
  </p:clrMapOvr>
  <p:transition>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Communiquer via l'objet</a:t>
            </a:r>
          </a:p>
        </p:txBody>
      </p:sp>
      <p:sp>
        <p:nvSpPr>
          <p:cNvPr id="3" name="Espace réservé du contenu 2"/>
          <p:cNvSpPr>
            <a:spLocks noGrp="1"/>
          </p:cNvSpPr>
          <p:nvPr>
            <p:ph idx="1"/>
          </p:nvPr>
        </p:nvSpPr>
        <p:spPr/>
        <p:txBody>
          <a:bodyPr>
            <a:normAutofit/>
          </a:bodyPr>
          <a:lstStyle/>
          <a:p>
            <a:pPr marL="0" indent="0">
              <a:buNone/>
            </a:pPr>
            <a:r>
              <a:rPr lang="fr-FR" dirty="0">
                <a:cs typeface="Consolas"/>
              </a:rPr>
              <a:t>Le gestionnaire d'exception peut ensuite utiliser les valeurs de ces propriétés... (qui sont ici publiques)</a:t>
            </a:r>
          </a:p>
          <a:p>
            <a:pPr marL="0" indent="0">
              <a:buNone/>
            </a:pPr>
            <a:endParaRPr lang="fr-FR" dirty="0">
              <a:cs typeface="Consolas"/>
            </a:endParaRPr>
          </a:p>
          <a:p>
            <a:pPr marL="0" indent="0">
              <a:buNone/>
            </a:pPr>
            <a:r>
              <a:rPr lang="fr-FR" dirty="0">
                <a:cs typeface="Consolas"/>
              </a:rPr>
              <a:t>Par exemple</a:t>
            </a:r>
          </a:p>
          <a:p>
            <a:pPr marL="0" indent="0">
              <a:buNone/>
            </a:pPr>
            <a:r>
              <a:rPr lang="fr-FR" dirty="0">
                <a:latin typeface="Consolas"/>
                <a:cs typeface="Consolas"/>
              </a:rPr>
              <a:t> </a:t>
            </a:r>
            <a:endParaRPr lang="fr-FR" dirty="0">
              <a:solidFill>
                <a:schemeClr val="accent4"/>
              </a:solidFill>
              <a:latin typeface="Consolas"/>
              <a:cs typeface="Consolas"/>
            </a:endParaRPr>
          </a:p>
        </p:txBody>
      </p:sp>
      <p:sp>
        <p:nvSpPr>
          <p:cNvPr id="7" name="ZoneTexte 6">
            <a:extLst>
              <a:ext uri="{FF2B5EF4-FFF2-40B4-BE49-F238E27FC236}">
                <a16:creationId xmlns:a16="http://schemas.microsoft.com/office/drawing/2014/main" id="{A8806DFD-1457-A74A-F5E4-2BD2E5CB8DFB}"/>
              </a:ext>
            </a:extLst>
          </p:cNvPr>
          <p:cNvSpPr txBox="1"/>
          <p:nvPr/>
        </p:nvSpPr>
        <p:spPr>
          <a:xfrm>
            <a:off x="838200" y="4001294"/>
            <a:ext cx="10515600" cy="1631216"/>
          </a:xfrm>
          <a:prstGeom prst="rect">
            <a:avLst/>
          </a:prstGeom>
          <a:solidFill>
            <a:srgbClr val="2B2B2B"/>
          </a:solidFill>
        </p:spPr>
        <p:txBody>
          <a:bodyPr wrap="square">
            <a:spAutoFit/>
          </a:bodyPr>
          <a:lstStyle/>
          <a:p>
            <a:r>
              <a:rPr lang="fr-BE" sz="2000" dirty="0">
                <a:solidFill>
                  <a:srgbClr val="CC7832"/>
                </a:solidFill>
                <a:effectLst/>
                <a:latin typeface="Consolas" panose="020B0609020204030204" pitchFamily="49" charset="0"/>
                <a:cs typeface="Consolas" panose="020B0609020204030204" pitchFamily="49" charset="0"/>
              </a:rPr>
              <a:t>catch </a:t>
            </a:r>
            <a:r>
              <a:rPr lang="fr-BE" sz="2000" dirty="0">
                <a:latin typeface="Consolas" panose="020B0609020204030204" pitchFamily="49" charset="0"/>
                <a:cs typeface="Consolas" panose="020B0609020204030204" pitchFamily="49" charset="0"/>
              </a:rPr>
              <a:t>(</a:t>
            </a:r>
            <a:r>
              <a:rPr lang="fr-BE" sz="2000" dirty="0" err="1">
                <a:latin typeface="Consolas" panose="020B0609020204030204" pitchFamily="49" charset="0"/>
                <a:cs typeface="Consolas" panose="020B0609020204030204" pitchFamily="49" charset="0"/>
              </a:rPr>
              <a:t>ConstructorException</a:t>
            </a:r>
            <a:r>
              <a:rPr lang="fr-BE" sz="2000" dirty="0">
                <a:latin typeface="Consolas" panose="020B0609020204030204" pitchFamily="49" charset="0"/>
                <a:cs typeface="Consolas" panose="020B0609020204030204" pitchFamily="49" charset="0"/>
              </a:rPr>
              <a:t> e) {</a:t>
            </a:r>
            <a:br>
              <a:rPr lang="fr-BE" sz="2000" dirty="0">
                <a:latin typeface="Consolas" panose="020B0609020204030204" pitchFamily="49" charset="0"/>
                <a:cs typeface="Consolas" panose="020B0609020204030204" pitchFamily="49" charset="0"/>
              </a:rPr>
            </a:br>
            <a:r>
              <a:rPr lang="fr-BE" sz="2000" dirty="0">
                <a:latin typeface="Consolas" panose="020B0609020204030204" pitchFamily="49" charset="0"/>
                <a:cs typeface="Consolas" panose="020B0609020204030204" pitchFamily="49" charset="0"/>
              </a:rPr>
              <a:t>    </a:t>
            </a:r>
            <a:r>
              <a:rPr lang="fr-BE" sz="2000" dirty="0" err="1">
                <a:latin typeface="Consolas" panose="020B0609020204030204" pitchFamily="49" charset="0"/>
                <a:cs typeface="Consolas" panose="020B0609020204030204" pitchFamily="49" charset="0"/>
              </a:rPr>
              <a:t>System.</a:t>
            </a:r>
            <a:r>
              <a:rPr lang="fr-BE" sz="2000" i="1" dirty="0" err="1">
                <a:solidFill>
                  <a:srgbClr val="9876AA"/>
                </a:solidFill>
                <a:effectLst/>
                <a:latin typeface="Consolas" panose="020B0609020204030204" pitchFamily="49" charset="0"/>
                <a:cs typeface="Consolas" panose="020B0609020204030204" pitchFamily="49" charset="0"/>
              </a:rPr>
              <a:t>out</a:t>
            </a:r>
            <a:r>
              <a:rPr lang="fr-BE" sz="2000" dirty="0" err="1">
                <a:latin typeface="Consolas" panose="020B0609020204030204" pitchFamily="49" charset="0"/>
                <a:cs typeface="Consolas" panose="020B0609020204030204" pitchFamily="49" charset="0"/>
              </a:rPr>
              <a:t>.println</a:t>
            </a:r>
            <a:r>
              <a:rPr lang="fr-BE" sz="2000" dirty="0">
                <a:latin typeface="Consolas" panose="020B0609020204030204" pitchFamily="49" charset="0"/>
                <a:cs typeface="Consolas" panose="020B0609020204030204" pitchFamily="49" charset="0"/>
              </a:rPr>
              <a:t>(</a:t>
            </a:r>
            <a:r>
              <a:rPr lang="fr-BE" sz="2000" dirty="0">
                <a:solidFill>
                  <a:srgbClr val="6A8759"/>
                </a:solidFill>
                <a:effectLst/>
                <a:latin typeface="Consolas" panose="020B0609020204030204" pitchFamily="49" charset="0"/>
                <a:cs typeface="Consolas" panose="020B0609020204030204" pitchFamily="49" charset="0"/>
              </a:rPr>
              <a:t>"Erreur </a:t>
            </a:r>
            <a:r>
              <a:rPr lang="fr-BE" sz="2000" dirty="0" err="1">
                <a:solidFill>
                  <a:srgbClr val="6A8759"/>
                </a:solidFill>
                <a:effectLst/>
                <a:latin typeface="Consolas" panose="020B0609020204030204" pitchFamily="49" charset="0"/>
                <a:cs typeface="Consolas" panose="020B0609020204030204" pitchFamily="49" charset="0"/>
              </a:rPr>
              <a:t>construct</a:t>
            </a:r>
            <a:r>
              <a:rPr lang="fr-BE" sz="2000" dirty="0">
                <a:solidFill>
                  <a:srgbClr val="6A8759"/>
                </a:solidFill>
                <a:effectLst/>
                <a:latin typeface="Consolas" panose="020B0609020204030204" pitchFamily="49" charset="0"/>
                <a:cs typeface="Consolas" panose="020B0609020204030204" pitchFamily="49" charset="0"/>
              </a:rPr>
              <a:t> Point"</a:t>
            </a:r>
            <a:r>
              <a:rPr lang="fr-BE" sz="2000" dirty="0">
                <a:latin typeface="Consolas" panose="020B0609020204030204" pitchFamily="49" charset="0"/>
                <a:cs typeface="Consolas" panose="020B0609020204030204" pitchFamily="49" charset="0"/>
              </a:rPr>
              <a:t>)</a:t>
            </a:r>
            <a:r>
              <a:rPr lang="fr-BE" sz="2000" dirty="0">
                <a:solidFill>
                  <a:srgbClr val="CC7832"/>
                </a:solidFill>
                <a:effectLst/>
                <a:latin typeface="Consolas" panose="020B0609020204030204" pitchFamily="49" charset="0"/>
                <a:cs typeface="Consolas" panose="020B0609020204030204" pitchFamily="49" charset="0"/>
              </a:rPr>
              <a:t>;</a:t>
            </a:r>
            <a:br>
              <a:rPr lang="fr-BE" sz="2000" dirty="0">
                <a:solidFill>
                  <a:srgbClr val="CC7832"/>
                </a:solidFill>
                <a:effectLst/>
                <a:latin typeface="Consolas" panose="020B0609020204030204" pitchFamily="49" charset="0"/>
                <a:cs typeface="Consolas" panose="020B0609020204030204" pitchFamily="49" charset="0"/>
              </a:rPr>
            </a:br>
            <a:r>
              <a:rPr lang="fr-BE" sz="2000" dirty="0">
                <a:solidFill>
                  <a:srgbClr val="CC7832"/>
                </a:solidFill>
                <a:effectLst/>
                <a:latin typeface="Consolas" panose="020B0609020204030204" pitchFamily="49" charset="0"/>
                <a:cs typeface="Consolas" panose="020B0609020204030204" pitchFamily="49" charset="0"/>
              </a:rPr>
              <a:t>    </a:t>
            </a:r>
            <a:r>
              <a:rPr lang="fr-BE" sz="2000" dirty="0" err="1">
                <a:latin typeface="Consolas" panose="020B0609020204030204" pitchFamily="49" charset="0"/>
                <a:cs typeface="Consolas" panose="020B0609020204030204" pitchFamily="49" charset="0"/>
              </a:rPr>
              <a:t>System.</a:t>
            </a:r>
            <a:r>
              <a:rPr lang="fr-BE" sz="2000" i="1" dirty="0" err="1">
                <a:solidFill>
                  <a:srgbClr val="9876AA"/>
                </a:solidFill>
                <a:effectLst/>
                <a:latin typeface="Consolas" panose="020B0609020204030204" pitchFamily="49" charset="0"/>
                <a:cs typeface="Consolas" panose="020B0609020204030204" pitchFamily="49" charset="0"/>
              </a:rPr>
              <a:t>out</a:t>
            </a:r>
            <a:r>
              <a:rPr lang="fr-BE" sz="2000" dirty="0" err="1">
                <a:latin typeface="Consolas" panose="020B0609020204030204" pitchFamily="49" charset="0"/>
                <a:cs typeface="Consolas" panose="020B0609020204030204" pitchFamily="49" charset="0"/>
              </a:rPr>
              <a:t>.println</a:t>
            </a:r>
            <a:r>
              <a:rPr lang="fr-BE" sz="2000" dirty="0">
                <a:latin typeface="Consolas" panose="020B0609020204030204" pitchFamily="49" charset="0"/>
                <a:cs typeface="Consolas" panose="020B0609020204030204" pitchFamily="49" charset="0"/>
              </a:rPr>
              <a:t>(</a:t>
            </a:r>
            <a:r>
              <a:rPr lang="fr-BE" sz="2000" dirty="0">
                <a:solidFill>
                  <a:srgbClr val="6A8759"/>
                </a:solidFill>
                <a:effectLst/>
                <a:latin typeface="Consolas" panose="020B0609020204030204" pitchFamily="49" charset="0"/>
                <a:cs typeface="Consolas" panose="020B0609020204030204" pitchFamily="49" charset="0"/>
              </a:rPr>
              <a:t>"</a:t>
            </a:r>
            <a:r>
              <a:rPr lang="fr-BE" sz="2000" dirty="0" err="1">
                <a:solidFill>
                  <a:srgbClr val="6A8759"/>
                </a:solidFill>
                <a:effectLst/>
                <a:latin typeface="Consolas" panose="020B0609020204030204" pitchFamily="49" charset="0"/>
                <a:cs typeface="Consolas" panose="020B0609020204030204" pitchFamily="49" charset="0"/>
              </a:rPr>
              <a:t>coordonnees</a:t>
            </a:r>
            <a:r>
              <a:rPr lang="fr-BE" sz="2000" dirty="0">
                <a:solidFill>
                  <a:srgbClr val="6A8759"/>
                </a:solidFill>
                <a:effectLst/>
                <a:latin typeface="Consolas" panose="020B0609020204030204" pitchFamily="49" charset="0"/>
                <a:cs typeface="Consolas" panose="020B0609020204030204" pitchFamily="49" charset="0"/>
              </a:rPr>
              <a:t> transmises: " </a:t>
            </a:r>
            <a:r>
              <a:rPr lang="fr-BE" sz="2000" dirty="0">
                <a:latin typeface="Consolas" panose="020B0609020204030204" pitchFamily="49" charset="0"/>
                <a:cs typeface="Consolas" panose="020B0609020204030204" pitchFamily="49" charset="0"/>
              </a:rPr>
              <a:t>+ </a:t>
            </a:r>
            <a:r>
              <a:rPr lang="fr-BE" sz="2000" dirty="0" err="1">
                <a:latin typeface="Consolas" panose="020B0609020204030204" pitchFamily="49" charset="0"/>
                <a:cs typeface="Consolas" panose="020B0609020204030204" pitchFamily="49" charset="0"/>
              </a:rPr>
              <a:t>e.</a:t>
            </a:r>
            <a:r>
              <a:rPr lang="fr-BE" sz="2000" dirty="0" err="1">
                <a:solidFill>
                  <a:srgbClr val="9876AA"/>
                </a:solidFill>
                <a:effectLst/>
                <a:latin typeface="Consolas" panose="020B0609020204030204" pitchFamily="49" charset="0"/>
                <a:cs typeface="Consolas" panose="020B0609020204030204" pitchFamily="49" charset="0"/>
              </a:rPr>
              <a:t>abs</a:t>
            </a:r>
            <a:r>
              <a:rPr lang="fr-BE" sz="2000" dirty="0">
                <a:solidFill>
                  <a:srgbClr val="9876AA"/>
                </a:solidFill>
                <a:effectLst/>
                <a:latin typeface="Consolas" panose="020B0609020204030204" pitchFamily="49" charset="0"/>
                <a:cs typeface="Consolas" panose="020B0609020204030204" pitchFamily="49" charset="0"/>
              </a:rPr>
              <a:t> </a:t>
            </a:r>
            <a:r>
              <a:rPr lang="fr-BE" sz="2000" dirty="0">
                <a:latin typeface="Consolas" panose="020B0609020204030204" pitchFamily="49" charset="0"/>
                <a:cs typeface="Consolas" panose="020B0609020204030204" pitchFamily="49" charset="0"/>
              </a:rPr>
              <a:t>+ </a:t>
            </a:r>
            <a:r>
              <a:rPr lang="fr-BE" sz="2000" dirty="0">
                <a:solidFill>
                  <a:srgbClr val="6A8759"/>
                </a:solidFill>
                <a:effectLst/>
                <a:latin typeface="Consolas" panose="020B0609020204030204" pitchFamily="49" charset="0"/>
                <a:cs typeface="Consolas" panose="020B0609020204030204" pitchFamily="49" charset="0"/>
              </a:rPr>
              <a:t>" " </a:t>
            </a:r>
            <a:r>
              <a:rPr lang="fr-BE" sz="2000" dirty="0">
                <a:latin typeface="Consolas" panose="020B0609020204030204" pitchFamily="49" charset="0"/>
                <a:cs typeface="Consolas" panose="020B0609020204030204" pitchFamily="49" charset="0"/>
              </a:rPr>
              <a:t>+ </a:t>
            </a:r>
            <a:r>
              <a:rPr lang="fr-BE" sz="2000" dirty="0" err="1">
                <a:latin typeface="Consolas" panose="020B0609020204030204" pitchFamily="49" charset="0"/>
                <a:cs typeface="Consolas" panose="020B0609020204030204" pitchFamily="49" charset="0"/>
              </a:rPr>
              <a:t>e.</a:t>
            </a:r>
            <a:r>
              <a:rPr lang="fr-BE" sz="2000" dirty="0" err="1">
                <a:solidFill>
                  <a:srgbClr val="9876AA"/>
                </a:solidFill>
                <a:effectLst/>
                <a:latin typeface="Consolas" panose="020B0609020204030204" pitchFamily="49" charset="0"/>
                <a:cs typeface="Consolas" panose="020B0609020204030204" pitchFamily="49" charset="0"/>
              </a:rPr>
              <a:t>ord</a:t>
            </a:r>
            <a:r>
              <a:rPr lang="fr-BE" sz="2000" dirty="0">
                <a:latin typeface="Consolas" panose="020B0609020204030204" pitchFamily="49" charset="0"/>
                <a:cs typeface="Consolas" panose="020B0609020204030204" pitchFamily="49" charset="0"/>
              </a:rPr>
              <a:t>)</a:t>
            </a:r>
            <a:r>
              <a:rPr lang="fr-BE" sz="2000" dirty="0">
                <a:solidFill>
                  <a:srgbClr val="CC7832"/>
                </a:solidFill>
                <a:effectLst/>
                <a:latin typeface="Consolas" panose="020B0609020204030204" pitchFamily="49" charset="0"/>
                <a:cs typeface="Consolas" panose="020B0609020204030204" pitchFamily="49" charset="0"/>
              </a:rPr>
              <a:t>;</a:t>
            </a:r>
            <a:br>
              <a:rPr lang="fr-BE" sz="2000" dirty="0">
                <a:solidFill>
                  <a:srgbClr val="CC7832"/>
                </a:solidFill>
                <a:effectLst/>
                <a:latin typeface="Consolas" panose="020B0609020204030204" pitchFamily="49" charset="0"/>
                <a:cs typeface="Consolas" panose="020B0609020204030204" pitchFamily="49" charset="0"/>
              </a:rPr>
            </a:br>
            <a:r>
              <a:rPr lang="fr-BE" sz="2000" dirty="0">
                <a:solidFill>
                  <a:srgbClr val="CC7832"/>
                </a:solidFill>
                <a:effectLst/>
                <a:latin typeface="Consolas" panose="020B0609020204030204" pitchFamily="49" charset="0"/>
                <a:cs typeface="Consolas" panose="020B0609020204030204" pitchFamily="49" charset="0"/>
              </a:rPr>
              <a:t>    </a:t>
            </a:r>
            <a:r>
              <a:rPr lang="fr-BE" sz="2000" dirty="0" err="1">
                <a:latin typeface="Consolas" panose="020B0609020204030204" pitchFamily="49" charset="0"/>
                <a:cs typeface="Consolas" panose="020B0609020204030204" pitchFamily="49" charset="0"/>
              </a:rPr>
              <a:t>System.</a:t>
            </a:r>
            <a:r>
              <a:rPr lang="fr-BE" sz="2000" i="1" dirty="0" err="1">
                <a:effectLst/>
                <a:latin typeface="Consolas" panose="020B0609020204030204" pitchFamily="49" charset="0"/>
                <a:cs typeface="Consolas" panose="020B0609020204030204" pitchFamily="49" charset="0"/>
              </a:rPr>
              <a:t>exit</a:t>
            </a:r>
            <a:r>
              <a:rPr lang="fr-BE" sz="2000" dirty="0">
                <a:latin typeface="Consolas" panose="020B0609020204030204" pitchFamily="49" charset="0"/>
                <a:cs typeface="Consolas" panose="020B0609020204030204" pitchFamily="49" charset="0"/>
              </a:rPr>
              <a:t>(-</a:t>
            </a:r>
            <a:r>
              <a:rPr lang="fr-BE" sz="2000" dirty="0">
                <a:solidFill>
                  <a:srgbClr val="6897BB"/>
                </a:solidFill>
                <a:effectLst/>
                <a:latin typeface="Consolas" panose="020B0609020204030204" pitchFamily="49" charset="0"/>
                <a:cs typeface="Consolas" panose="020B0609020204030204" pitchFamily="49" charset="0"/>
              </a:rPr>
              <a:t>1</a:t>
            </a:r>
            <a:r>
              <a:rPr lang="fr-BE" sz="2000" dirty="0">
                <a:latin typeface="Consolas" panose="020B0609020204030204" pitchFamily="49" charset="0"/>
                <a:cs typeface="Consolas" panose="020B0609020204030204" pitchFamily="49" charset="0"/>
              </a:rPr>
              <a:t>)</a:t>
            </a:r>
            <a:r>
              <a:rPr lang="fr-BE" sz="2000" dirty="0">
                <a:solidFill>
                  <a:srgbClr val="CC7832"/>
                </a:solidFill>
                <a:effectLst/>
                <a:latin typeface="Consolas" panose="020B0609020204030204" pitchFamily="49" charset="0"/>
                <a:cs typeface="Consolas" panose="020B0609020204030204" pitchFamily="49" charset="0"/>
              </a:rPr>
              <a:t>;</a:t>
            </a:r>
            <a:br>
              <a:rPr lang="fr-BE" sz="2000" dirty="0">
                <a:solidFill>
                  <a:srgbClr val="CC7832"/>
                </a:solidFill>
                <a:effectLst/>
                <a:latin typeface="Consolas" panose="020B0609020204030204" pitchFamily="49" charset="0"/>
                <a:cs typeface="Consolas" panose="020B0609020204030204" pitchFamily="49" charset="0"/>
              </a:rPr>
            </a:br>
            <a:r>
              <a:rPr lang="fr-BE" sz="2000" dirty="0">
                <a:latin typeface="Consolas" panose="020B0609020204030204" pitchFamily="49" charset="0"/>
                <a:cs typeface="Consolas" panose="020B0609020204030204" pitchFamily="49" charset="0"/>
              </a:rPr>
              <a:t>}</a:t>
            </a:r>
            <a:endParaRPr lang="fr-FR" sz="20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606793030"/>
      </p:ext>
    </p:extLst>
  </p:cSld>
  <p:clrMapOvr>
    <a:masterClrMapping/>
  </p:clrMapOvr>
  <p:transition>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Communiquer via Exception</a:t>
            </a:r>
          </a:p>
        </p:txBody>
      </p:sp>
      <p:sp>
        <p:nvSpPr>
          <p:cNvPr id="3" name="Espace réservé du contenu 2"/>
          <p:cNvSpPr>
            <a:spLocks noGrp="1"/>
          </p:cNvSpPr>
          <p:nvPr>
            <p:ph idx="1"/>
          </p:nvPr>
        </p:nvSpPr>
        <p:spPr/>
        <p:txBody>
          <a:bodyPr>
            <a:normAutofit/>
          </a:bodyPr>
          <a:lstStyle/>
          <a:p>
            <a:pPr marL="0" indent="0">
              <a:buNone/>
            </a:pPr>
            <a:r>
              <a:rPr lang="fr-FR" dirty="0">
                <a:cs typeface="Consolas"/>
              </a:rPr>
              <a:t>La classe </a:t>
            </a:r>
            <a:r>
              <a:rPr lang="fr-FR" sz="2400" dirty="0">
                <a:solidFill>
                  <a:schemeClr val="accent4"/>
                </a:solidFill>
                <a:latin typeface="Consolas"/>
                <a:cs typeface="Consolas"/>
              </a:rPr>
              <a:t>Exception</a:t>
            </a:r>
            <a:r>
              <a:rPr lang="fr-FR" dirty="0">
                <a:cs typeface="Consolas"/>
              </a:rPr>
              <a:t> présente un constructeur à un argument </a:t>
            </a:r>
            <a:r>
              <a:rPr lang="fr-FR" sz="2400" dirty="0">
                <a:solidFill>
                  <a:schemeClr val="accent4"/>
                </a:solidFill>
                <a:latin typeface="Consolas"/>
                <a:cs typeface="Consolas"/>
              </a:rPr>
              <a:t>String</a:t>
            </a:r>
            <a:r>
              <a:rPr lang="fr-FR" dirty="0">
                <a:cs typeface="Consolas"/>
              </a:rPr>
              <a:t>. </a:t>
            </a:r>
          </a:p>
          <a:p>
            <a:pPr marL="0" indent="0">
              <a:buNone/>
            </a:pPr>
            <a:endParaRPr lang="fr-FR" dirty="0">
              <a:cs typeface="Consolas"/>
            </a:endParaRPr>
          </a:p>
          <a:p>
            <a:pPr marL="0" indent="0">
              <a:buNone/>
            </a:pPr>
            <a:r>
              <a:rPr lang="fr-FR" dirty="0">
                <a:cs typeface="Consolas"/>
              </a:rPr>
              <a:t>On peut réutiliser ce constructeur (via un appel </a:t>
            </a:r>
            <a:r>
              <a:rPr lang="fr-FR" sz="2400" dirty="0">
                <a:solidFill>
                  <a:schemeClr val="accent4"/>
                </a:solidFill>
                <a:latin typeface="Consolas"/>
                <a:cs typeface="Consolas"/>
              </a:rPr>
              <a:t>super()</a:t>
            </a:r>
            <a:r>
              <a:rPr lang="fr-FR" dirty="0">
                <a:cs typeface="Consolas"/>
              </a:rPr>
              <a:t>) quand on veut uniquement transmettre un message textuel à l'appelant. </a:t>
            </a:r>
          </a:p>
        </p:txBody>
      </p:sp>
    </p:spTree>
    <p:extLst>
      <p:ext uri="{BB962C8B-B14F-4D97-AF65-F5344CB8AC3E}">
        <p14:creationId xmlns:p14="http://schemas.microsoft.com/office/powerpoint/2010/main" val="3792184404"/>
      </p:ext>
    </p:extLst>
  </p:cSld>
  <p:clrMapOvr>
    <a:masterClrMapping/>
  </p:clrMapOvr>
  <p:transition>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Communiquer </a:t>
            </a:r>
            <a:br>
              <a:rPr lang="fr-FR" dirty="0"/>
            </a:br>
            <a:r>
              <a:rPr lang="fr-FR" dirty="0"/>
              <a:t>via Exception</a:t>
            </a:r>
          </a:p>
        </p:txBody>
      </p:sp>
      <p:sp>
        <p:nvSpPr>
          <p:cNvPr id="3" name="Espace réservé du contenu 2"/>
          <p:cNvSpPr>
            <a:spLocks noGrp="1"/>
          </p:cNvSpPr>
          <p:nvPr>
            <p:ph idx="1"/>
          </p:nvPr>
        </p:nvSpPr>
        <p:spPr/>
        <p:txBody>
          <a:bodyPr>
            <a:normAutofit/>
          </a:bodyPr>
          <a:lstStyle/>
          <a:p>
            <a:pPr marL="0" indent="0">
              <a:buNone/>
            </a:pPr>
            <a:r>
              <a:rPr lang="fr-FR" dirty="0">
                <a:cs typeface="Consolas"/>
              </a:rPr>
              <a:t>On doit alors, dans le constructeur de </a:t>
            </a:r>
            <a:r>
              <a:rPr lang="fr-FR" sz="2400" dirty="0" err="1">
                <a:solidFill>
                  <a:schemeClr val="accent4"/>
                </a:solidFill>
                <a:latin typeface="Consolas"/>
                <a:cs typeface="Consolas"/>
              </a:rPr>
              <a:t>ConstructorException</a:t>
            </a:r>
            <a:r>
              <a:rPr lang="fr-FR" dirty="0">
                <a:cs typeface="Consolas"/>
              </a:rPr>
              <a:t>, faire appel au constructeur de la superclasse.</a:t>
            </a:r>
          </a:p>
        </p:txBody>
      </p:sp>
      <p:sp>
        <p:nvSpPr>
          <p:cNvPr id="7" name="ZoneTexte 6">
            <a:extLst>
              <a:ext uri="{FF2B5EF4-FFF2-40B4-BE49-F238E27FC236}">
                <a16:creationId xmlns:a16="http://schemas.microsoft.com/office/drawing/2014/main" id="{8C6C14C2-6F5A-F7C9-2272-518C78275015}"/>
              </a:ext>
            </a:extLst>
          </p:cNvPr>
          <p:cNvSpPr txBox="1"/>
          <p:nvPr/>
        </p:nvSpPr>
        <p:spPr>
          <a:xfrm>
            <a:off x="2882590" y="3248788"/>
            <a:ext cx="7120053" cy="1631216"/>
          </a:xfrm>
          <a:prstGeom prst="rect">
            <a:avLst/>
          </a:prstGeom>
          <a:solidFill>
            <a:srgbClr val="2B2B2B"/>
          </a:solidFill>
        </p:spPr>
        <p:txBody>
          <a:bodyPr wrap="square">
            <a:spAutoFit/>
          </a:bodyPr>
          <a:lstStyle/>
          <a:p>
            <a:r>
              <a:rPr lang="fr-BE" sz="2000" dirty="0">
                <a:solidFill>
                  <a:srgbClr val="CC7832"/>
                </a:solidFill>
                <a:effectLst/>
                <a:latin typeface="Consolas" panose="020B0609020204030204" pitchFamily="49" charset="0"/>
                <a:cs typeface="Consolas" panose="020B0609020204030204" pitchFamily="49" charset="0"/>
              </a:rPr>
              <a:t>class </a:t>
            </a:r>
            <a:r>
              <a:rPr lang="fr-BE" sz="2000" dirty="0" err="1">
                <a:latin typeface="Consolas" panose="020B0609020204030204" pitchFamily="49" charset="0"/>
                <a:cs typeface="Consolas" panose="020B0609020204030204" pitchFamily="49" charset="0"/>
              </a:rPr>
              <a:t>ConstructorException</a:t>
            </a:r>
            <a:r>
              <a:rPr lang="fr-BE" sz="2000" dirty="0">
                <a:latin typeface="Consolas" panose="020B0609020204030204" pitchFamily="49" charset="0"/>
                <a:cs typeface="Consolas" panose="020B0609020204030204" pitchFamily="49" charset="0"/>
              </a:rPr>
              <a:t> </a:t>
            </a:r>
            <a:r>
              <a:rPr lang="fr-BE" sz="2000" dirty="0" err="1">
                <a:solidFill>
                  <a:srgbClr val="CC7832"/>
                </a:solidFill>
                <a:effectLst/>
                <a:latin typeface="Consolas" panose="020B0609020204030204" pitchFamily="49" charset="0"/>
                <a:cs typeface="Consolas" panose="020B0609020204030204" pitchFamily="49" charset="0"/>
              </a:rPr>
              <a:t>extends</a:t>
            </a:r>
            <a:r>
              <a:rPr lang="fr-BE" sz="2000" dirty="0">
                <a:solidFill>
                  <a:srgbClr val="CC7832"/>
                </a:solidFill>
                <a:effectLst/>
                <a:latin typeface="Consolas" panose="020B0609020204030204" pitchFamily="49" charset="0"/>
                <a:cs typeface="Consolas" panose="020B0609020204030204" pitchFamily="49" charset="0"/>
              </a:rPr>
              <a:t> </a:t>
            </a:r>
            <a:r>
              <a:rPr lang="fr-BE" sz="2000" dirty="0">
                <a:latin typeface="Consolas" panose="020B0609020204030204" pitchFamily="49" charset="0"/>
                <a:cs typeface="Consolas" panose="020B0609020204030204" pitchFamily="49" charset="0"/>
              </a:rPr>
              <a:t>Exception {</a:t>
            </a:r>
            <a:br>
              <a:rPr lang="fr-BE" sz="2000" dirty="0">
                <a:latin typeface="Consolas" panose="020B0609020204030204" pitchFamily="49" charset="0"/>
                <a:cs typeface="Consolas" panose="020B0609020204030204" pitchFamily="49" charset="0"/>
              </a:rPr>
            </a:br>
            <a:r>
              <a:rPr lang="fr-BE" sz="2000" dirty="0">
                <a:latin typeface="Consolas" panose="020B0609020204030204" pitchFamily="49" charset="0"/>
                <a:cs typeface="Consolas" panose="020B0609020204030204" pitchFamily="49" charset="0"/>
              </a:rPr>
              <a:t>    </a:t>
            </a:r>
            <a:r>
              <a:rPr lang="fr-BE" sz="2000" dirty="0" err="1">
                <a:solidFill>
                  <a:srgbClr val="FFC66D"/>
                </a:solidFill>
                <a:effectLst/>
                <a:latin typeface="Consolas" panose="020B0609020204030204" pitchFamily="49" charset="0"/>
                <a:cs typeface="Consolas" panose="020B0609020204030204" pitchFamily="49" charset="0"/>
              </a:rPr>
              <a:t>ConstructorException</a:t>
            </a:r>
            <a:r>
              <a:rPr lang="fr-BE" sz="2000" dirty="0">
                <a:solidFill>
                  <a:srgbClr val="FFC66D"/>
                </a:solidFill>
                <a:effectLst/>
                <a:latin typeface="Consolas" panose="020B0609020204030204" pitchFamily="49" charset="0"/>
                <a:cs typeface="Consolas" panose="020B0609020204030204" pitchFamily="49" charset="0"/>
              </a:rPr>
              <a:t> </a:t>
            </a:r>
            <a:r>
              <a:rPr lang="fr-BE" sz="2000" dirty="0">
                <a:latin typeface="Consolas" panose="020B0609020204030204" pitchFamily="49" charset="0"/>
                <a:cs typeface="Consolas" panose="020B0609020204030204" pitchFamily="49" charset="0"/>
              </a:rPr>
              <a:t>(String msg) {</a:t>
            </a:r>
            <a:br>
              <a:rPr lang="fr-BE" sz="2000" dirty="0">
                <a:latin typeface="Consolas" panose="020B0609020204030204" pitchFamily="49" charset="0"/>
                <a:cs typeface="Consolas" panose="020B0609020204030204" pitchFamily="49" charset="0"/>
              </a:rPr>
            </a:br>
            <a:r>
              <a:rPr lang="fr-BE" sz="2000" dirty="0">
                <a:latin typeface="Consolas" panose="020B0609020204030204" pitchFamily="49" charset="0"/>
                <a:cs typeface="Consolas" panose="020B0609020204030204" pitchFamily="49" charset="0"/>
              </a:rPr>
              <a:t>        </a:t>
            </a:r>
            <a:r>
              <a:rPr lang="fr-BE" sz="2000" dirty="0">
                <a:solidFill>
                  <a:srgbClr val="CC7832"/>
                </a:solidFill>
                <a:effectLst/>
                <a:latin typeface="Consolas" panose="020B0609020204030204" pitchFamily="49" charset="0"/>
                <a:cs typeface="Consolas" panose="020B0609020204030204" pitchFamily="49" charset="0"/>
              </a:rPr>
              <a:t>super</a:t>
            </a:r>
            <a:r>
              <a:rPr lang="fr-BE" sz="2000" dirty="0">
                <a:latin typeface="Consolas" panose="020B0609020204030204" pitchFamily="49" charset="0"/>
                <a:cs typeface="Consolas" panose="020B0609020204030204" pitchFamily="49" charset="0"/>
              </a:rPr>
              <a:t>(msg) </a:t>
            </a:r>
            <a:r>
              <a:rPr lang="fr-BE" sz="2000" dirty="0">
                <a:solidFill>
                  <a:srgbClr val="CC7832"/>
                </a:solidFill>
                <a:effectLst/>
                <a:latin typeface="Consolas" panose="020B0609020204030204" pitchFamily="49" charset="0"/>
                <a:cs typeface="Consolas" panose="020B0609020204030204" pitchFamily="49" charset="0"/>
              </a:rPr>
              <a:t>;</a:t>
            </a:r>
            <a:br>
              <a:rPr lang="fr-BE" sz="2000" dirty="0">
                <a:solidFill>
                  <a:srgbClr val="CC7832"/>
                </a:solidFill>
                <a:effectLst/>
                <a:latin typeface="Consolas" panose="020B0609020204030204" pitchFamily="49" charset="0"/>
                <a:cs typeface="Consolas" panose="020B0609020204030204" pitchFamily="49" charset="0"/>
              </a:rPr>
            </a:br>
            <a:r>
              <a:rPr lang="fr-BE" sz="2000" dirty="0">
                <a:solidFill>
                  <a:srgbClr val="CC7832"/>
                </a:solidFill>
                <a:effectLst/>
                <a:latin typeface="Consolas" panose="020B0609020204030204" pitchFamily="49" charset="0"/>
                <a:cs typeface="Consolas" panose="020B0609020204030204" pitchFamily="49" charset="0"/>
              </a:rPr>
              <a:t>    </a:t>
            </a:r>
            <a:r>
              <a:rPr lang="fr-BE" sz="2000" dirty="0">
                <a:latin typeface="Consolas" panose="020B0609020204030204" pitchFamily="49" charset="0"/>
                <a:cs typeface="Consolas" panose="020B0609020204030204" pitchFamily="49" charset="0"/>
              </a:rPr>
              <a:t>}</a:t>
            </a:r>
            <a:br>
              <a:rPr lang="fr-BE" sz="2000" dirty="0">
                <a:latin typeface="Consolas" panose="020B0609020204030204" pitchFamily="49" charset="0"/>
                <a:cs typeface="Consolas" panose="020B0609020204030204" pitchFamily="49" charset="0"/>
              </a:rPr>
            </a:br>
            <a:r>
              <a:rPr lang="fr-BE" sz="2000" dirty="0">
                <a:latin typeface="Consolas" panose="020B0609020204030204" pitchFamily="49" charset="0"/>
                <a:cs typeface="Consolas" panose="020B0609020204030204" pitchFamily="49" charset="0"/>
              </a:rPr>
              <a:t>}</a:t>
            </a:r>
            <a:endParaRPr lang="fr-FR" sz="20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30170662"/>
      </p:ext>
    </p:extLst>
  </p:cSld>
  <p:clrMapOvr>
    <a:masterClrMapping/>
  </p:clrMapOvr>
  <p:transition>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Communiquer via Exception</a:t>
            </a:r>
          </a:p>
        </p:txBody>
      </p:sp>
      <p:sp>
        <p:nvSpPr>
          <p:cNvPr id="3" name="Espace réservé du contenu 2"/>
          <p:cNvSpPr>
            <a:spLocks noGrp="1"/>
          </p:cNvSpPr>
          <p:nvPr>
            <p:ph idx="1"/>
          </p:nvPr>
        </p:nvSpPr>
        <p:spPr>
          <a:xfrm>
            <a:off x="838200" y="1825625"/>
            <a:ext cx="10840278" cy="4351338"/>
          </a:xfrm>
        </p:spPr>
        <p:txBody>
          <a:bodyPr>
            <a:normAutofit/>
          </a:bodyPr>
          <a:lstStyle/>
          <a:p>
            <a:pPr marL="0" indent="0">
              <a:buNone/>
            </a:pPr>
            <a:r>
              <a:rPr lang="fr-FR" dirty="0">
                <a:cs typeface="Consolas"/>
              </a:rPr>
              <a:t>Ensuite, dans la méthode qui génère l'exception, on construit l'exception en lui passant une chaîne de caractères.</a:t>
            </a:r>
          </a:p>
          <a:p>
            <a:pPr marL="0" indent="0">
              <a:buNone/>
            </a:pPr>
            <a:endParaRPr lang="fr-FR" dirty="0">
              <a:cs typeface="Consolas"/>
            </a:endParaRPr>
          </a:p>
          <a:p>
            <a:pPr marL="0" indent="0">
              <a:buNone/>
            </a:pPr>
            <a:r>
              <a:rPr lang="fr-FR" dirty="0">
                <a:cs typeface="Consolas"/>
              </a:rPr>
              <a:t>Par exemple</a:t>
            </a:r>
          </a:p>
        </p:txBody>
      </p:sp>
      <p:sp>
        <p:nvSpPr>
          <p:cNvPr id="7" name="ZoneTexte 6">
            <a:extLst>
              <a:ext uri="{FF2B5EF4-FFF2-40B4-BE49-F238E27FC236}">
                <a16:creationId xmlns:a16="http://schemas.microsoft.com/office/drawing/2014/main" id="{700FA725-1F94-6D92-F13A-FC0210277791}"/>
              </a:ext>
            </a:extLst>
          </p:cNvPr>
          <p:cNvSpPr txBox="1"/>
          <p:nvPr/>
        </p:nvSpPr>
        <p:spPr>
          <a:xfrm>
            <a:off x="485725" y="4001294"/>
            <a:ext cx="11379173" cy="707886"/>
          </a:xfrm>
          <a:prstGeom prst="rect">
            <a:avLst/>
          </a:prstGeom>
          <a:solidFill>
            <a:srgbClr val="2B2B2B"/>
          </a:solidFill>
        </p:spPr>
        <p:txBody>
          <a:bodyPr wrap="square">
            <a:spAutoFit/>
          </a:bodyPr>
          <a:lstStyle/>
          <a:p>
            <a:r>
              <a:rPr lang="fr-BE" sz="2000" dirty="0" err="1">
                <a:solidFill>
                  <a:srgbClr val="CC7832"/>
                </a:solidFill>
                <a:effectLst/>
                <a:latin typeface="Consolas" panose="020B0609020204030204" pitchFamily="49" charset="0"/>
                <a:cs typeface="Consolas" panose="020B0609020204030204" pitchFamily="49" charset="0"/>
              </a:rPr>
              <a:t>throw</a:t>
            </a:r>
            <a:r>
              <a:rPr lang="fr-BE" sz="2000" dirty="0">
                <a:solidFill>
                  <a:srgbClr val="CC7832"/>
                </a:solidFill>
                <a:effectLst/>
                <a:latin typeface="Consolas" panose="020B0609020204030204" pitchFamily="49" charset="0"/>
                <a:cs typeface="Consolas" panose="020B0609020204030204" pitchFamily="49" charset="0"/>
              </a:rPr>
              <a:t> new </a:t>
            </a:r>
            <a:r>
              <a:rPr lang="fr-BE" sz="2000" dirty="0" err="1">
                <a:latin typeface="Consolas" panose="020B0609020204030204" pitchFamily="49" charset="0"/>
                <a:cs typeface="Consolas" panose="020B0609020204030204" pitchFamily="49" charset="0"/>
              </a:rPr>
              <a:t>ConstructorException</a:t>
            </a:r>
            <a:r>
              <a:rPr lang="fr-BE" sz="2000" dirty="0">
                <a:latin typeface="Consolas" panose="020B0609020204030204" pitchFamily="49" charset="0"/>
                <a:cs typeface="Consolas" panose="020B0609020204030204" pitchFamily="49" charset="0"/>
              </a:rPr>
              <a:t>(</a:t>
            </a:r>
            <a:r>
              <a:rPr lang="fr-BE" sz="2000" dirty="0">
                <a:solidFill>
                  <a:srgbClr val="6A8759"/>
                </a:solidFill>
                <a:effectLst/>
                <a:latin typeface="Consolas" panose="020B0609020204030204" pitchFamily="49" charset="0"/>
                <a:cs typeface="Consolas" panose="020B0609020204030204" pitchFamily="49" charset="0"/>
              </a:rPr>
              <a:t>"Erreur </a:t>
            </a:r>
            <a:r>
              <a:rPr lang="fr-BE" sz="2000" dirty="0" err="1">
                <a:solidFill>
                  <a:srgbClr val="6A8759"/>
                </a:solidFill>
                <a:effectLst/>
                <a:latin typeface="Consolas" panose="020B0609020204030204" pitchFamily="49" charset="0"/>
                <a:cs typeface="Consolas" panose="020B0609020204030204" pitchFamily="49" charset="0"/>
              </a:rPr>
              <a:t>construct</a:t>
            </a:r>
            <a:r>
              <a:rPr lang="fr-BE" sz="2000" dirty="0">
                <a:solidFill>
                  <a:srgbClr val="6A8759"/>
                </a:solidFill>
                <a:effectLst/>
                <a:latin typeface="Consolas" panose="020B0609020204030204" pitchFamily="49" charset="0"/>
                <a:cs typeface="Consolas" panose="020B0609020204030204" pitchFamily="49" charset="0"/>
              </a:rPr>
              <a:t>: </a:t>
            </a:r>
            <a:r>
              <a:rPr lang="fr-BE" sz="2000" dirty="0" err="1">
                <a:solidFill>
                  <a:srgbClr val="6A8759"/>
                </a:solidFill>
                <a:effectLst/>
                <a:latin typeface="Consolas" panose="020B0609020204030204" pitchFamily="49" charset="0"/>
                <a:cs typeface="Consolas" panose="020B0609020204030204" pitchFamily="49" charset="0"/>
              </a:rPr>
              <a:t>coordonnees</a:t>
            </a:r>
            <a:r>
              <a:rPr lang="fr-BE" sz="2000" dirty="0">
                <a:solidFill>
                  <a:srgbClr val="6A8759"/>
                </a:solidFill>
                <a:effectLst/>
                <a:latin typeface="Consolas" panose="020B0609020204030204" pitchFamily="49" charset="0"/>
                <a:cs typeface="Consolas" panose="020B0609020204030204" pitchFamily="49" charset="0"/>
              </a:rPr>
              <a:t> " </a:t>
            </a:r>
            <a:r>
              <a:rPr lang="fr-BE" sz="2000" dirty="0">
                <a:latin typeface="Consolas" panose="020B0609020204030204" pitchFamily="49" charset="0"/>
                <a:cs typeface="Consolas" panose="020B0609020204030204" pitchFamily="49" charset="0"/>
              </a:rPr>
              <a:t>+ x + </a:t>
            </a:r>
            <a:r>
              <a:rPr lang="fr-BE" sz="2000" dirty="0">
                <a:solidFill>
                  <a:srgbClr val="6A8759"/>
                </a:solidFill>
                <a:effectLst/>
                <a:latin typeface="Consolas" panose="020B0609020204030204" pitchFamily="49" charset="0"/>
                <a:cs typeface="Consolas" panose="020B0609020204030204" pitchFamily="49" charset="0"/>
              </a:rPr>
              <a:t>" " </a:t>
            </a:r>
            <a:r>
              <a:rPr lang="fr-BE" sz="2000" dirty="0">
                <a:latin typeface="Consolas" panose="020B0609020204030204" pitchFamily="49" charset="0"/>
                <a:cs typeface="Consolas" panose="020B0609020204030204" pitchFamily="49" charset="0"/>
              </a:rPr>
              <a:t>+ y)</a:t>
            </a:r>
            <a:r>
              <a:rPr lang="fr-BE" sz="2000" dirty="0">
                <a:solidFill>
                  <a:srgbClr val="CC7832"/>
                </a:solidFill>
                <a:effectLst/>
                <a:latin typeface="Consolas" panose="020B0609020204030204" pitchFamily="49" charset="0"/>
                <a:cs typeface="Consolas" panose="020B0609020204030204" pitchFamily="49" charset="0"/>
              </a:rPr>
              <a:t>;</a:t>
            </a:r>
            <a:br>
              <a:rPr lang="fr-BE" sz="2000" dirty="0">
                <a:solidFill>
                  <a:srgbClr val="CC7832"/>
                </a:solidFill>
                <a:effectLst/>
                <a:latin typeface="Consolas" panose="020B0609020204030204" pitchFamily="49" charset="0"/>
                <a:cs typeface="Consolas" panose="020B0609020204030204" pitchFamily="49" charset="0"/>
              </a:rPr>
            </a:br>
            <a:endParaRPr lang="fr-FR" sz="20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285058398"/>
      </p:ext>
    </p:extLst>
  </p:cSld>
  <p:clrMapOvr>
    <a:masterClrMapping/>
  </p:clrMapOvr>
  <p:transition>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Communiquer via Exception</a:t>
            </a:r>
          </a:p>
        </p:txBody>
      </p:sp>
      <p:sp>
        <p:nvSpPr>
          <p:cNvPr id="3" name="Espace réservé du contenu 2"/>
          <p:cNvSpPr>
            <a:spLocks noGrp="1"/>
          </p:cNvSpPr>
          <p:nvPr>
            <p:ph idx="1"/>
          </p:nvPr>
        </p:nvSpPr>
        <p:spPr/>
        <p:txBody>
          <a:bodyPr>
            <a:normAutofit/>
          </a:bodyPr>
          <a:lstStyle/>
          <a:p>
            <a:pPr marL="0" indent="0">
              <a:buNone/>
            </a:pPr>
            <a:r>
              <a:rPr lang="fr-FR" dirty="0">
                <a:cs typeface="Consolas"/>
              </a:rPr>
              <a:t>Le gestionnaire d'exception peut ensuite utiliser le message transmis par le </a:t>
            </a:r>
            <a:r>
              <a:rPr lang="fr-FR" sz="2600" dirty="0" err="1">
                <a:solidFill>
                  <a:schemeClr val="accent4"/>
                </a:solidFill>
                <a:latin typeface="Consolas"/>
                <a:cs typeface="Consolas"/>
              </a:rPr>
              <a:t>throw</a:t>
            </a:r>
            <a:r>
              <a:rPr lang="fr-FR" dirty="0">
                <a:cs typeface="Consolas"/>
              </a:rPr>
              <a:t>...</a:t>
            </a:r>
          </a:p>
          <a:p>
            <a:pPr marL="0" indent="0">
              <a:buNone/>
            </a:pPr>
            <a:endParaRPr lang="fr-FR" dirty="0">
              <a:cs typeface="Consolas"/>
            </a:endParaRPr>
          </a:p>
          <a:p>
            <a:pPr marL="0" indent="0">
              <a:buNone/>
            </a:pPr>
            <a:r>
              <a:rPr lang="fr-FR" dirty="0">
                <a:cs typeface="Consolas"/>
              </a:rPr>
              <a:t>Par exemple</a:t>
            </a:r>
          </a:p>
          <a:p>
            <a:pPr marL="0" indent="0">
              <a:buNone/>
            </a:pPr>
            <a:r>
              <a:rPr lang="fr-FR" dirty="0">
                <a:latin typeface="Consolas"/>
                <a:cs typeface="Consolas"/>
              </a:rPr>
              <a:t> </a:t>
            </a:r>
            <a:endParaRPr lang="fr-FR" dirty="0">
              <a:solidFill>
                <a:schemeClr val="accent4"/>
              </a:solidFill>
              <a:latin typeface="Consolas"/>
              <a:cs typeface="Consolas"/>
            </a:endParaRPr>
          </a:p>
        </p:txBody>
      </p:sp>
      <p:sp>
        <p:nvSpPr>
          <p:cNvPr id="7" name="ZoneTexte 6">
            <a:extLst>
              <a:ext uri="{FF2B5EF4-FFF2-40B4-BE49-F238E27FC236}">
                <a16:creationId xmlns:a16="http://schemas.microsoft.com/office/drawing/2014/main" id="{37132A53-4123-6800-291F-CCDC4610FC03}"/>
              </a:ext>
            </a:extLst>
          </p:cNvPr>
          <p:cNvSpPr txBox="1"/>
          <p:nvPr/>
        </p:nvSpPr>
        <p:spPr>
          <a:xfrm>
            <a:off x="2709746" y="4001294"/>
            <a:ext cx="7030843" cy="1938992"/>
          </a:xfrm>
          <a:prstGeom prst="rect">
            <a:avLst/>
          </a:prstGeom>
          <a:solidFill>
            <a:srgbClr val="2B2B2B"/>
          </a:solidFill>
        </p:spPr>
        <p:txBody>
          <a:bodyPr wrap="square">
            <a:spAutoFit/>
          </a:bodyPr>
          <a:lstStyle/>
          <a:p>
            <a:r>
              <a:rPr lang="fr-BE" sz="2000" dirty="0">
                <a:solidFill>
                  <a:srgbClr val="CC7832"/>
                </a:solidFill>
                <a:effectLst/>
                <a:latin typeface="Consolas" panose="020B0609020204030204" pitchFamily="49" charset="0"/>
                <a:cs typeface="Consolas" panose="020B0609020204030204" pitchFamily="49" charset="0"/>
              </a:rPr>
              <a:t>catch </a:t>
            </a:r>
            <a:r>
              <a:rPr lang="fr-BE" sz="2000" dirty="0">
                <a:latin typeface="Consolas" panose="020B0609020204030204" pitchFamily="49" charset="0"/>
                <a:cs typeface="Consolas" panose="020B0609020204030204" pitchFamily="49" charset="0"/>
              </a:rPr>
              <a:t>(</a:t>
            </a:r>
            <a:r>
              <a:rPr lang="fr-BE" sz="2000" dirty="0" err="1">
                <a:latin typeface="Consolas" panose="020B0609020204030204" pitchFamily="49" charset="0"/>
                <a:cs typeface="Consolas" panose="020B0609020204030204" pitchFamily="49" charset="0"/>
              </a:rPr>
              <a:t>ConstructorException</a:t>
            </a:r>
            <a:r>
              <a:rPr lang="fr-BE" sz="2000" dirty="0">
                <a:latin typeface="Consolas" panose="020B0609020204030204" pitchFamily="49" charset="0"/>
                <a:cs typeface="Consolas" panose="020B0609020204030204" pitchFamily="49" charset="0"/>
              </a:rPr>
              <a:t> e) {</a:t>
            </a:r>
            <a:br>
              <a:rPr lang="fr-BE" sz="2000" dirty="0">
                <a:latin typeface="Consolas" panose="020B0609020204030204" pitchFamily="49" charset="0"/>
                <a:cs typeface="Consolas" panose="020B0609020204030204" pitchFamily="49" charset="0"/>
              </a:rPr>
            </a:br>
            <a:r>
              <a:rPr lang="fr-BE" sz="2000" dirty="0">
                <a:latin typeface="Consolas" panose="020B0609020204030204" pitchFamily="49" charset="0"/>
                <a:cs typeface="Consolas" panose="020B0609020204030204" pitchFamily="49" charset="0"/>
              </a:rPr>
              <a:t>    </a:t>
            </a:r>
            <a:r>
              <a:rPr lang="fr-BE" sz="2000" dirty="0" err="1">
                <a:latin typeface="Consolas" panose="020B0609020204030204" pitchFamily="49" charset="0"/>
                <a:cs typeface="Consolas" panose="020B0609020204030204" pitchFamily="49" charset="0"/>
              </a:rPr>
              <a:t>System.</a:t>
            </a:r>
            <a:r>
              <a:rPr lang="fr-BE" sz="2000" i="1" dirty="0" err="1">
                <a:solidFill>
                  <a:srgbClr val="9876AA"/>
                </a:solidFill>
                <a:effectLst/>
                <a:latin typeface="Consolas" panose="020B0609020204030204" pitchFamily="49" charset="0"/>
                <a:cs typeface="Consolas" panose="020B0609020204030204" pitchFamily="49" charset="0"/>
              </a:rPr>
              <a:t>out</a:t>
            </a:r>
            <a:r>
              <a:rPr lang="fr-BE" sz="2000" dirty="0" err="1">
                <a:latin typeface="Consolas" panose="020B0609020204030204" pitchFamily="49" charset="0"/>
                <a:cs typeface="Consolas" panose="020B0609020204030204" pitchFamily="49" charset="0"/>
              </a:rPr>
              <a:t>.println</a:t>
            </a:r>
            <a:r>
              <a:rPr lang="fr-BE" sz="2000" dirty="0">
                <a:latin typeface="Consolas" panose="020B0609020204030204" pitchFamily="49" charset="0"/>
                <a:cs typeface="Consolas" panose="020B0609020204030204" pitchFamily="49" charset="0"/>
              </a:rPr>
              <a:t>(</a:t>
            </a:r>
            <a:r>
              <a:rPr lang="fr-BE" sz="2000" dirty="0">
                <a:solidFill>
                  <a:srgbClr val="6A8759"/>
                </a:solidFill>
                <a:effectLst/>
                <a:latin typeface="Consolas" panose="020B0609020204030204" pitchFamily="49" charset="0"/>
                <a:cs typeface="Consolas" panose="020B0609020204030204" pitchFamily="49" charset="0"/>
              </a:rPr>
              <a:t>"Erreur </a:t>
            </a:r>
            <a:r>
              <a:rPr lang="fr-BE" sz="2000" dirty="0" err="1">
                <a:solidFill>
                  <a:srgbClr val="6A8759"/>
                </a:solidFill>
                <a:effectLst/>
                <a:latin typeface="Consolas" panose="020B0609020204030204" pitchFamily="49" charset="0"/>
                <a:cs typeface="Consolas" panose="020B0609020204030204" pitchFamily="49" charset="0"/>
              </a:rPr>
              <a:t>construct</a:t>
            </a:r>
            <a:r>
              <a:rPr lang="fr-BE" sz="2000" dirty="0">
                <a:solidFill>
                  <a:srgbClr val="6A8759"/>
                </a:solidFill>
                <a:effectLst/>
                <a:latin typeface="Consolas" panose="020B0609020204030204" pitchFamily="49" charset="0"/>
                <a:cs typeface="Consolas" panose="020B0609020204030204" pitchFamily="49" charset="0"/>
              </a:rPr>
              <a:t> Point"</a:t>
            </a:r>
            <a:r>
              <a:rPr lang="fr-BE" sz="2000" dirty="0">
                <a:latin typeface="Consolas" panose="020B0609020204030204" pitchFamily="49" charset="0"/>
                <a:cs typeface="Consolas" panose="020B0609020204030204" pitchFamily="49" charset="0"/>
              </a:rPr>
              <a:t>)</a:t>
            </a:r>
            <a:r>
              <a:rPr lang="fr-BE" sz="2000" dirty="0">
                <a:solidFill>
                  <a:srgbClr val="CC7832"/>
                </a:solidFill>
                <a:effectLst/>
                <a:latin typeface="Consolas" panose="020B0609020204030204" pitchFamily="49" charset="0"/>
                <a:cs typeface="Consolas" panose="020B0609020204030204" pitchFamily="49" charset="0"/>
              </a:rPr>
              <a:t>;</a:t>
            </a:r>
            <a:br>
              <a:rPr lang="fr-BE" sz="2000" dirty="0">
                <a:solidFill>
                  <a:srgbClr val="CC7832"/>
                </a:solidFill>
                <a:effectLst/>
                <a:latin typeface="Consolas" panose="020B0609020204030204" pitchFamily="49" charset="0"/>
                <a:cs typeface="Consolas" panose="020B0609020204030204" pitchFamily="49" charset="0"/>
              </a:rPr>
            </a:br>
            <a:r>
              <a:rPr lang="fr-BE" sz="2000" dirty="0">
                <a:solidFill>
                  <a:srgbClr val="CC7832"/>
                </a:solidFill>
                <a:effectLst/>
                <a:latin typeface="Consolas" panose="020B0609020204030204" pitchFamily="49" charset="0"/>
                <a:cs typeface="Consolas" panose="020B0609020204030204" pitchFamily="49" charset="0"/>
              </a:rPr>
              <a:t>    </a:t>
            </a:r>
            <a:r>
              <a:rPr lang="fr-BE" sz="2000" dirty="0" err="1">
                <a:latin typeface="Consolas" panose="020B0609020204030204" pitchFamily="49" charset="0"/>
                <a:cs typeface="Consolas" panose="020B0609020204030204" pitchFamily="49" charset="0"/>
              </a:rPr>
              <a:t>System.</a:t>
            </a:r>
            <a:r>
              <a:rPr lang="fr-BE" sz="2000" i="1" dirty="0" err="1">
                <a:solidFill>
                  <a:srgbClr val="9876AA"/>
                </a:solidFill>
                <a:effectLst/>
                <a:latin typeface="Consolas" panose="020B0609020204030204" pitchFamily="49" charset="0"/>
                <a:cs typeface="Consolas" panose="020B0609020204030204" pitchFamily="49" charset="0"/>
              </a:rPr>
              <a:t>out</a:t>
            </a:r>
            <a:r>
              <a:rPr lang="fr-BE" sz="2000" dirty="0" err="1">
                <a:latin typeface="Consolas" panose="020B0609020204030204" pitchFamily="49" charset="0"/>
                <a:cs typeface="Consolas" panose="020B0609020204030204" pitchFamily="49" charset="0"/>
              </a:rPr>
              <a:t>.println</a:t>
            </a:r>
            <a:r>
              <a:rPr lang="fr-BE" sz="2000" dirty="0">
                <a:latin typeface="Consolas" panose="020B0609020204030204" pitchFamily="49" charset="0"/>
                <a:cs typeface="Consolas" panose="020B0609020204030204" pitchFamily="49" charset="0"/>
              </a:rPr>
              <a:t>(</a:t>
            </a:r>
            <a:r>
              <a:rPr lang="fr-BE" sz="2000" dirty="0" err="1">
                <a:latin typeface="Consolas" panose="020B0609020204030204" pitchFamily="49" charset="0"/>
                <a:cs typeface="Consolas" panose="020B0609020204030204" pitchFamily="49" charset="0"/>
              </a:rPr>
              <a:t>e.toString</a:t>
            </a:r>
            <a:r>
              <a:rPr lang="fr-BE" sz="2000" dirty="0">
                <a:latin typeface="Consolas" panose="020B0609020204030204" pitchFamily="49" charset="0"/>
                <a:cs typeface="Consolas" panose="020B0609020204030204" pitchFamily="49" charset="0"/>
              </a:rPr>
              <a:t>())</a:t>
            </a:r>
            <a:r>
              <a:rPr lang="fr-BE" sz="2000" dirty="0">
                <a:solidFill>
                  <a:srgbClr val="CC7832"/>
                </a:solidFill>
                <a:effectLst/>
                <a:latin typeface="Consolas" panose="020B0609020204030204" pitchFamily="49" charset="0"/>
                <a:cs typeface="Consolas" panose="020B0609020204030204" pitchFamily="49" charset="0"/>
              </a:rPr>
              <a:t>;</a:t>
            </a:r>
            <a:br>
              <a:rPr lang="fr-BE" sz="2000" dirty="0">
                <a:solidFill>
                  <a:srgbClr val="CC7832"/>
                </a:solidFill>
                <a:effectLst/>
                <a:latin typeface="Consolas" panose="020B0609020204030204" pitchFamily="49" charset="0"/>
                <a:cs typeface="Consolas" panose="020B0609020204030204" pitchFamily="49" charset="0"/>
              </a:rPr>
            </a:br>
            <a:r>
              <a:rPr lang="fr-BE" sz="2000" dirty="0">
                <a:solidFill>
                  <a:srgbClr val="CC7832"/>
                </a:solidFill>
                <a:effectLst/>
                <a:latin typeface="Consolas" panose="020B0609020204030204" pitchFamily="49" charset="0"/>
                <a:cs typeface="Consolas" panose="020B0609020204030204" pitchFamily="49" charset="0"/>
              </a:rPr>
              <a:t>    </a:t>
            </a:r>
            <a:r>
              <a:rPr lang="fr-BE" sz="2000" dirty="0" err="1">
                <a:latin typeface="Consolas" panose="020B0609020204030204" pitchFamily="49" charset="0"/>
                <a:cs typeface="Consolas" panose="020B0609020204030204" pitchFamily="49" charset="0"/>
              </a:rPr>
              <a:t>System.</a:t>
            </a:r>
            <a:r>
              <a:rPr lang="fr-BE" sz="2000" i="1" dirty="0" err="1">
                <a:effectLst/>
                <a:latin typeface="Consolas" panose="020B0609020204030204" pitchFamily="49" charset="0"/>
                <a:cs typeface="Consolas" panose="020B0609020204030204" pitchFamily="49" charset="0"/>
              </a:rPr>
              <a:t>exit</a:t>
            </a:r>
            <a:r>
              <a:rPr lang="fr-BE" sz="2000" dirty="0">
                <a:latin typeface="Consolas" panose="020B0609020204030204" pitchFamily="49" charset="0"/>
                <a:cs typeface="Consolas" panose="020B0609020204030204" pitchFamily="49" charset="0"/>
              </a:rPr>
              <a:t>(-</a:t>
            </a:r>
            <a:r>
              <a:rPr lang="fr-BE" sz="2000" dirty="0">
                <a:solidFill>
                  <a:srgbClr val="6897BB"/>
                </a:solidFill>
                <a:effectLst/>
                <a:latin typeface="Consolas" panose="020B0609020204030204" pitchFamily="49" charset="0"/>
                <a:cs typeface="Consolas" panose="020B0609020204030204" pitchFamily="49" charset="0"/>
              </a:rPr>
              <a:t>1</a:t>
            </a:r>
            <a:r>
              <a:rPr lang="fr-BE" sz="2000" dirty="0">
                <a:latin typeface="Consolas" panose="020B0609020204030204" pitchFamily="49" charset="0"/>
                <a:cs typeface="Consolas" panose="020B0609020204030204" pitchFamily="49" charset="0"/>
              </a:rPr>
              <a:t>)</a:t>
            </a:r>
            <a:r>
              <a:rPr lang="fr-BE" sz="2000" dirty="0">
                <a:solidFill>
                  <a:srgbClr val="CC7832"/>
                </a:solidFill>
                <a:effectLst/>
                <a:latin typeface="Consolas" panose="020B0609020204030204" pitchFamily="49" charset="0"/>
                <a:cs typeface="Consolas" panose="020B0609020204030204" pitchFamily="49" charset="0"/>
              </a:rPr>
              <a:t>;</a:t>
            </a:r>
            <a:br>
              <a:rPr lang="fr-BE" sz="2000" dirty="0">
                <a:solidFill>
                  <a:srgbClr val="CC7832"/>
                </a:solidFill>
                <a:effectLst/>
                <a:latin typeface="Consolas" panose="020B0609020204030204" pitchFamily="49" charset="0"/>
                <a:cs typeface="Consolas" panose="020B0609020204030204" pitchFamily="49" charset="0"/>
              </a:rPr>
            </a:br>
            <a:r>
              <a:rPr lang="fr-BE" sz="2000" dirty="0">
                <a:latin typeface="Consolas" panose="020B0609020204030204" pitchFamily="49" charset="0"/>
                <a:cs typeface="Consolas" panose="020B0609020204030204" pitchFamily="49" charset="0"/>
              </a:rPr>
              <a:t>}</a:t>
            </a:r>
            <a:br>
              <a:rPr lang="fr-BE" sz="2000" dirty="0">
                <a:latin typeface="Consolas" panose="020B0609020204030204" pitchFamily="49" charset="0"/>
                <a:cs typeface="Consolas" panose="020B0609020204030204" pitchFamily="49" charset="0"/>
              </a:rPr>
            </a:br>
            <a:endParaRPr lang="fr-FR" sz="20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964837445"/>
      </p:ext>
    </p:extLst>
  </p:cSld>
  <p:clrMapOvr>
    <a:masterClrMapping/>
  </p:clrMapOvr>
  <p:transition>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Exercice</a:t>
            </a:r>
          </a:p>
        </p:txBody>
      </p:sp>
      <p:sp>
        <p:nvSpPr>
          <p:cNvPr id="3" name="Espace réservé du contenu 2"/>
          <p:cNvSpPr>
            <a:spLocks noGrp="1"/>
          </p:cNvSpPr>
          <p:nvPr>
            <p:ph idx="1"/>
          </p:nvPr>
        </p:nvSpPr>
        <p:spPr/>
        <p:txBody>
          <a:bodyPr>
            <a:normAutofit/>
          </a:bodyPr>
          <a:lstStyle/>
          <a:p>
            <a:pPr marL="0" indent="0">
              <a:buNone/>
            </a:pPr>
            <a:r>
              <a:rPr lang="fr-FR" dirty="0">
                <a:cs typeface="Consolas"/>
              </a:rPr>
              <a:t>Modifier encore votre classe </a:t>
            </a:r>
            <a:r>
              <a:rPr lang="fr-FR" sz="2400" dirty="0">
                <a:solidFill>
                  <a:schemeClr val="accent4"/>
                </a:solidFill>
                <a:latin typeface="Consolas"/>
                <a:cs typeface="Consolas"/>
              </a:rPr>
              <a:t>Compte</a:t>
            </a:r>
            <a:r>
              <a:rPr lang="fr-FR" dirty="0">
                <a:cs typeface="Consolas"/>
              </a:rPr>
              <a:t> pour que les exceptions retournent un message approprié (qui inclut la valeur reçue).</a:t>
            </a:r>
          </a:p>
          <a:p>
            <a:pPr marL="0" indent="0">
              <a:buNone/>
            </a:pPr>
            <a:endParaRPr lang="fr-FR" dirty="0">
              <a:cs typeface="Consolas"/>
            </a:endParaRPr>
          </a:p>
          <a:p>
            <a:pPr marL="0" indent="0">
              <a:buNone/>
            </a:pPr>
            <a:r>
              <a:rPr lang="fr-FR" dirty="0">
                <a:cs typeface="Consolas"/>
              </a:rPr>
              <a:t>Faites en sorte que votre application affiche le message.</a:t>
            </a:r>
          </a:p>
        </p:txBody>
      </p:sp>
      <p:pic>
        <p:nvPicPr>
          <p:cNvPr id="4" name="Image 3">
            <a:extLst>
              <a:ext uri="{FF2B5EF4-FFF2-40B4-BE49-F238E27FC236}">
                <a16:creationId xmlns:a16="http://schemas.microsoft.com/office/drawing/2014/main" id="{EAC47447-DD2B-E8E6-56DB-920A6DF798D5}"/>
              </a:ext>
            </a:extLst>
          </p:cNvPr>
          <p:cNvPicPr>
            <a:picLocks noChangeAspect="1"/>
          </p:cNvPicPr>
          <p:nvPr/>
        </p:nvPicPr>
        <p:blipFill>
          <a:blip r:embed="rId2"/>
          <a:stretch>
            <a:fillRect/>
          </a:stretch>
        </p:blipFill>
        <p:spPr>
          <a:xfrm>
            <a:off x="10415310" y="-12915"/>
            <a:ext cx="1666442" cy="1666442"/>
          </a:xfrm>
          <a:prstGeom prst="rect">
            <a:avLst/>
          </a:prstGeom>
        </p:spPr>
      </p:pic>
    </p:spTree>
    <p:extLst>
      <p:ext uri="{BB962C8B-B14F-4D97-AF65-F5344CB8AC3E}">
        <p14:creationId xmlns:p14="http://schemas.microsoft.com/office/powerpoint/2010/main" val="585323215"/>
      </p:ext>
    </p:extLst>
  </p:cSld>
  <p:clrMapOvr>
    <a:masterClrMapping/>
  </p:clrMapOvr>
  <p:transition>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Gestion des exceptions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Exemple pratique</a:t>
            </a:r>
          </a:p>
          <a:p>
            <a:pPr marL="342900" indent="-342900">
              <a:lnSpc>
                <a:spcPct val="80000"/>
              </a:lnSpc>
              <a:buFont typeface="Arial"/>
              <a:buChar char="•"/>
            </a:pPr>
            <a:r>
              <a:rPr lang="fr-FR" dirty="0"/>
              <a:t>Introduction</a:t>
            </a:r>
          </a:p>
          <a:p>
            <a:pPr marL="342900" indent="-342900">
              <a:lnSpc>
                <a:spcPct val="80000"/>
              </a:lnSpc>
              <a:buFont typeface="Arial"/>
              <a:buChar char="•"/>
            </a:pPr>
            <a:r>
              <a:rPr lang="fr-FR" dirty="0"/>
              <a:t>Plusieurs Exceptions </a:t>
            </a:r>
          </a:p>
          <a:p>
            <a:pPr marL="342900" indent="-342900">
              <a:lnSpc>
                <a:spcPct val="80000"/>
              </a:lnSpc>
              <a:buFont typeface="Arial"/>
              <a:buChar char="•"/>
            </a:pPr>
            <a:r>
              <a:rPr lang="fr-FR" dirty="0"/>
              <a:t>Communication avec le gestionnaire d'Exception</a:t>
            </a:r>
          </a:p>
          <a:p>
            <a:pPr marL="342900" indent="-342900">
              <a:lnSpc>
                <a:spcPct val="80000"/>
              </a:lnSpc>
              <a:buFont typeface="Arial"/>
              <a:buChar char="•"/>
            </a:pPr>
            <a:r>
              <a:rPr lang="fr-FR" dirty="0">
                <a:solidFill>
                  <a:schemeClr val="accent4"/>
                </a:solidFill>
              </a:rPr>
              <a:t>Le mécanisme de gestion des Exceptions</a:t>
            </a:r>
          </a:p>
          <a:p>
            <a:pPr marL="342900" indent="-342900">
              <a:lnSpc>
                <a:spcPct val="80000"/>
              </a:lnSpc>
              <a:buFont typeface="Arial"/>
              <a:buChar char="•"/>
            </a:pPr>
            <a:r>
              <a:rPr lang="fr-FR" dirty="0"/>
              <a:t>Les Exceptions standard</a:t>
            </a:r>
          </a:p>
          <a:p>
            <a:pPr marL="342900" indent="-342900">
              <a:lnSpc>
                <a:spcPct val="80000"/>
              </a:lnSpc>
              <a:buFont typeface="Arial"/>
              <a:buChar char="•"/>
            </a:pPr>
            <a:r>
              <a:rPr lang="fr-FR" dirty="0"/>
              <a:t>La méthode </a:t>
            </a:r>
            <a:r>
              <a:rPr lang="fr-FR" dirty="0" err="1">
                <a:latin typeface="Consolas"/>
                <a:cs typeface="Consolas"/>
              </a:rPr>
              <a:t>printStackTrace</a:t>
            </a:r>
            <a:endParaRPr lang="fr-FR" dirty="0">
              <a:latin typeface="Consolas"/>
              <a:cs typeface="Consolas"/>
            </a:endParaRPr>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Tree>
    <p:extLst>
      <p:ext uri="{BB962C8B-B14F-4D97-AF65-F5344CB8AC3E}">
        <p14:creationId xmlns:p14="http://schemas.microsoft.com/office/powerpoint/2010/main" val="1948689698"/>
      </p:ext>
    </p:extLst>
  </p:cSld>
  <p:clrMapOvr>
    <a:masterClrMapping/>
  </p:clrMapOvr>
  <p:transition>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 mécanisme de gestion des exceptions</a:t>
            </a:r>
          </a:p>
        </p:txBody>
      </p:sp>
      <p:sp>
        <p:nvSpPr>
          <p:cNvPr id="3" name="Espace réservé du contenu 2"/>
          <p:cNvSpPr>
            <a:spLocks noGrp="1"/>
          </p:cNvSpPr>
          <p:nvPr>
            <p:ph idx="1"/>
          </p:nvPr>
        </p:nvSpPr>
        <p:spPr/>
        <p:txBody>
          <a:bodyPr>
            <a:normAutofit lnSpcReduction="10000"/>
          </a:bodyPr>
          <a:lstStyle/>
          <a:p>
            <a:pPr marL="0" indent="0">
              <a:buNone/>
            </a:pPr>
            <a:r>
              <a:rPr lang="fr-FR" dirty="0">
                <a:cs typeface="Consolas"/>
              </a:rPr>
              <a:t>Dans la gestion des exceptions, plusieurs points doivent être abordés:</a:t>
            </a:r>
          </a:p>
          <a:p>
            <a:pPr marL="342900" indent="-342900">
              <a:buFont typeface="Arial"/>
              <a:buChar char="•"/>
            </a:pPr>
            <a:r>
              <a:rPr lang="fr-FR" dirty="0">
                <a:cs typeface="Consolas"/>
              </a:rPr>
              <a:t>l'exécution du programme peut continuer après la gestion de l'exception</a:t>
            </a:r>
          </a:p>
          <a:p>
            <a:pPr marL="342900" indent="-342900">
              <a:buFont typeface="Arial"/>
              <a:buChar char="•"/>
            </a:pPr>
            <a:r>
              <a:rPr lang="fr-FR" dirty="0">
                <a:cs typeface="Consolas"/>
              </a:rPr>
              <a:t>le choix du gestionnaire d'exception quand on a affaire à une exception qui hérite d'une autre exception</a:t>
            </a:r>
          </a:p>
          <a:p>
            <a:pPr marL="342900" indent="-342900">
              <a:buFont typeface="Arial"/>
              <a:buChar char="•"/>
            </a:pPr>
            <a:r>
              <a:rPr lang="fr-FR" dirty="0">
                <a:cs typeface="Consolas"/>
              </a:rPr>
              <a:t>l'exception peut être gérée à différents niveaux</a:t>
            </a:r>
          </a:p>
          <a:p>
            <a:pPr marL="342900" indent="-342900">
              <a:buFont typeface="Arial"/>
              <a:buChar char="•"/>
            </a:pPr>
            <a:r>
              <a:rPr lang="fr-FR" dirty="0">
                <a:cs typeface="Consolas"/>
              </a:rPr>
              <a:t>lors du traitement de l'exception, on peut en (</a:t>
            </a:r>
            <a:r>
              <a:rPr lang="fr-FR" dirty="0" err="1">
                <a:cs typeface="Consolas"/>
              </a:rPr>
              <a:t>re</a:t>
            </a:r>
            <a:r>
              <a:rPr lang="fr-FR" dirty="0">
                <a:cs typeface="Consolas"/>
              </a:rPr>
              <a:t>-)déclencher une autre</a:t>
            </a:r>
          </a:p>
          <a:p>
            <a:pPr marL="342900" indent="-342900">
              <a:buFont typeface="Arial"/>
              <a:buChar char="•"/>
            </a:pPr>
            <a:r>
              <a:rPr lang="fr-FR" dirty="0">
                <a:cs typeface="Consolas"/>
              </a:rPr>
              <a:t>il existe un bloc </a:t>
            </a:r>
            <a:r>
              <a:rPr lang="fr-FR" sz="2600" dirty="0" err="1">
                <a:solidFill>
                  <a:schemeClr val="accent4"/>
                </a:solidFill>
                <a:latin typeface="Consolas"/>
                <a:cs typeface="Consolas"/>
              </a:rPr>
              <a:t>finally</a:t>
            </a:r>
            <a:r>
              <a:rPr lang="fr-FR" dirty="0">
                <a:cs typeface="Consolas"/>
              </a:rPr>
              <a:t> qui sera exécuté après le traitement des exceptions.</a:t>
            </a:r>
          </a:p>
        </p:txBody>
      </p:sp>
    </p:spTree>
    <p:extLst>
      <p:ext uri="{BB962C8B-B14F-4D97-AF65-F5344CB8AC3E}">
        <p14:creationId xmlns:p14="http://schemas.microsoft.com/office/powerpoint/2010/main" val="2726736080"/>
      </p:ext>
    </p:extLst>
  </p:cSld>
  <p:clrMapOvr>
    <a:masterClrMapping/>
  </p:clrMapOvr>
  <p:transition>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Gestion des exceptions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Exemple pratique</a:t>
            </a:r>
          </a:p>
          <a:p>
            <a:pPr marL="342900" indent="-342900">
              <a:lnSpc>
                <a:spcPct val="80000"/>
              </a:lnSpc>
              <a:buFont typeface="Arial"/>
              <a:buChar char="•"/>
            </a:pPr>
            <a:r>
              <a:rPr lang="fr-FR" dirty="0"/>
              <a:t>Introduction</a:t>
            </a:r>
          </a:p>
          <a:p>
            <a:pPr marL="342900" indent="-342900">
              <a:lnSpc>
                <a:spcPct val="80000"/>
              </a:lnSpc>
              <a:buFont typeface="Arial"/>
              <a:buChar char="•"/>
            </a:pPr>
            <a:r>
              <a:rPr lang="fr-FR" dirty="0"/>
              <a:t>Plusieurs Exceptions </a:t>
            </a:r>
          </a:p>
          <a:p>
            <a:pPr marL="342900" indent="-342900">
              <a:lnSpc>
                <a:spcPct val="80000"/>
              </a:lnSpc>
              <a:buFont typeface="Arial"/>
              <a:buChar char="•"/>
            </a:pPr>
            <a:r>
              <a:rPr lang="fr-FR" dirty="0"/>
              <a:t>Communication avec le gestionnaire d'Exception</a:t>
            </a:r>
          </a:p>
          <a:p>
            <a:pPr marL="342900" indent="-342900">
              <a:lnSpc>
                <a:spcPct val="80000"/>
              </a:lnSpc>
              <a:buFont typeface="Arial"/>
              <a:buChar char="•"/>
            </a:pPr>
            <a:r>
              <a:rPr lang="fr-FR" dirty="0"/>
              <a:t>Le mécanisme de gestion des Exceptions</a:t>
            </a:r>
          </a:p>
          <a:p>
            <a:pPr marL="342900" indent="-342900">
              <a:lnSpc>
                <a:spcPct val="80000"/>
              </a:lnSpc>
              <a:buFont typeface="Arial"/>
              <a:buChar char="•"/>
            </a:pPr>
            <a:r>
              <a:rPr lang="fr-FR" dirty="0">
                <a:solidFill>
                  <a:schemeClr val="accent4"/>
                </a:solidFill>
              </a:rPr>
              <a:t>Les Exceptions standard</a:t>
            </a:r>
          </a:p>
          <a:p>
            <a:pPr marL="342900" indent="-342900">
              <a:lnSpc>
                <a:spcPct val="80000"/>
              </a:lnSpc>
              <a:buFont typeface="Arial"/>
              <a:buChar char="•"/>
            </a:pPr>
            <a:r>
              <a:rPr lang="fr-FR" dirty="0"/>
              <a:t>La méthode </a:t>
            </a:r>
            <a:r>
              <a:rPr lang="fr-FR" dirty="0" err="1">
                <a:latin typeface="Consolas"/>
                <a:cs typeface="Consolas"/>
              </a:rPr>
              <a:t>printStackTrace</a:t>
            </a:r>
            <a:endParaRPr lang="fr-FR" dirty="0">
              <a:latin typeface="Consolas"/>
              <a:cs typeface="Consolas"/>
            </a:endParaRPr>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Tree>
    <p:extLst>
      <p:ext uri="{BB962C8B-B14F-4D97-AF65-F5344CB8AC3E}">
        <p14:creationId xmlns:p14="http://schemas.microsoft.com/office/powerpoint/2010/main" val="3280580070"/>
      </p:ext>
    </p:extLst>
  </p:cSld>
  <p:clrMapOvr>
    <a:masterClrMapping/>
  </p:clrMapOvr>
  <p:transition>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Exceptions Standard</a:t>
            </a:r>
          </a:p>
        </p:txBody>
      </p:sp>
      <p:sp>
        <p:nvSpPr>
          <p:cNvPr id="3" name="Espace réservé du contenu 2"/>
          <p:cNvSpPr>
            <a:spLocks noGrp="1"/>
          </p:cNvSpPr>
          <p:nvPr>
            <p:ph idx="1"/>
          </p:nvPr>
        </p:nvSpPr>
        <p:spPr/>
        <p:txBody>
          <a:bodyPr>
            <a:normAutofit/>
          </a:bodyPr>
          <a:lstStyle/>
          <a:p>
            <a:pPr marL="0" indent="0">
              <a:buNone/>
            </a:pPr>
            <a:r>
              <a:rPr lang="fr-FR" dirty="0">
                <a:cs typeface="Consolas"/>
              </a:rPr>
              <a:t>Java fournit de nombreuses exceptions prédéfinies dérivées de la classe </a:t>
            </a:r>
            <a:r>
              <a:rPr lang="fr-FR" sz="2400" dirty="0">
                <a:solidFill>
                  <a:schemeClr val="accent4"/>
                </a:solidFill>
                <a:latin typeface="Consolas"/>
                <a:cs typeface="Consolas"/>
              </a:rPr>
              <a:t>Exception</a:t>
            </a:r>
            <a:r>
              <a:rPr lang="fr-FR" dirty="0">
                <a:cs typeface="Consolas"/>
              </a:rPr>
              <a:t>.</a:t>
            </a:r>
          </a:p>
          <a:p>
            <a:pPr marL="0" indent="0">
              <a:buNone/>
            </a:pPr>
            <a:r>
              <a:rPr lang="fr-FR" dirty="0">
                <a:cs typeface="Consolas"/>
              </a:rPr>
              <a:t>Certaines de ces exceptions sont même utilisées par la JVM: dépassement des limites d’un tableau, division par 0, </a:t>
            </a:r>
            <a:r>
              <a:rPr lang="mr-IN" dirty="0">
                <a:cs typeface="Consolas"/>
              </a:rPr>
              <a:t>…</a:t>
            </a:r>
            <a:endParaRPr lang="fr-FR" dirty="0">
              <a:cs typeface="Consolas"/>
            </a:endParaRPr>
          </a:p>
        </p:txBody>
      </p:sp>
      <p:pic>
        <p:nvPicPr>
          <p:cNvPr id="9" name="Espace réservé du contenu 4"/>
          <p:cNvPicPr>
            <a:picLocks noChangeAspect="1"/>
          </p:cNvPicPr>
          <p:nvPr/>
        </p:nvPicPr>
        <p:blipFill rotWithShape="1">
          <a:blip r:embed="rId2" cstate="screen">
            <a:extLst>
              <a:ext uri="{28A0092B-C50C-407E-A947-70E740481C1C}">
                <a14:useLocalDpi xmlns:a14="http://schemas.microsoft.com/office/drawing/2010/main"/>
              </a:ext>
            </a:extLst>
          </a:blip>
          <a:srcRect l="-1733"/>
          <a:stretch/>
        </p:blipFill>
        <p:spPr>
          <a:xfrm>
            <a:off x="6623824" y="3808926"/>
            <a:ext cx="2498550" cy="2865309"/>
          </a:xfrm>
          <a:prstGeom prst="rect">
            <a:avLst/>
          </a:prstGeom>
        </p:spPr>
      </p:pic>
    </p:spTree>
    <p:extLst>
      <p:ext uri="{BB962C8B-B14F-4D97-AF65-F5344CB8AC3E}">
        <p14:creationId xmlns:p14="http://schemas.microsoft.com/office/powerpoint/2010/main" val="1110749029"/>
      </p:ext>
    </p:extLst>
  </p:cSld>
  <p:clrMapOvr>
    <a:masterClrMapping/>
  </p:clrMapOvr>
  <p:transition>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Exceptions Standard</a:t>
            </a:r>
          </a:p>
        </p:txBody>
      </p:sp>
      <p:sp>
        <p:nvSpPr>
          <p:cNvPr id="3" name="Espace réservé du contenu 2"/>
          <p:cNvSpPr>
            <a:spLocks noGrp="1"/>
          </p:cNvSpPr>
          <p:nvPr>
            <p:ph idx="1"/>
          </p:nvPr>
        </p:nvSpPr>
        <p:spPr/>
        <p:txBody>
          <a:bodyPr>
            <a:normAutofit lnSpcReduction="10000"/>
          </a:bodyPr>
          <a:lstStyle/>
          <a:p>
            <a:pPr marL="0" indent="0">
              <a:buNone/>
            </a:pPr>
            <a:r>
              <a:rPr lang="fr-FR" sz="2400" dirty="0">
                <a:cs typeface="Consolas"/>
              </a:rPr>
              <a:t>Les exceptions se divisent en deux catégories:</a:t>
            </a:r>
          </a:p>
          <a:p>
            <a:r>
              <a:rPr lang="fr-FR" sz="2400" dirty="0">
                <a:cs typeface="Consolas"/>
              </a:rPr>
              <a:t>Les exceptions explicites (vérifiées), qui doivent être traitées dans la méthode ou levées par la clause </a:t>
            </a:r>
            <a:r>
              <a:rPr lang="fr-FR" sz="2000" dirty="0" err="1">
                <a:solidFill>
                  <a:schemeClr val="accent4"/>
                </a:solidFill>
                <a:latin typeface="Consolas"/>
                <a:cs typeface="Consolas"/>
              </a:rPr>
              <a:t>throws</a:t>
            </a:r>
            <a:r>
              <a:rPr lang="fr-FR" sz="2400" dirty="0">
                <a:cs typeface="Consolas"/>
              </a:rPr>
              <a:t>.</a:t>
            </a:r>
          </a:p>
          <a:p>
            <a:r>
              <a:rPr lang="fr-FR" sz="2400" dirty="0">
                <a:cs typeface="Consolas"/>
              </a:rPr>
              <a:t>Les exceptions implicites (hors contrôle), qui ne doivent pas être obligatoirement traitées (mais on peut le faire)</a:t>
            </a:r>
          </a:p>
          <a:p>
            <a:pPr marL="0" indent="0">
              <a:buNone/>
            </a:pPr>
            <a:endParaRPr lang="fr-FR" sz="2400" dirty="0">
              <a:cs typeface="Consolas"/>
            </a:endParaRPr>
          </a:p>
          <a:p>
            <a:pPr marL="0" indent="0">
              <a:buNone/>
            </a:pPr>
            <a:r>
              <a:rPr lang="fr-FR" sz="2400" dirty="0">
                <a:cs typeface="Consolas"/>
              </a:rPr>
              <a:t>En pratique, </a:t>
            </a:r>
          </a:p>
          <a:p>
            <a:r>
              <a:rPr lang="fr-FR" sz="2400" dirty="0">
                <a:cs typeface="Consolas"/>
              </a:rPr>
              <a:t>les premières sont liées à certains traitements (</a:t>
            </a:r>
            <a:r>
              <a:rPr lang="fr-FR" sz="2000" dirty="0" err="1">
                <a:solidFill>
                  <a:schemeClr val="accent4"/>
                </a:solidFill>
                <a:latin typeface="Consolas"/>
                <a:cs typeface="Consolas"/>
              </a:rPr>
              <a:t>IOException</a:t>
            </a:r>
            <a:r>
              <a:rPr lang="fr-FR" sz="2400" dirty="0">
                <a:cs typeface="Consolas"/>
              </a:rPr>
              <a:t>, </a:t>
            </a:r>
            <a:r>
              <a:rPr lang="fr-FR" sz="2000" dirty="0" err="1">
                <a:solidFill>
                  <a:schemeClr val="accent4"/>
                </a:solidFill>
                <a:latin typeface="Consolas"/>
                <a:cs typeface="Consolas"/>
              </a:rPr>
              <a:t>FileNotFoundException</a:t>
            </a:r>
            <a:r>
              <a:rPr lang="fr-FR" sz="2400" dirty="0">
                <a:cs typeface="Consolas"/>
              </a:rPr>
              <a:t>, </a:t>
            </a:r>
            <a:r>
              <a:rPr lang="fr-FR" sz="2000" dirty="0" err="1">
                <a:solidFill>
                  <a:schemeClr val="accent4"/>
                </a:solidFill>
                <a:latin typeface="Consolas"/>
                <a:cs typeface="Consolas"/>
              </a:rPr>
              <a:t>CharConversionException</a:t>
            </a:r>
            <a:r>
              <a:rPr lang="fr-FR" sz="2400" dirty="0">
                <a:cs typeface="Consolas"/>
              </a:rPr>
              <a:t>, </a:t>
            </a:r>
            <a:r>
              <a:rPr lang="mr-IN" sz="2400" dirty="0">
                <a:cs typeface="Consolas"/>
              </a:rPr>
              <a:t>…</a:t>
            </a:r>
            <a:r>
              <a:rPr lang="fr-FR" sz="2400" dirty="0">
                <a:cs typeface="Consolas"/>
              </a:rPr>
              <a:t>) </a:t>
            </a:r>
          </a:p>
          <a:p>
            <a:r>
              <a:rPr lang="fr-FR" sz="2400" dirty="0">
                <a:cs typeface="Consolas"/>
              </a:rPr>
              <a:t>les secondes peuvent survenir n’importe où (</a:t>
            </a:r>
            <a:r>
              <a:rPr lang="fr-FR" sz="2000" dirty="0" err="1">
                <a:solidFill>
                  <a:schemeClr val="accent4"/>
                </a:solidFill>
                <a:latin typeface="Consolas"/>
                <a:cs typeface="Consolas"/>
              </a:rPr>
              <a:t>NullPointerException</a:t>
            </a:r>
            <a:r>
              <a:rPr lang="fr-FR" sz="2400" dirty="0">
                <a:cs typeface="Consolas"/>
              </a:rPr>
              <a:t>, </a:t>
            </a:r>
            <a:r>
              <a:rPr lang="fr-FR" sz="2000" dirty="0" err="1">
                <a:solidFill>
                  <a:schemeClr val="accent4"/>
                </a:solidFill>
                <a:latin typeface="Consolas"/>
                <a:cs typeface="Consolas"/>
              </a:rPr>
              <a:t>ArithmeticException</a:t>
            </a:r>
            <a:r>
              <a:rPr lang="fr-FR" sz="2400" dirty="0">
                <a:cs typeface="Consolas"/>
              </a:rPr>
              <a:t> , </a:t>
            </a:r>
            <a:r>
              <a:rPr lang="fr-FR" sz="2000" dirty="0" err="1">
                <a:solidFill>
                  <a:schemeClr val="accent4"/>
                </a:solidFill>
                <a:latin typeface="Consolas"/>
                <a:cs typeface="Consolas"/>
              </a:rPr>
              <a:t>NegativeArraySizeException</a:t>
            </a:r>
            <a:r>
              <a:rPr lang="fr-FR" sz="2400" dirty="0">
                <a:cs typeface="Consolas"/>
              </a:rPr>
              <a:t>, </a:t>
            </a:r>
            <a:r>
              <a:rPr lang="mr-IN" sz="2400" dirty="0">
                <a:cs typeface="Consolas"/>
              </a:rPr>
              <a:t>…</a:t>
            </a:r>
            <a:r>
              <a:rPr lang="fr-FR" sz="2400" dirty="0">
                <a:cs typeface="Consolas"/>
              </a:rPr>
              <a:t>) </a:t>
            </a:r>
          </a:p>
        </p:txBody>
      </p:sp>
    </p:spTree>
    <p:extLst>
      <p:ext uri="{BB962C8B-B14F-4D97-AF65-F5344CB8AC3E}">
        <p14:creationId xmlns:p14="http://schemas.microsoft.com/office/powerpoint/2010/main" val="2787881216"/>
      </p:ext>
    </p:extLst>
  </p:cSld>
  <p:clrMapOvr>
    <a:masterClrMapping/>
  </p:clrMapOvr>
  <p:transition>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Exercice (1/2)</a:t>
            </a:r>
          </a:p>
        </p:txBody>
      </p:sp>
      <p:sp>
        <p:nvSpPr>
          <p:cNvPr id="3" name="Espace réservé du contenu 2"/>
          <p:cNvSpPr>
            <a:spLocks noGrp="1"/>
          </p:cNvSpPr>
          <p:nvPr>
            <p:ph idx="1"/>
          </p:nvPr>
        </p:nvSpPr>
        <p:spPr>
          <a:xfrm>
            <a:off x="838199" y="1825625"/>
            <a:ext cx="11154103" cy="4351338"/>
          </a:xfrm>
        </p:spPr>
        <p:txBody>
          <a:bodyPr>
            <a:normAutofit/>
          </a:bodyPr>
          <a:lstStyle/>
          <a:p>
            <a:pPr marL="457200" indent="-457200">
              <a:buAutoNum type="arabicPeriod"/>
            </a:pPr>
            <a:r>
              <a:rPr lang="fr-FR" dirty="0">
                <a:cs typeface="Consolas"/>
              </a:rPr>
              <a:t>Ecrivez un programme dans lequel vous définissez un tableau d’entier: </a:t>
            </a:r>
            <a:r>
              <a:rPr lang="fr-FR" sz="2400" dirty="0" err="1">
                <a:solidFill>
                  <a:schemeClr val="accent4"/>
                </a:solidFill>
                <a:latin typeface="Consolas"/>
                <a:cs typeface="Consolas"/>
              </a:rPr>
              <a:t>int</a:t>
            </a:r>
            <a:r>
              <a:rPr lang="fr-FR" sz="2400" dirty="0">
                <a:solidFill>
                  <a:schemeClr val="accent4"/>
                </a:solidFill>
                <a:latin typeface="Consolas"/>
                <a:cs typeface="Consolas"/>
              </a:rPr>
              <a:t> </a:t>
            </a:r>
            <a:r>
              <a:rPr lang="fr-FR" sz="2400" dirty="0" err="1">
                <a:solidFill>
                  <a:schemeClr val="accent4"/>
                </a:solidFill>
                <a:latin typeface="Consolas"/>
                <a:cs typeface="Consolas"/>
              </a:rPr>
              <a:t>t</a:t>
            </a:r>
            <a:r>
              <a:rPr lang="fr-FR" sz="2400" dirty="0">
                <a:solidFill>
                  <a:schemeClr val="accent4"/>
                </a:solidFill>
                <a:latin typeface="Consolas"/>
                <a:cs typeface="Consolas"/>
              </a:rPr>
              <a:t>[];</a:t>
            </a:r>
            <a:r>
              <a:rPr lang="fr-FR" dirty="0">
                <a:cs typeface="Consolas"/>
              </a:rPr>
              <a:t>. </a:t>
            </a:r>
          </a:p>
          <a:p>
            <a:pPr marL="457200" indent="-457200">
              <a:buAutoNum type="arabicPeriod"/>
            </a:pPr>
            <a:r>
              <a:rPr lang="fr-FR" dirty="0">
                <a:cs typeface="Consolas"/>
              </a:rPr>
              <a:t>Demandez à l’utilisateur la taille du tableau (en utilisant un </a:t>
            </a:r>
            <a:r>
              <a:rPr lang="fr-FR" sz="2400" dirty="0">
                <a:latin typeface="Consolas"/>
                <a:cs typeface="Consolas"/>
              </a:rPr>
              <a:t>Scanner</a:t>
            </a:r>
            <a:r>
              <a:rPr lang="fr-FR" dirty="0">
                <a:cs typeface="Consolas"/>
              </a:rPr>
              <a:t>)</a:t>
            </a:r>
          </a:p>
          <a:p>
            <a:pPr marL="457200" indent="-457200">
              <a:buAutoNum type="arabicPeriod"/>
            </a:pPr>
            <a:r>
              <a:rPr lang="fr-FR" dirty="0">
                <a:cs typeface="Consolas"/>
              </a:rPr>
              <a:t>Définissez ensuite le tableau: </a:t>
            </a:r>
            <a:r>
              <a:rPr lang="fr-FR" sz="2400" dirty="0" err="1">
                <a:solidFill>
                  <a:schemeClr val="accent4"/>
                </a:solidFill>
                <a:latin typeface="Consolas"/>
                <a:cs typeface="Consolas"/>
              </a:rPr>
              <a:t>t</a:t>
            </a:r>
            <a:r>
              <a:rPr lang="fr-FR" sz="2400" dirty="0">
                <a:solidFill>
                  <a:schemeClr val="accent4"/>
                </a:solidFill>
                <a:latin typeface="Consolas"/>
                <a:cs typeface="Consolas"/>
              </a:rPr>
              <a:t> = new </a:t>
            </a:r>
            <a:r>
              <a:rPr lang="fr-FR" sz="2400" dirty="0" err="1">
                <a:solidFill>
                  <a:schemeClr val="accent4"/>
                </a:solidFill>
                <a:latin typeface="Consolas"/>
                <a:cs typeface="Consolas"/>
              </a:rPr>
              <a:t>int</a:t>
            </a:r>
            <a:r>
              <a:rPr lang="fr-FR" sz="2400" dirty="0">
                <a:solidFill>
                  <a:schemeClr val="accent4"/>
                </a:solidFill>
                <a:latin typeface="Consolas"/>
                <a:cs typeface="Consolas"/>
              </a:rPr>
              <a:t>[n];</a:t>
            </a:r>
            <a:r>
              <a:rPr lang="fr-FR" sz="2400" dirty="0">
                <a:latin typeface="Consolas"/>
                <a:cs typeface="Consolas"/>
              </a:rPr>
              <a:t> </a:t>
            </a:r>
          </a:p>
          <a:p>
            <a:pPr marL="457200" indent="-457200">
              <a:buAutoNum type="arabicPeriod"/>
            </a:pPr>
            <a:r>
              <a:rPr lang="fr-FR" dirty="0">
                <a:cs typeface="Consolas"/>
              </a:rPr>
              <a:t>Demandez à l’utilisateur dans quelle case du tableau mettre la valeur </a:t>
            </a:r>
            <a:r>
              <a:rPr lang="fr-FR" dirty="0">
                <a:solidFill>
                  <a:schemeClr val="accent4"/>
                </a:solidFill>
                <a:cs typeface="Consolas"/>
              </a:rPr>
              <a:t>12</a:t>
            </a:r>
          </a:p>
          <a:p>
            <a:pPr marL="457200" indent="-457200">
              <a:buAutoNum type="arabicPeriod"/>
            </a:pPr>
            <a:r>
              <a:rPr lang="fr-FR" dirty="0">
                <a:cs typeface="Consolas"/>
              </a:rPr>
              <a:t>Assignez ensuite 12 à cette case: </a:t>
            </a:r>
            <a:r>
              <a:rPr lang="fr-FR" sz="2400" dirty="0" err="1">
                <a:solidFill>
                  <a:schemeClr val="accent4"/>
                </a:solidFill>
                <a:latin typeface="Consolas"/>
                <a:cs typeface="Consolas"/>
              </a:rPr>
              <a:t>t</a:t>
            </a:r>
            <a:r>
              <a:rPr lang="fr-FR" sz="2400" dirty="0">
                <a:solidFill>
                  <a:schemeClr val="accent4"/>
                </a:solidFill>
                <a:latin typeface="Consolas"/>
                <a:cs typeface="Consolas"/>
              </a:rPr>
              <a:t>[i] = 12;</a:t>
            </a:r>
          </a:p>
          <a:p>
            <a:pPr marL="457200" indent="-457200">
              <a:buFont typeface="Arial" pitchFamily="34" charset="0"/>
              <a:buAutoNum type="arabicPeriod"/>
            </a:pPr>
            <a:r>
              <a:rPr lang="fr-FR" dirty="0">
                <a:cs typeface="Consolas"/>
              </a:rPr>
              <a:t>Testez ensuite votre code.</a:t>
            </a:r>
            <a:endParaRPr lang="fr-FR" dirty="0">
              <a:latin typeface="Consolas"/>
              <a:cs typeface="Consolas"/>
            </a:endParaRPr>
          </a:p>
        </p:txBody>
      </p:sp>
      <p:pic>
        <p:nvPicPr>
          <p:cNvPr id="2050" name="Picture 2" descr="Fireball Explosion Transparent PNG | PNG Mart">
            <a:extLst>
              <a:ext uri="{FF2B5EF4-FFF2-40B4-BE49-F238E27FC236}">
                <a16:creationId xmlns:a16="http://schemas.microsoft.com/office/drawing/2014/main" id="{1B818963-18E2-771E-E240-FEAC171C9855}"/>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9659007" y="222096"/>
            <a:ext cx="2256658" cy="1474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5025476"/>
      </p:ext>
    </p:extLst>
  </p:cSld>
  <p:clrMapOvr>
    <a:masterClrMapping/>
  </p:clrMapOvr>
  <p:transition>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Exercice (2/2)</a:t>
            </a:r>
          </a:p>
        </p:txBody>
      </p:sp>
      <p:sp>
        <p:nvSpPr>
          <p:cNvPr id="3" name="Espace réservé du contenu 2"/>
          <p:cNvSpPr>
            <a:spLocks noGrp="1"/>
          </p:cNvSpPr>
          <p:nvPr>
            <p:ph idx="1"/>
          </p:nvPr>
        </p:nvSpPr>
        <p:spPr/>
        <p:txBody>
          <a:bodyPr>
            <a:normAutofit/>
          </a:bodyPr>
          <a:lstStyle/>
          <a:p>
            <a:pPr marL="0" indent="0">
              <a:buNone/>
            </a:pPr>
            <a:r>
              <a:rPr lang="fr-FR" dirty="0">
                <a:cs typeface="Consolas"/>
              </a:rPr>
              <a:t>Testez votre programme </a:t>
            </a:r>
          </a:p>
          <a:p>
            <a:r>
              <a:rPr lang="fr-FR" dirty="0">
                <a:cs typeface="Consolas"/>
              </a:rPr>
              <a:t>en indiquant un nombre de cases négatif.</a:t>
            </a:r>
          </a:p>
          <a:p>
            <a:r>
              <a:rPr lang="fr-FR" dirty="0">
                <a:cs typeface="Consolas"/>
              </a:rPr>
              <a:t>en mettant la valeur dans une case hors des limites du tableau.</a:t>
            </a:r>
          </a:p>
          <a:p>
            <a:pPr marL="0" indent="0">
              <a:buNone/>
            </a:pPr>
            <a:r>
              <a:rPr lang="fr-FR" dirty="0">
                <a:cs typeface="Consolas"/>
              </a:rPr>
              <a:t>Que se passe-t-il?</a:t>
            </a:r>
          </a:p>
          <a:p>
            <a:pPr marL="0" indent="0">
              <a:buNone/>
            </a:pPr>
            <a:endParaRPr lang="fr-FR" dirty="0">
              <a:cs typeface="Consolas"/>
            </a:endParaRPr>
          </a:p>
          <a:p>
            <a:pPr marL="0" indent="0">
              <a:buNone/>
            </a:pPr>
            <a:r>
              <a:rPr lang="fr-FR" dirty="0">
                <a:cs typeface="Consolas"/>
              </a:rPr>
              <a:t>Modifiez le programme en traitant les deux Exceptions rencontrées, de manière à ce qu’il ne plante pas</a:t>
            </a:r>
            <a:r>
              <a:rPr lang="mr-IN" dirty="0">
                <a:cs typeface="Consolas"/>
              </a:rPr>
              <a:t>…</a:t>
            </a:r>
            <a:endParaRPr lang="fr-FR" dirty="0">
              <a:cs typeface="Consolas"/>
            </a:endParaRPr>
          </a:p>
        </p:txBody>
      </p:sp>
      <p:pic>
        <p:nvPicPr>
          <p:cNvPr id="4" name="Picture 2" descr="Fireball Explosion Transparent PNG | PNG Mart">
            <a:extLst>
              <a:ext uri="{FF2B5EF4-FFF2-40B4-BE49-F238E27FC236}">
                <a16:creationId xmlns:a16="http://schemas.microsoft.com/office/drawing/2014/main" id="{80DC96C9-1712-EABB-C2BC-EE8680BCE227}"/>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9659007" y="222096"/>
            <a:ext cx="2256658" cy="1474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7872740"/>
      </p:ext>
    </p:extLst>
  </p:cSld>
  <p:clrMapOvr>
    <a:masterClrMapping/>
  </p:clrMapOvr>
  <p:transition>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Gestion des exceptions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Exemple pratique</a:t>
            </a:r>
          </a:p>
          <a:p>
            <a:pPr marL="342900" indent="-342900">
              <a:lnSpc>
                <a:spcPct val="80000"/>
              </a:lnSpc>
              <a:buFont typeface="Arial"/>
              <a:buChar char="•"/>
            </a:pPr>
            <a:r>
              <a:rPr lang="fr-FR" dirty="0"/>
              <a:t>Introduction</a:t>
            </a:r>
          </a:p>
          <a:p>
            <a:pPr marL="342900" indent="-342900">
              <a:lnSpc>
                <a:spcPct val="80000"/>
              </a:lnSpc>
              <a:buFont typeface="Arial"/>
              <a:buChar char="•"/>
            </a:pPr>
            <a:r>
              <a:rPr lang="fr-FR" dirty="0"/>
              <a:t>Plusieurs Exceptions </a:t>
            </a:r>
          </a:p>
          <a:p>
            <a:pPr marL="342900" indent="-342900">
              <a:lnSpc>
                <a:spcPct val="80000"/>
              </a:lnSpc>
              <a:buFont typeface="Arial"/>
              <a:buChar char="•"/>
            </a:pPr>
            <a:r>
              <a:rPr lang="fr-FR" dirty="0"/>
              <a:t>Communication avec le gestionnaire d'Exception</a:t>
            </a:r>
          </a:p>
          <a:p>
            <a:pPr marL="342900" indent="-342900">
              <a:lnSpc>
                <a:spcPct val="80000"/>
              </a:lnSpc>
              <a:buFont typeface="Arial"/>
              <a:buChar char="•"/>
            </a:pPr>
            <a:r>
              <a:rPr lang="fr-FR" dirty="0"/>
              <a:t>Le mécanisme de gestion des Exceptions</a:t>
            </a:r>
          </a:p>
          <a:p>
            <a:pPr marL="342900" indent="-342900">
              <a:lnSpc>
                <a:spcPct val="80000"/>
              </a:lnSpc>
              <a:buFont typeface="Arial"/>
              <a:buChar char="•"/>
            </a:pPr>
            <a:r>
              <a:rPr lang="fr-FR" dirty="0"/>
              <a:t>Les Exceptions standard</a:t>
            </a:r>
          </a:p>
          <a:p>
            <a:pPr marL="342900" indent="-342900">
              <a:lnSpc>
                <a:spcPct val="80000"/>
              </a:lnSpc>
              <a:buFont typeface="Arial"/>
              <a:buChar char="•"/>
            </a:pPr>
            <a:r>
              <a:rPr lang="fr-FR" dirty="0">
                <a:solidFill>
                  <a:schemeClr val="accent4"/>
                </a:solidFill>
              </a:rPr>
              <a:t>La méthode </a:t>
            </a:r>
            <a:r>
              <a:rPr lang="fr-FR" dirty="0" err="1">
                <a:solidFill>
                  <a:schemeClr val="accent4"/>
                </a:solidFill>
                <a:latin typeface="Consolas"/>
                <a:cs typeface="Consolas"/>
              </a:rPr>
              <a:t>printStackTrace</a:t>
            </a:r>
            <a:endParaRPr lang="fr-FR" dirty="0">
              <a:solidFill>
                <a:schemeClr val="accent4"/>
              </a:solidFill>
              <a:latin typeface="Consolas"/>
              <a:cs typeface="Consolas"/>
            </a:endParaRPr>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Tree>
    <p:extLst>
      <p:ext uri="{BB962C8B-B14F-4D97-AF65-F5344CB8AC3E}">
        <p14:creationId xmlns:p14="http://schemas.microsoft.com/office/powerpoint/2010/main" val="1773832333"/>
      </p:ext>
    </p:extLst>
  </p:cSld>
  <p:clrMapOvr>
    <a:masterClrMapping/>
  </p:clrMapOvr>
  <p:transition>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La méthode </a:t>
            </a:r>
            <a:r>
              <a:rPr lang="fr-FR" dirty="0" err="1"/>
              <a:t>PrintStackTrace</a:t>
            </a:r>
            <a:endParaRPr lang="fr-FR" dirty="0"/>
          </a:p>
        </p:txBody>
      </p:sp>
      <p:sp>
        <p:nvSpPr>
          <p:cNvPr id="3" name="Espace réservé du contenu 2"/>
          <p:cNvSpPr>
            <a:spLocks noGrp="1"/>
          </p:cNvSpPr>
          <p:nvPr>
            <p:ph idx="1"/>
          </p:nvPr>
        </p:nvSpPr>
        <p:spPr/>
        <p:txBody>
          <a:bodyPr>
            <a:normAutofit/>
          </a:bodyPr>
          <a:lstStyle/>
          <a:p>
            <a:pPr marL="0" indent="0">
              <a:buNone/>
            </a:pPr>
            <a:r>
              <a:rPr lang="fr-FR" dirty="0">
                <a:cs typeface="Consolas"/>
              </a:rPr>
              <a:t>Vous avez peut-être déjà rencontré ce type de message:</a:t>
            </a:r>
          </a:p>
          <a:p>
            <a:pPr marL="0" indent="0">
              <a:buNone/>
            </a:pPr>
            <a:endParaRPr lang="fr-FR" dirty="0">
              <a:cs typeface="Consolas"/>
            </a:endParaRPr>
          </a:p>
          <a:p>
            <a:pPr marL="0" indent="0">
              <a:buNone/>
            </a:pPr>
            <a:endParaRPr lang="fr-FR" dirty="0">
              <a:cs typeface="Consolas"/>
            </a:endParaRPr>
          </a:p>
          <a:p>
            <a:pPr marL="0" indent="0">
              <a:buNone/>
            </a:pPr>
            <a:endParaRPr lang="fr-FR" dirty="0">
              <a:cs typeface="Consolas"/>
            </a:endParaRPr>
          </a:p>
          <a:p>
            <a:pPr marL="0" indent="0">
              <a:buNone/>
            </a:pPr>
            <a:endParaRPr lang="fr-FR" dirty="0">
              <a:cs typeface="Consolas"/>
            </a:endParaRPr>
          </a:p>
          <a:p>
            <a:pPr marL="0" indent="0">
              <a:buNone/>
            </a:pPr>
            <a:r>
              <a:rPr lang="fr-FR" dirty="0">
                <a:cs typeface="Consolas"/>
              </a:rPr>
              <a:t>On l’obtient quand une exception surgit sans être traitée, ou quand elle est déclarée explicitement dans la méthode </a:t>
            </a:r>
            <a:r>
              <a:rPr lang="fr-FR" sz="2400" dirty="0">
                <a:solidFill>
                  <a:schemeClr val="accent4"/>
                </a:solidFill>
                <a:latin typeface="Consolas"/>
                <a:cs typeface="Consolas"/>
              </a:rPr>
              <a:t>main</a:t>
            </a:r>
            <a:r>
              <a:rPr lang="fr-FR" dirty="0">
                <a:cs typeface="Consolas"/>
              </a:rPr>
              <a:t>. </a:t>
            </a:r>
          </a:p>
          <a:p>
            <a:pPr marL="0" indent="0">
              <a:buNone/>
            </a:pPr>
            <a:r>
              <a:rPr lang="fr-FR" dirty="0">
                <a:cs typeface="Consolas"/>
              </a:rPr>
              <a:t>On affiche ce message à partir d’une </a:t>
            </a:r>
            <a:r>
              <a:rPr lang="fr-FR" sz="2400" dirty="0">
                <a:solidFill>
                  <a:schemeClr val="accent4"/>
                </a:solidFill>
                <a:latin typeface="Consolas"/>
                <a:cs typeface="Consolas"/>
              </a:rPr>
              <a:t>Exception</a:t>
            </a:r>
            <a:r>
              <a:rPr lang="fr-FR" dirty="0">
                <a:cs typeface="Consolas"/>
              </a:rPr>
              <a:t> en appelant la méthode </a:t>
            </a:r>
            <a:r>
              <a:rPr lang="fr-FR" sz="2400" dirty="0" err="1">
                <a:solidFill>
                  <a:schemeClr val="accent4"/>
                </a:solidFill>
                <a:latin typeface="Consolas"/>
                <a:cs typeface="Consolas"/>
              </a:rPr>
              <a:t>printStackTrace</a:t>
            </a:r>
            <a:r>
              <a:rPr lang="fr-FR" sz="2400" dirty="0">
                <a:solidFill>
                  <a:schemeClr val="accent4"/>
                </a:solidFill>
                <a:latin typeface="Consolas"/>
                <a:cs typeface="Consolas"/>
              </a:rPr>
              <a:t>()</a:t>
            </a:r>
            <a:r>
              <a:rPr lang="fr-FR" dirty="0">
                <a:cs typeface="Consolas"/>
              </a:rPr>
              <a:t> sur l’exception.</a:t>
            </a:r>
          </a:p>
        </p:txBody>
      </p:sp>
      <p:pic>
        <p:nvPicPr>
          <p:cNvPr id="7" name="Image 6"/>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2156178" y="2346452"/>
            <a:ext cx="8009466" cy="1480370"/>
          </a:xfrm>
          <a:prstGeom prst="rect">
            <a:avLst/>
          </a:prstGeom>
        </p:spPr>
      </p:pic>
    </p:spTree>
    <p:extLst>
      <p:ext uri="{BB962C8B-B14F-4D97-AF65-F5344CB8AC3E}">
        <p14:creationId xmlns:p14="http://schemas.microsoft.com/office/powerpoint/2010/main" val="981034131"/>
      </p:ext>
    </p:extLst>
  </p:cSld>
  <p:clrMapOvr>
    <a:masterClrMapping/>
  </p:clrMapOvr>
  <p:transition>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Exercice</a:t>
            </a:r>
          </a:p>
        </p:txBody>
      </p:sp>
      <p:sp>
        <p:nvSpPr>
          <p:cNvPr id="3" name="Espace réservé du contenu 2"/>
          <p:cNvSpPr>
            <a:spLocks noGrp="1"/>
          </p:cNvSpPr>
          <p:nvPr>
            <p:ph idx="1"/>
          </p:nvPr>
        </p:nvSpPr>
        <p:spPr/>
        <p:txBody>
          <a:bodyPr>
            <a:normAutofit/>
          </a:bodyPr>
          <a:lstStyle/>
          <a:p>
            <a:pPr marL="0" indent="0">
              <a:buNone/>
            </a:pPr>
            <a:r>
              <a:rPr lang="fr-FR" dirty="0">
                <a:cs typeface="Consolas"/>
              </a:rPr>
              <a:t>Essayez de comprendre ce qui s’est passé lorsque vous voyez ce message</a:t>
            </a:r>
            <a:r>
              <a:rPr lang="mr-IN" dirty="0">
                <a:cs typeface="Consolas"/>
              </a:rPr>
              <a:t>…</a:t>
            </a:r>
            <a:endParaRPr lang="fr-FR" dirty="0">
              <a:cs typeface="Consolas"/>
            </a:endParaRPr>
          </a:p>
        </p:txBody>
      </p:sp>
      <p:sp>
        <p:nvSpPr>
          <p:cNvPr id="5" name="Rectangle 4"/>
          <p:cNvSpPr/>
          <p:nvPr/>
        </p:nvSpPr>
        <p:spPr>
          <a:xfrm>
            <a:off x="1301040" y="3133492"/>
            <a:ext cx="9259671" cy="1569660"/>
          </a:xfrm>
          <a:prstGeom prst="rect">
            <a:avLst/>
          </a:prstGeom>
          <a:solidFill>
            <a:srgbClr val="2B2B2B"/>
          </a:solidFill>
        </p:spPr>
        <p:txBody>
          <a:bodyPr wrap="square">
            <a:spAutoFit/>
          </a:bodyPr>
          <a:lstStyle/>
          <a:p>
            <a:r>
              <a:rPr lang="fr-FR" sz="1600" dirty="0">
                <a:solidFill>
                  <a:srgbClr val="FF2600"/>
                </a:solidFill>
                <a:latin typeface="Monaco" charset="0"/>
              </a:rPr>
              <a:t>Exception in thread "main" </a:t>
            </a:r>
            <a:r>
              <a:rPr lang="fr-FR" sz="1600" u="sng" dirty="0" err="1">
                <a:solidFill>
                  <a:srgbClr val="0080E1"/>
                </a:solidFill>
                <a:latin typeface="Monaco" charset="0"/>
              </a:rPr>
              <a:t>java.lang.ArithmeticException</a:t>
            </a:r>
            <a:r>
              <a:rPr lang="fr-FR" sz="1600" dirty="0">
                <a:solidFill>
                  <a:srgbClr val="FF2600"/>
                </a:solidFill>
                <a:latin typeface="Monaco" charset="0"/>
              </a:rPr>
              <a:t>: / by </a:t>
            </a:r>
            <a:r>
              <a:rPr lang="fr-FR" sz="1600" dirty="0" err="1">
                <a:solidFill>
                  <a:srgbClr val="FF2600"/>
                </a:solidFill>
                <a:latin typeface="Monaco" charset="0"/>
              </a:rPr>
              <a:t>zero</a:t>
            </a:r>
            <a:endParaRPr lang="fr-FR" sz="1600" dirty="0">
              <a:solidFill>
                <a:srgbClr val="FF2600"/>
              </a:solidFill>
              <a:latin typeface="Monaco" charset="0"/>
            </a:endParaRPr>
          </a:p>
          <a:p>
            <a:r>
              <a:rPr lang="fr-FR" sz="1600" dirty="0">
                <a:solidFill>
                  <a:srgbClr val="FF2600"/>
                </a:solidFill>
                <a:latin typeface="Monaco" charset="0"/>
              </a:rPr>
              <a:t>at </a:t>
            </a:r>
            <a:r>
              <a:rPr lang="fr-FR" sz="1600" dirty="0" err="1">
                <a:solidFill>
                  <a:srgbClr val="FF2600"/>
                </a:solidFill>
                <a:latin typeface="Monaco" charset="0"/>
              </a:rPr>
              <a:t>be.ferrant.Sort</a:t>
            </a:r>
            <a:r>
              <a:rPr lang="fr-FR" sz="1600" dirty="0">
                <a:solidFill>
                  <a:srgbClr val="FF2600"/>
                </a:solidFill>
                <a:latin typeface="Monaco" charset="0"/>
              </a:rPr>
              <a:t>.&lt;</a:t>
            </a:r>
            <a:r>
              <a:rPr lang="fr-FR" sz="1600" dirty="0" err="1">
                <a:solidFill>
                  <a:srgbClr val="FF2600"/>
                </a:solidFill>
                <a:latin typeface="Monaco" charset="0"/>
              </a:rPr>
              <a:t>init</a:t>
            </a:r>
            <a:r>
              <a:rPr lang="fr-FR" sz="1600" dirty="0">
                <a:solidFill>
                  <a:srgbClr val="FF2600"/>
                </a:solidFill>
                <a:latin typeface="Monaco" charset="0"/>
              </a:rPr>
              <a:t>&gt;(</a:t>
            </a:r>
            <a:r>
              <a:rPr lang="fr-FR" sz="1600" u="sng" dirty="0">
                <a:solidFill>
                  <a:srgbClr val="0080E1"/>
                </a:solidFill>
                <a:latin typeface="Monaco" charset="0"/>
              </a:rPr>
              <a:t>Sort.java:17</a:t>
            </a:r>
            <a:r>
              <a:rPr lang="fr-FR" sz="1600" dirty="0">
                <a:solidFill>
                  <a:srgbClr val="FF2600"/>
                </a:solidFill>
                <a:latin typeface="Monaco" charset="0"/>
              </a:rPr>
              <a:t>)</a:t>
            </a:r>
          </a:p>
          <a:p>
            <a:r>
              <a:rPr lang="fr-FR" sz="1600" dirty="0">
                <a:solidFill>
                  <a:srgbClr val="FF2600"/>
                </a:solidFill>
                <a:latin typeface="Monaco" charset="0"/>
              </a:rPr>
              <a:t>at </a:t>
            </a:r>
            <a:r>
              <a:rPr lang="fr-FR" sz="1600" dirty="0" err="1">
                <a:solidFill>
                  <a:srgbClr val="FF2600"/>
                </a:solidFill>
                <a:latin typeface="Monaco" charset="0"/>
              </a:rPr>
              <a:t>be.ferrant.Joueur.lanceUnSort</a:t>
            </a:r>
            <a:r>
              <a:rPr lang="fr-FR" sz="1600" dirty="0">
                <a:solidFill>
                  <a:srgbClr val="FF2600"/>
                </a:solidFill>
                <a:latin typeface="Monaco" charset="0"/>
              </a:rPr>
              <a:t>(</a:t>
            </a:r>
            <a:r>
              <a:rPr lang="fr-FR" sz="1600" u="sng" dirty="0">
                <a:solidFill>
                  <a:srgbClr val="0080E1"/>
                </a:solidFill>
                <a:latin typeface="Monaco" charset="0"/>
              </a:rPr>
              <a:t>Joueur.java:204</a:t>
            </a:r>
            <a:r>
              <a:rPr lang="fr-FR" sz="1600" dirty="0">
                <a:solidFill>
                  <a:srgbClr val="FF2600"/>
                </a:solidFill>
                <a:latin typeface="Monaco" charset="0"/>
              </a:rPr>
              <a:t>)</a:t>
            </a:r>
          </a:p>
          <a:p>
            <a:r>
              <a:rPr lang="fr-FR" sz="1600" dirty="0">
                <a:solidFill>
                  <a:srgbClr val="FF2600"/>
                </a:solidFill>
                <a:latin typeface="Monaco" charset="0"/>
              </a:rPr>
              <a:t>at </a:t>
            </a:r>
            <a:r>
              <a:rPr lang="fr-FR" sz="1600" dirty="0" err="1">
                <a:solidFill>
                  <a:srgbClr val="FF2600"/>
                </a:solidFill>
                <a:latin typeface="Monaco" charset="0"/>
              </a:rPr>
              <a:t>be.ferrant.Partie.joueUnTour</a:t>
            </a:r>
            <a:r>
              <a:rPr lang="fr-FR" sz="1600" dirty="0">
                <a:solidFill>
                  <a:srgbClr val="FF2600"/>
                </a:solidFill>
                <a:latin typeface="Monaco" charset="0"/>
              </a:rPr>
              <a:t>(</a:t>
            </a:r>
            <a:r>
              <a:rPr lang="fr-FR" sz="1600" u="sng" dirty="0">
                <a:solidFill>
                  <a:srgbClr val="0080E1"/>
                </a:solidFill>
                <a:latin typeface="Monaco" charset="0"/>
              </a:rPr>
              <a:t>Partie.java:67</a:t>
            </a:r>
            <a:r>
              <a:rPr lang="fr-FR" sz="1600" dirty="0">
                <a:solidFill>
                  <a:srgbClr val="FF2600"/>
                </a:solidFill>
                <a:latin typeface="Monaco" charset="0"/>
              </a:rPr>
              <a:t>)</a:t>
            </a:r>
          </a:p>
          <a:p>
            <a:r>
              <a:rPr lang="fr-FR" sz="1600" dirty="0">
                <a:solidFill>
                  <a:srgbClr val="FF2600"/>
                </a:solidFill>
                <a:latin typeface="Monaco" charset="0"/>
              </a:rPr>
              <a:t>at </a:t>
            </a:r>
            <a:r>
              <a:rPr lang="fr-FR" sz="1600" dirty="0" err="1">
                <a:solidFill>
                  <a:srgbClr val="FF2600"/>
                </a:solidFill>
                <a:latin typeface="Monaco" charset="0"/>
              </a:rPr>
              <a:t>be.ferrant.Partie.demarre</a:t>
            </a:r>
            <a:r>
              <a:rPr lang="fr-FR" sz="1600" dirty="0">
                <a:solidFill>
                  <a:srgbClr val="FF2600"/>
                </a:solidFill>
                <a:latin typeface="Monaco" charset="0"/>
              </a:rPr>
              <a:t>(</a:t>
            </a:r>
            <a:r>
              <a:rPr lang="fr-FR" sz="1600" u="sng" dirty="0">
                <a:solidFill>
                  <a:srgbClr val="0080E1"/>
                </a:solidFill>
                <a:latin typeface="Monaco" charset="0"/>
              </a:rPr>
              <a:t>Partie.java:50</a:t>
            </a:r>
            <a:r>
              <a:rPr lang="fr-FR" sz="1600" dirty="0">
                <a:solidFill>
                  <a:srgbClr val="FF2600"/>
                </a:solidFill>
                <a:latin typeface="Monaco" charset="0"/>
              </a:rPr>
              <a:t>)</a:t>
            </a:r>
          </a:p>
          <a:p>
            <a:r>
              <a:rPr lang="fr-FR" sz="1600" dirty="0">
                <a:solidFill>
                  <a:srgbClr val="FF2600"/>
                </a:solidFill>
                <a:latin typeface="Monaco" charset="0"/>
              </a:rPr>
              <a:t>at </a:t>
            </a:r>
            <a:r>
              <a:rPr lang="fr-FR" sz="1600" dirty="0" err="1">
                <a:solidFill>
                  <a:srgbClr val="FF2600"/>
                </a:solidFill>
                <a:latin typeface="Monaco" charset="0"/>
              </a:rPr>
              <a:t>be.ferrant.ProgrammeJdR.main</a:t>
            </a:r>
            <a:r>
              <a:rPr lang="fr-FR" sz="1600" dirty="0">
                <a:solidFill>
                  <a:srgbClr val="FF2600"/>
                </a:solidFill>
                <a:latin typeface="Monaco" charset="0"/>
              </a:rPr>
              <a:t>(</a:t>
            </a:r>
            <a:r>
              <a:rPr lang="fr-FR" sz="1600" u="sng" dirty="0">
                <a:solidFill>
                  <a:srgbClr val="0080E1"/>
                </a:solidFill>
                <a:latin typeface="Monaco" charset="0"/>
              </a:rPr>
              <a:t>ProgrammeJdR.java:10</a:t>
            </a:r>
            <a:r>
              <a:rPr lang="fr-FR" sz="1600" dirty="0">
                <a:solidFill>
                  <a:srgbClr val="FF2600"/>
                </a:solidFill>
                <a:latin typeface="Monaco" charset="0"/>
              </a:rPr>
              <a:t>)</a:t>
            </a:r>
          </a:p>
        </p:txBody>
      </p:sp>
      <p:pic>
        <p:nvPicPr>
          <p:cNvPr id="5122" name="Picture 2" descr="Loupe Transparent - Image gratuite sur Pixabay">
            <a:extLst>
              <a:ext uri="{FF2B5EF4-FFF2-40B4-BE49-F238E27FC236}">
                <a16:creationId xmlns:a16="http://schemas.microsoft.com/office/drawing/2014/main" id="{C5C24E25-3440-CDEB-8564-DD8D495F402A}"/>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rot="18429847" flipH="1">
            <a:off x="10337032" y="144327"/>
            <a:ext cx="951077" cy="176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00173"/>
      </p:ext>
    </p:extLst>
  </p:cSld>
  <p:clrMapOvr>
    <a:masterClrMapping/>
  </p:clrMapOvr>
  <p:transition>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68A4496B-C69F-F7B9-410F-37303C208753}"/>
              </a:ext>
            </a:extLst>
          </p:cNvPr>
          <p:cNvSpPr>
            <a:spLocks noGrp="1"/>
          </p:cNvSpPr>
          <p:nvPr>
            <p:ph type="title"/>
          </p:nvPr>
        </p:nvSpPr>
        <p:spPr/>
        <p:txBody>
          <a:bodyPr/>
          <a:lstStyle/>
          <a:p>
            <a:r>
              <a:rPr lang="fr-FR" dirty="0"/>
              <a:t>Les types génériques</a:t>
            </a:r>
          </a:p>
        </p:txBody>
      </p:sp>
      <p:sp>
        <p:nvSpPr>
          <p:cNvPr id="5" name="Espace réservé du texte 4">
            <a:extLst>
              <a:ext uri="{FF2B5EF4-FFF2-40B4-BE49-F238E27FC236}">
                <a16:creationId xmlns:a16="http://schemas.microsoft.com/office/drawing/2014/main" id="{37FCF3C9-EE38-A4CE-80C1-EFCED74EEBE1}"/>
              </a:ext>
            </a:extLst>
          </p:cNvPr>
          <p:cNvSpPr>
            <a:spLocks noGrp="1"/>
          </p:cNvSpPr>
          <p:nvPr>
            <p:ph type="body" idx="1"/>
          </p:nvPr>
        </p:nvSpPr>
        <p:spPr/>
        <p:txBody>
          <a:bodyPr/>
          <a:lstStyle/>
          <a:p>
            <a:r>
              <a:rPr lang="fr-FR" dirty="0"/>
              <a:t>Comment réutiliser des classes pour des objets de différents types…?</a:t>
            </a:r>
          </a:p>
          <a:p>
            <a:endParaRPr lang="fr-FR" dirty="0"/>
          </a:p>
        </p:txBody>
      </p:sp>
    </p:spTree>
    <p:extLst>
      <p:ext uri="{BB962C8B-B14F-4D97-AF65-F5344CB8AC3E}">
        <p14:creationId xmlns:p14="http://schemas.microsoft.com/office/powerpoint/2010/main" val="1777324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génériques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solidFill>
                  <a:schemeClr val="accent4"/>
                </a:solidFill>
              </a:rPr>
              <a:t>Le concept de type générique</a:t>
            </a:r>
          </a:p>
          <a:p>
            <a:pPr marL="342900" indent="-342900">
              <a:lnSpc>
                <a:spcPct val="80000"/>
              </a:lnSpc>
              <a:buFont typeface="Arial"/>
              <a:buChar char="•"/>
            </a:pPr>
            <a:r>
              <a:rPr lang="fr-FR" dirty="0"/>
              <a:t>Classe Générique à un seul paramètre</a:t>
            </a:r>
          </a:p>
          <a:p>
            <a:pPr marL="342900" indent="-342900">
              <a:lnSpc>
                <a:spcPct val="80000"/>
              </a:lnSpc>
              <a:buFont typeface="Arial"/>
              <a:buChar char="•"/>
            </a:pPr>
            <a:r>
              <a:rPr lang="fr-FR" dirty="0"/>
              <a:t>Classe Générique à plusieurs paramètres</a:t>
            </a:r>
          </a:p>
          <a:p>
            <a:pPr marL="342900" indent="-342900">
              <a:lnSpc>
                <a:spcPct val="80000"/>
              </a:lnSpc>
              <a:buFont typeface="Arial"/>
              <a:buChar char="•"/>
            </a:pPr>
            <a:r>
              <a:rPr lang="fr-FR" dirty="0"/>
              <a:t>Compilation des types génériques</a:t>
            </a:r>
          </a:p>
          <a:p>
            <a:pPr marL="342900" indent="-342900">
              <a:lnSpc>
                <a:spcPct val="80000"/>
              </a:lnSpc>
              <a:buFont typeface="Arial"/>
              <a:buChar char="•"/>
            </a:pPr>
            <a:r>
              <a:rPr lang="fr-FR" dirty="0"/>
              <a:t>Méthodes génériques</a:t>
            </a:r>
          </a:p>
          <a:p>
            <a:pPr marL="342900" indent="-342900">
              <a:lnSpc>
                <a:spcPct val="80000"/>
              </a:lnSpc>
              <a:buFont typeface="Arial"/>
              <a:buChar char="•"/>
            </a:pPr>
            <a:r>
              <a:rPr lang="fr-FR" dirty="0"/>
              <a:t>Limitations sur le type</a:t>
            </a:r>
          </a:p>
          <a:p>
            <a:pPr marL="342900" indent="-342900">
              <a:lnSpc>
                <a:spcPct val="80000"/>
              </a:lnSpc>
              <a:buFont typeface="Arial"/>
              <a:buChar char="•"/>
            </a:pPr>
            <a:r>
              <a:rPr lang="fr-FR" dirty="0"/>
              <a:t>Type générique et héritage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Tree>
    <p:extLst>
      <p:ext uri="{BB962C8B-B14F-4D97-AF65-F5344CB8AC3E}">
        <p14:creationId xmlns:p14="http://schemas.microsoft.com/office/powerpoint/2010/main" val="3828394087"/>
      </p:ext>
    </p:extLst>
  </p:cSld>
  <p:clrMapOvr>
    <a:masterClrMapping/>
  </p:clrMapOvr>
  <p:transition>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types génériques</a:t>
            </a:r>
          </a:p>
        </p:txBody>
      </p:sp>
      <p:sp>
        <p:nvSpPr>
          <p:cNvPr id="9" name="Espace réservé du contenu 8"/>
          <p:cNvSpPr>
            <a:spLocks noGrp="1"/>
          </p:cNvSpPr>
          <p:nvPr>
            <p:ph idx="1"/>
          </p:nvPr>
        </p:nvSpPr>
        <p:spPr/>
        <p:txBody>
          <a:bodyPr>
            <a:normAutofit/>
          </a:bodyPr>
          <a:lstStyle/>
          <a:p>
            <a:pPr marL="0" indent="0">
              <a:buNone/>
            </a:pPr>
            <a:r>
              <a:rPr lang="fr-FR" sz="2400" dirty="0"/>
              <a:t>On parle de </a:t>
            </a:r>
            <a:r>
              <a:rPr lang="fr-FR" sz="2400" dirty="0">
                <a:solidFill>
                  <a:schemeClr val="accent4"/>
                </a:solidFill>
              </a:rPr>
              <a:t>programmation générique </a:t>
            </a:r>
            <a:r>
              <a:rPr lang="fr-FR" sz="2400" dirty="0"/>
              <a:t>lorsqu’un langage permet d’écrire un </a:t>
            </a:r>
            <a:r>
              <a:rPr lang="fr-FR" sz="2400" dirty="0">
                <a:solidFill>
                  <a:schemeClr val="accent4"/>
                </a:solidFill>
              </a:rPr>
              <a:t>code source unique </a:t>
            </a:r>
            <a:r>
              <a:rPr lang="fr-FR" sz="2400" dirty="0"/>
              <a:t>qui prend en compte des variables ou des objets de types quelconques. </a:t>
            </a:r>
          </a:p>
          <a:p>
            <a:pPr marL="342900" indent="-342900"/>
            <a:r>
              <a:rPr lang="fr-FR" sz="2400" dirty="0"/>
              <a:t>﻿soit le type en question est quelconque au sens où au sein d’une même instance ou d’un même appel de méthode, on peut manipuler des objets de différents types (ceci est rendu possible via l’héritage). </a:t>
            </a:r>
          </a:p>
          <a:p>
            <a:pPr marL="342900" indent="-342900"/>
            <a:r>
              <a:rPr lang="fr-FR" sz="2400" dirty="0"/>
              <a:t>﻿soit le type en question, non précisé lors de l’écriture de la classe, se trouve </a:t>
            </a:r>
            <a:r>
              <a:rPr lang="fr-FR" sz="2400" dirty="0">
                <a:solidFill>
                  <a:schemeClr val="accent4"/>
                </a:solidFill>
              </a:rPr>
              <a:t>fixé de façon unique au moment de l’instanciation de la classe</a:t>
            </a:r>
            <a:r>
              <a:rPr lang="fr-FR" sz="2400" dirty="0"/>
              <a:t> (possible depuis Java 5 via les types génériques); c’est la notion que nous allons aborder maintenant.</a:t>
            </a:r>
          </a:p>
        </p:txBody>
      </p:sp>
    </p:spTree>
    <p:extLst>
      <p:ext uri="{BB962C8B-B14F-4D97-AF65-F5344CB8AC3E}">
        <p14:creationId xmlns:p14="http://schemas.microsoft.com/office/powerpoint/2010/main" val="3776857207"/>
      </p:ext>
    </p:extLst>
  </p:cSld>
  <p:clrMapOvr>
    <a:masterClrMapping/>
  </p:clrMapOvr>
  <p:transition>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types génériques</a:t>
            </a:r>
          </a:p>
        </p:txBody>
      </p:sp>
      <p:sp>
        <p:nvSpPr>
          <p:cNvPr id="9" name="Espace réservé du contenu 8"/>
          <p:cNvSpPr>
            <a:spLocks noGrp="1"/>
          </p:cNvSpPr>
          <p:nvPr>
            <p:ph idx="1"/>
          </p:nvPr>
        </p:nvSpPr>
        <p:spPr/>
        <p:txBody>
          <a:bodyPr>
            <a:normAutofit/>
          </a:bodyPr>
          <a:lstStyle/>
          <a:p>
            <a:pPr marL="0" indent="0">
              <a:buNone/>
            </a:pPr>
            <a:r>
              <a:rPr lang="fr-FR" sz="2400" dirty="0"/>
              <a:t>Ainsi une liste chainée (</a:t>
            </a:r>
            <a:r>
              <a:rPr lang="fr-FR" sz="2200" dirty="0" err="1">
                <a:solidFill>
                  <a:schemeClr val="accent4"/>
                </a:solidFill>
                <a:latin typeface="Consolas"/>
                <a:cs typeface="Consolas"/>
              </a:rPr>
              <a:t>LinkedList</a:t>
            </a:r>
            <a:r>
              <a:rPr lang="fr-FR" sz="2400" dirty="0"/>
              <a:t>), qui peut contenir des entiers, des </a:t>
            </a:r>
            <a:r>
              <a:rPr lang="fr-FR" sz="2200" dirty="0">
                <a:solidFill>
                  <a:schemeClr val="accent4"/>
                </a:solidFill>
                <a:latin typeface="Consolas"/>
                <a:cs typeface="Consolas"/>
              </a:rPr>
              <a:t>String</a:t>
            </a:r>
            <a:r>
              <a:rPr lang="fr-FR" sz="2400" dirty="0"/>
              <a:t> ou d'autres types d'objets pourra être typée en liste de </a:t>
            </a:r>
            <a:r>
              <a:rPr lang="fr-FR" sz="2200" dirty="0">
                <a:solidFill>
                  <a:schemeClr val="accent4"/>
                </a:solidFill>
                <a:latin typeface="Consolas"/>
                <a:cs typeface="Consolas"/>
              </a:rPr>
              <a:t>String</a:t>
            </a:r>
            <a:r>
              <a:rPr lang="fr-FR" sz="2400" dirty="0"/>
              <a:t> ou liste d’</a:t>
            </a:r>
            <a:r>
              <a:rPr lang="fr-FR" sz="2200" dirty="0">
                <a:solidFill>
                  <a:schemeClr val="accent4"/>
                </a:solidFill>
                <a:latin typeface="Consolas"/>
                <a:cs typeface="Consolas"/>
              </a:rPr>
              <a:t>Integer</a:t>
            </a:r>
            <a:r>
              <a:rPr lang="fr-FR" sz="2400" dirty="0"/>
              <a:t>. </a:t>
            </a:r>
          </a:p>
          <a:p>
            <a:pPr marL="0" indent="0">
              <a:buNone/>
            </a:pPr>
            <a:endParaRPr lang="fr-FR" sz="2400" dirty="0"/>
          </a:p>
          <a:p>
            <a:pPr marL="0" indent="0">
              <a:buNone/>
            </a:pPr>
            <a:r>
              <a:rPr lang="fr-FR" sz="2400" dirty="0"/>
              <a:t>L'utilisation de </a:t>
            </a:r>
            <a:r>
              <a:rPr lang="fr-FR" sz="2400" dirty="0">
                <a:solidFill>
                  <a:schemeClr val="accent4"/>
                </a:solidFill>
              </a:rPr>
              <a:t>Types Génériques </a:t>
            </a:r>
            <a:r>
              <a:rPr lang="fr-FR" sz="2400" dirty="0"/>
              <a:t>permet au programmeur de ne pas écrire systématiquement les transtypages (</a:t>
            </a:r>
            <a:r>
              <a:rPr lang="fr-FR" sz="2400" dirty="0" err="1"/>
              <a:t>cast</a:t>
            </a:r>
            <a:r>
              <a:rPr lang="fr-FR" sz="2400" dirty="0"/>
              <a:t>) qui présentent un risque d'erreur: le compilateur vérifie lui-même la cohérence des données.</a:t>
            </a:r>
          </a:p>
        </p:txBody>
      </p:sp>
    </p:spTree>
    <p:extLst>
      <p:ext uri="{BB962C8B-B14F-4D97-AF65-F5344CB8AC3E}">
        <p14:creationId xmlns:p14="http://schemas.microsoft.com/office/powerpoint/2010/main" val="3123084957"/>
      </p:ext>
    </p:extLst>
  </p:cSld>
  <p:clrMapOvr>
    <a:masterClrMapping/>
  </p:clrMapOvr>
  <p:transition>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génériques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Le concept de type générique</a:t>
            </a:r>
          </a:p>
          <a:p>
            <a:pPr marL="342900" indent="-342900">
              <a:lnSpc>
                <a:spcPct val="80000"/>
              </a:lnSpc>
              <a:buFont typeface="Arial"/>
              <a:buChar char="•"/>
            </a:pPr>
            <a:r>
              <a:rPr lang="fr-FR" dirty="0">
                <a:solidFill>
                  <a:schemeClr val="accent4"/>
                </a:solidFill>
              </a:rPr>
              <a:t>Classe Générique à un seul paramètre</a:t>
            </a:r>
          </a:p>
          <a:p>
            <a:pPr marL="342900" indent="-342900">
              <a:lnSpc>
                <a:spcPct val="80000"/>
              </a:lnSpc>
              <a:buFont typeface="Arial"/>
              <a:buChar char="•"/>
            </a:pPr>
            <a:r>
              <a:rPr lang="fr-FR" dirty="0"/>
              <a:t>Classe Générique à plusieurs paramètres</a:t>
            </a:r>
          </a:p>
          <a:p>
            <a:pPr marL="342900" indent="-342900">
              <a:lnSpc>
                <a:spcPct val="80000"/>
              </a:lnSpc>
              <a:buFont typeface="Arial"/>
              <a:buChar char="•"/>
            </a:pPr>
            <a:r>
              <a:rPr lang="fr-FR" dirty="0"/>
              <a:t>Compilation des types génériques</a:t>
            </a:r>
          </a:p>
          <a:p>
            <a:pPr marL="342900" indent="-342900">
              <a:lnSpc>
                <a:spcPct val="80000"/>
              </a:lnSpc>
              <a:buFont typeface="Arial"/>
              <a:buChar char="•"/>
            </a:pPr>
            <a:r>
              <a:rPr lang="fr-FR" dirty="0"/>
              <a:t>Méthodes génériques</a:t>
            </a:r>
          </a:p>
          <a:p>
            <a:pPr marL="342900" indent="-342900">
              <a:lnSpc>
                <a:spcPct val="80000"/>
              </a:lnSpc>
              <a:buFont typeface="Arial"/>
              <a:buChar char="•"/>
            </a:pPr>
            <a:r>
              <a:rPr lang="fr-FR" dirty="0"/>
              <a:t>Limitations sur le type</a:t>
            </a:r>
          </a:p>
          <a:p>
            <a:pPr marL="342900" indent="-342900">
              <a:lnSpc>
                <a:spcPct val="80000"/>
              </a:lnSpc>
              <a:buFont typeface="Arial"/>
              <a:buChar char="•"/>
            </a:pPr>
            <a:r>
              <a:rPr lang="fr-FR" dirty="0"/>
              <a:t>Type générique et héritage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Tree>
    <p:extLst>
      <p:ext uri="{BB962C8B-B14F-4D97-AF65-F5344CB8AC3E}">
        <p14:creationId xmlns:p14="http://schemas.microsoft.com/office/powerpoint/2010/main" val="1984832547"/>
      </p:ext>
    </p:extLst>
  </p:cSld>
  <p:clrMapOvr>
    <a:masterClrMapping/>
  </p:clrMapOvr>
  <p:transition>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Exemple de classe générique</a:t>
            </a:r>
          </a:p>
        </p:txBody>
      </p:sp>
      <p:sp>
        <p:nvSpPr>
          <p:cNvPr id="9" name="Espace réservé du contenu 8"/>
          <p:cNvSpPr>
            <a:spLocks noGrp="1"/>
          </p:cNvSpPr>
          <p:nvPr>
            <p:ph idx="1"/>
          </p:nvPr>
        </p:nvSpPr>
        <p:spPr/>
        <p:txBody>
          <a:bodyPr>
            <a:noAutofit/>
          </a:bodyPr>
          <a:lstStyle/>
          <a:p>
            <a:pPr marL="0" indent="0">
              <a:buNone/>
            </a:pPr>
            <a:r>
              <a:rPr lang="nl-BE" sz="2400" dirty="0"/>
              <a:t>On désire modéliser des couples d’entiers et des couples de chaînes de caractères…</a:t>
            </a:r>
            <a:endParaRPr lang="fr-FR" sz="2400" dirty="0"/>
          </a:p>
        </p:txBody>
      </p:sp>
      <p:sp>
        <p:nvSpPr>
          <p:cNvPr id="7" name="ZoneTexte 6">
            <a:extLst>
              <a:ext uri="{FF2B5EF4-FFF2-40B4-BE49-F238E27FC236}">
                <a16:creationId xmlns:a16="http://schemas.microsoft.com/office/drawing/2014/main" id="{CC43F847-78DD-D19B-776E-B74F4293AC89}"/>
              </a:ext>
            </a:extLst>
          </p:cNvPr>
          <p:cNvSpPr txBox="1"/>
          <p:nvPr/>
        </p:nvSpPr>
        <p:spPr>
          <a:xfrm>
            <a:off x="838201" y="2709853"/>
            <a:ext cx="5415488" cy="3323987"/>
          </a:xfrm>
          <a:prstGeom prst="rect">
            <a:avLst/>
          </a:prstGeom>
          <a:solidFill>
            <a:srgbClr val="2B2B2B"/>
          </a:solidFill>
        </p:spPr>
        <p:txBody>
          <a:bodyPr wrap="square">
            <a:spAutoFit/>
          </a:bodyPr>
          <a:lstStyle/>
          <a:p>
            <a:r>
              <a:rPr lang="fr-BE" sz="1400" dirty="0">
                <a:solidFill>
                  <a:srgbClr val="CC7832"/>
                </a:solidFill>
                <a:effectLst/>
                <a:latin typeface="Consolas" panose="020B0609020204030204" pitchFamily="49" charset="0"/>
                <a:cs typeface="Consolas" panose="020B0609020204030204" pitchFamily="49" charset="0"/>
              </a:rPr>
              <a:t>public class </a:t>
            </a:r>
            <a:r>
              <a:rPr lang="fr-BE" sz="1400" dirty="0" err="1">
                <a:latin typeface="Consolas" panose="020B0609020204030204" pitchFamily="49" charset="0"/>
                <a:cs typeface="Consolas" panose="020B0609020204030204" pitchFamily="49" charset="0"/>
              </a:rPr>
              <a:t>CoupleInteger</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private</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Integer</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public </a:t>
            </a:r>
            <a:r>
              <a:rPr lang="fr-BE" sz="1400" dirty="0">
                <a:solidFill>
                  <a:srgbClr val="FFC66D"/>
                </a:solidFill>
                <a:effectLst/>
                <a:latin typeface="Consolas" panose="020B0609020204030204" pitchFamily="49" charset="0"/>
                <a:cs typeface="Consolas" panose="020B0609020204030204" pitchFamily="49" charset="0"/>
              </a:rPr>
              <a:t>Couple</a:t>
            </a:r>
            <a:r>
              <a:rPr lang="fr-BE" sz="1400" dirty="0">
                <a:latin typeface="Consolas" panose="020B0609020204030204" pitchFamily="49" charset="0"/>
                <a:cs typeface="Consolas" panose="020B0609020204030204" pitchFamily="49" charset="0"/>
              </a:rPr>
              <a:t>(Integer</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Integer</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second)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 </a:t>
            </a:r>
            <a:r>
              <a:rPr lang="fr-BE" sz="1400" dirty="0">
                <a:latin typeface="Consolas" panose="020B0609020204030204" pitchFamily="49" charset="0"/>
                <a:cs typeface="Consolas" panose="020B0609020204030204" pitchFamily="49" charset="0"/>
              </a:rPr>
              <a:t>= second</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CC7832"/>
                </a:solidFill>
                <a:effectLst/>
                <a:latin typeface="Consolas" panose="020B0609020204030204" pitchFamily="49" charset="0"/>
                <a:cs typeface="Consolas" panose="020B0609020204030204" pitchFamily="49" charset="0"/>
              </a:rPr>
              <a:t>void</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FFC66D"/>
                </a:solidFill>
                <a:effectLst/>
                <a:latin typeface="Consolas" panose="020B0609020204030204" pitchFamily="49" charset="0"/>
                <a:cs typeface="Consolas" panose="020B0609020204030204" pitchFamily="49" charset="0"/>
              </a:rPr>
              <a:t>affiche</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"1:"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a:t>
            </a:r>
            <a:r>
              <a:rPr lang="fr-BE" sz="1400" dirty="0">
                <a:solidFill>
                  <a:srgbClr val="6A8759"/>
                </a:solidFill>
                <a:effectLst/>
                <a:latin typeface="Consolas" panose="020B0609020204030204" pitchFamily="49" charset="0"/>
                <a:cs typeface="Consolas" panose="020B0609020204030204" pitchFamily="49" charset="0"/>
              </a:rPr>
              <a:t>", 2:"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a:latin typeface="Consolas" panose="020B0609020204030204" pitchFamily="49" charset="0"/>
                <a:cs typeface="Consolas" panose="020B0609020204030204" pitchFamily="49" charset="0"/>
              </a:rPr>
              <a:t>Integer</a:t>
            </a:r>
            <a:r>
              <a:rPr lang="fr-BE" sz="1400" dirty="0">
                <a:solidFill>
                  <a:srgbClr val="507874"/>
                </a:solidFill>
                <a:effectLst/>
                <a:latin typeface="Consolas" panose="020B0609020204030204" pitchFamily="49" charset="0"/>
                <a:cs typeface="Consolas" panose="020B0609020204030204" pitchFamily="49" charset="0"/>
              </a:rPr>
              <a:t> </a:t>
            </a:r>
            <a:r>
              <a:rPr lang="fr-BE" sz="1400" dirty="0" err="1">
                <a:solidFill>
                  <a:srgbClr val="FFC66D"/>
                </a:solidFill>
                <a:effectLst/>
                <a:latin typeface="Consolas" panose="020B0609020204030204" pitchFamily="49" charset="0"/>
                <a:cs typeface="Consolas" panose="020B0609020204030204" pitchFamily="49" charset="0"/>
              </a:rPr>
              <a:t>getPremier</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return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sp>
        <p:nvSpPr>
          <p:cNvPr id="8" name="ZoneTexte 7">
            <a:extLst>
              <a:ext uri="{FF2B5EF4-FFF2-40B4-BE49-F238E27FC236}">
                <a16:creationId xmlns:a16="http://schemas.microsoft.com/office/drawing/2014/main" id="{1C0EE162-EE85-5903-1013-3AEEF5B7C92B}"/>
              </a:ext>
            </a:extLst>
          </p:cNvPr>
          <p:cNvSpPr txBox="1"/>
          <p:nvPr/>
        </p:nvSpPr>
        <p:spPr>
          <a:xfrm>
            <a:off x="6479002" y="2709853"/>
            <a:ext cx="5415488" cy="3323987"/>
          </a:xfrm>
          <a:prstGeom prst="rect">
            <a:avLst/>
          </a:prstGeom>
          <a:solidFill>
            <a:srgbClr val="2B2B2B"/>
          </a:solidFill>
        </p:spPr>
        <p:txBody>
          <a:bodyPr wrap="square">
            <a:spAutoFit/>
          </a:bodyPr>
          <a:lstStyle/>
          <a:p>
            <a:r>
              <a:rPr lang="fr-BE" sz="1400" dirty="0">
                <a:solidFill>
                  <a:srgbClr val="CC7832"/>
                </a:solidFill>
                <a:effectLst/>
                <a:latin typeface="Consolas" panose="020B0609020204030204" pitchFamily="49" charset="0"/>
                <a:cs typeface="Consolas" panose="020B0609020204030204" pitchFamily="49" charset="0"/>
              </a:rPr>
              <a:t>public class </a:t>
            </a:r>
            <a:r>
              <a:rPr lang="fr-BE" sz="1400" dirty="0" err="1">
                <a:latin typeface="Consolas" panose="020B0609020204030204" pitchFamily="49" charset="0"/>
                <a:cs typeface="Consolas" panose="020B0609020204030204" pitchFamily="49" charset="0"/>
              </a:rPr>
              <a:t>CoupleString</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private</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String</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public </a:t>
            </a:r>
            <a:r>
              <a:rPr lang="fr-BE" sz="1400" dirty="0">
                <a:solidFill>
                  <a:srgbClr val="FFC66D"/>
                </a:solidFill>
                <a:effectLst/>
                <a:latin typeface="Consolas" panose="020B0609020204030204" pitchFamily="49" charset="0"/>
                <a:cs typeface="Consolas" panose="020B0609020204030204" pitchFamily="49" charset="0"/>
              </a:rPr>
              <a:t>Couple</a:t>
            </a:r>
            <a:r>
              <a:rPr lang="fr-BE" sz="1400" dirty="0">
                <a:latin typeface="Consolas" panose="020B0609020204030204" pitchFamily="49" charset="0"/>
                <a:cs typeface="Consolas" panose="020B0609020204030204" pitchFamily="49" charset="0"/>
              </a:rPr>
              <a:t>(String</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String</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second)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 </a:t>
            </a:r>
            <a:r>
              <a:rPr lang="fr-BE" sz="1400" dirty="0">
                <a:latin typeface="Consolas" panose="020B0609020204030204" pitchFamily="49" charset="0"/>
                <a:cs typeface="Consolas" panose="020B0609020204030204" pitchFamily="49" charset="0"/>
              </a:rPr>
              <a:t>= second</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CC7832"/>
                </a:solidFill>
                <a:effectLst/>
                <a:latin typeface="Consolas" panose="020B0609020204030204" pitchFamily="49" charset="0"/>
                <a:cs typeface="Consolas" panose="020B0609020204030204" pitchFamily="49" charset="0"/>
              </a:rPr>
              <a:t>void</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FFC66D"/>
                </a:solidFill>
                <a:effectLst/>
                <a:latin typeface="Consolas" panose="020B0609020204030204" pitchFamily="49" charset="0"/>
                <a:cs typeface="Consolas" panose="020B0609020204030204" pitchFamily="49" charset="0"/>
              </a:rPr>
              <a:t>affiche</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"1:"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a:t>
            </a:r>
            <a:r>
              <a:rPr lang="fr-BE" sz="1400" dirty="0">
                <a:solidFill>
                  <a:srgbClr val="6A8759"/>
                </a:solidFill>
                <a:effectLst/>
                <a:latin typeface="Consolas" panose="020B0609020204030204" pitchFamily="49" charset="0"/>
                <a:cs typeface="Consolas" panose="020B0609020204030204" pitchFamily="49" charset="0"/>
              </a:rPr>
              <a:t>", 2:"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a:latin typeface="Consolas" panose="020B0609020204030204" pitchFamily="49" charset="0"/>
                <a:cs typeface="Consolas" panose="020B0609020204030204" pitchFamily="49" charset="0"/>
              </a:rPr>
              <a:t>String</a:t>
            </a:r>
            <a:r>
              <a:rPr lang="fr-BE" sz="1400" dirty="0">
                <a:solidFill>
                  <a:srgbClr val="507874"/>
                </a:solidFill>
                <a:effectLst/>
                <a:latin typeface="Consolas" panose="020B0609020204030204" pitchFamily="49" charset="0"/>
                <a:cs typeface="Consolas" panose="020B0609020204030204" pitchFamily="49" charset="0"/>
              </a:rPr>
              <a:t> </a:t>
            </a:r>
            <a:r>
              <a:rPr lang="fr-BE" sz="1400" dirty="0" err="1">
                <a:solidFill>
                  <a:srgbClr val="FFC66D"/>
                </a:solidFill>
                <a:effectLst/>
                <a:latin typeface="Consolas" panose="020B0609020204030204" pitchFamily="49" charset="0"/>
                <a:cs typeface="Consolas" panose="020B0609020204030204" pitchFamily="49" charset="0"/>
              </a:rPr>
              <a:t>getPremier</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return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286791691"/>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Exemple de classe générique</a:t>
            </a:r>
          </a:p>
        </p:txBody>
      </p:sp>
      <p:sp>
        <p:nvSpPr>
          <p:cNvPr id="9" name="Espace réservé du contenu 8"/>
          <p:cNvSpPr>
            <a:spLocks noGrp="1"/>
          </p:cNvSpPr>
          <p:nvPr>
            <p:ph idx="1"/>
          </p:nvPr>
        </p:nvSpPr>
        <p:spPr/>
        <p:txBody>
          <a:bodyPr>
            <a:noAutofit/>
          </a:bodyPr>
          <a:lstStyle/>
          <a:p>
            <a:pPr marL="0" indent="0">
              <a:buNone/>
            </a:pPr>
            <a:r>
              <a:rPr lang="nl-BE" sz="2400" dirty="0"/>
              <a:t>On pourrait utiliser le type </a:t>
            </a:r>
            <a:r>
              <a:rPr lang="nl-BE" sz="2000" dirty="0">
                <a:solidFill>
                  <a:schemeClr val="accent4"/>
                </a:solidFill>
                <a:latin typeface="Consolas" panose="020B0609020204030204" pitchFamily="49" charset="0"/>
                <a:cs typeface="Consolas" panose="020B0609020204030204" pitchFamily="49" charset="0"/>
              </a:rPr>
              <a:t>Object</a:t>
            </a:r>
            <a:r>
              <a:rPr lang="nl-BE" sz="2400" dirty="0"/>
              <a:t>, puisque toute classe hérite de </a:t>
            </a:r>
            <a:r>
              <a:rPr lang="nl-BE" sz="2000" dirty="0">
                <a:solidFill>
                  <a:schemeClr val="accent4"/>
                </a:solidFill>
                <a:latin typeface="Consolas" panose="020B0609020204030204" pitchFamily="49" charset="0"/>
                <a:cs typeface="Consolas" panose="020B0609020204030204" pitchFamily="49" charset="0"/>
              </a:rPr>
              <a:t>Object</a:t>
            </a:r>
            <a:r>
              <a:rPr lang="nl-BE" sz="2400" dirty="0"/>
              <a:t>…</a:t>
            </a:r>
            <a:endParaRPr lang="fr-FR" sz="2400" dirty="0"/>
          </a:p>
        </p:txBody>
      </p:sp>
      <p:sp>
        <p:nvSpPr>
          <p:cNvPr id="7" name="ZoneTexte 6">
            <a:extLst>
              <a:ext uri="{FF2B5EF4-FFF2-40B4-BE49-F238E27FC236}">
                <a16:creationId xmlns:a16="http://schemas.microsoft.com/office/drawing/2014/main" id="{CC43F847-78DD-D19B-776E-B74F4293AC89}"/>
              </a:ext>
            </a:extLst>
          </p:cNvPr>
          <p:cNvSpPr txBox="1"/>
          <p:nvPr/>
        </p:nvSpPr>
        <p:spPr>
          <a:xfrm>
            <a:off x="1275522" y="2339300"/>
            <a:ext cx="5415488" cy="3323987"/>
          </a:xfrm>
          <a:prstGeom prst="rect">
            <a:avLst/>
          </a:prstGeom>
          <a:solidFill>
            <a:srgbClr val="2B2B2B"/>
          </a:solidFill>
        </p:spPr>
        <p:txBody>
          <a:bodyPr wrap="square">
            <a:spAutoFit/>
          </a:bodyPr>
          <a:lstStyle/>
          <a:p>
            <a:r>
              <a:rPr lang="fr-BE" sz="1400" dirty="0">
                <a:solidFill>
                  <a:srgbClr val="CC7832"/>
                </a:solidFill>
                <a:effectLst/>
                <a:latin typeface="Consolas" panose="020B0609020204030204" pitchFamily="49" charset="0"/>
                <a:cs typeface="Consolas" panose="020B0609020204030204" pitchFamily="49" charset="0"/>
              </a:rPr>
              <a:t>public class </a:t>
            </a:r>
            <a:r>
              <a:rPr lang="fr-BE" sz="1400" dirty="0">
                <a:latin typeface="Consolas" panose="020B0609020204030204" pitchFamily="49" charset="0"/>
                <a:cs typeface="Consolas" panose="020B0609020204030204" pitchFamily="49" charset="0"/>
              </a:rPr>
              <a:t>Couple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private</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Object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public </a:t>
            </a:r>
            <a:r>
              <a:rPr lang="fr-BE" sz="1400" dirty="0">
                <a:solidFill>
                  <a:srgbClr val="FFC66D"/>
                </a:solidFill>
                <a:effectLst/>
                <a:latin typeface="Consolas" panose="020B0609020204030204" pitchFamily="49" charset="0"/>
                <a:cs typeface="Consolas" panose="020B0609020204030204" pitchFamily="49" charset="0"/>
              </a:rPr>
              <a:t>Couple</a:t>
            </a:r>
            <a:r>
              <a:rPr lang="fr-BE" sz="1400" dirty="0">
                <a:latin typeface="Consolas" panose="020B0609020204030204" pitchFamily="49" charset="0"/>
                <a:cs typeface="Consolas" panose="020B0609020204030204" pitchFamily="49" charset="0"/>
              </a:rPr>
              <a:t>(Object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Object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second)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 </a:t>
            </a:r>
            <a:r>
              <a:rPr lang="fr-BE" sz="1400" dirty="0">
                <a:latin typeface="Consolas" panose="020B0609020204030204" pitchFamily="49" charset="0"/>
                <a:cs typeface="Consolas" panose="020B0609020204030204" pitchFamily="49" charset="0"/>
              </a:rPr>
              <a:t>= second</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CC7832"/>
                </a:solidFill>
                <a:effectLst/>
                <a:latin typeface="Consolas" panose="020B0609020204030204" pitchFamily="49" charset="0"/>
                <a:cs typeface="Consolas" panose="020B0609020204030204" pitchFamily="49" charset="0"/>
              </a:rPr>
              <a:t>void</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FFC66D"/>
                </a:solidFill>
                <a:effectLst/>
                <a:latin typeface="Consolas" panose="020B0609020204030204" pitchFamily="49" charset="0"/>
                <a:cs typeface="Consolas" panose="020B0609020204030204" pitchFamily="49" charset="0"/>
              </a:rPr>
              <a:t>affiche</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"1:"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a:t>
            </a:r>
            <a:r>
              <a:rPr lang="fr-BE" sz="1400" dirty="0">
                <a:solidFill>
                  <a:srgbClr val="6A8759"/>
                </a:solidFill>
                <a:effectLst/>
                <a:latin typeface="Consolas" panose="020B0609020204030204" pitchFamily="49" charset="0"/>
                <a:cs typeface="Consolas" panose="020B0609020204030204" pitchFamily="49" charset="0"/>
              </a:rPr>
              <a:t>", 2:"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a:latin typeface="Consolas" panose="020B0609020204030204" pitchFamily="49" charset="0"/>
                <a:cs typeface="Consolas" panose="020B0609020204030204" pitchFamily="49" charset="0"/>
              </a:rPr>
              <a:t>Object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err="1">
                <a:solidFill>
                  <a:srgbClr val="FFC66D"/>
                </a:solidFill>
                <a:effectLst/>
                <a:latin typeface="Consolas" panose="020B0609020204030204" pitchFamily="49" charset="0"/>
                <a:cs typeface="Consolas" panose="020B0609020204030204" pitchFamily="49" charset="0"/>
              </a:rPr>
              <a:t>getPremier</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return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sp>
        <p:nvSpPr>
          <p:cNvPr id="3" name="ZoneTexte 2">
            <a:extLst>
              <a:ext uri="{FF2B5EF4-FFF2-40B4-BE49-F238E27FC236}">
                <a16:creationId xmlns:a16="http://schemas.microsoft.com/office/drawing/2014/main" id="{2EFF487D-1F42-168C-BDC6-8489EB1DFBD5}"/>
              </a:ext>
            </a:extLst>
          </p:cNvPr>
          <p:cNvSpPr txBox="1"/>
          <p:nvPr/>
        </p:nvSpPr>
        <p:spPr>
          <a:xfrm>
            <a:off x="7128331" y="2530682"/>
            <a:ext cx="4154569" cy="2102883"/>
          </a:xfrm>
          <a:prstGeom prst="rect">
            <a:avLst/>
          </a:prstGeom>
          <a:noFill/>
        </p:spPr>
        <p:txBody>
          <a:bodyPr wrap="square">
            <a:spAutoFit/>
          </a:bodyPr>
          <a:lstStyle/>
          <a:p>
            <a:pPr marL="0" indent="0">
              <a:lnSpc>
                <a:spcPct val="110000"/>
              </a:lnSpc>
              <a:buNone/>
            </a:pPr>
            <a:r>
              <a:rPr lang="fr-FR" sz="2400" dirty="0"/>
              <a:t>Mais cela oblige à </a:t>
            </a:r>
            <a:r>
              <a:rPr lang="fr-FR" sz="2400" dirty="0" err="1"/>
              <a:t>caster</a:t>
            </a:r>
            <a:r>
              <a:rPr lang="fr-FR" sz="2400" dirty="0"/>
              <a:t> le résultat de </a:t>
            </a:r>
            <a:r>
              <a:rPr lang="fr-FR" sz="2000" dirty="0" err="1">
                <a:solidFill>
                  <a:schemeClr val="accent4"/>
                </a:solidFill>
                <a:latin typeface="Consolas" panose="020B0609020204030204" pitchFamily="49" charset="0"/>
                <a:cs typeface="Consolas" panose="020B0609020204030204" pitchFamily="49" charset="0"/>
              </a:rPr>
              <a:t>getPremier</a:t>
            </a:r>
            <a:r>
              <a:rPr lang="fr-FR" sz="2000" dirty="0">
                <a:solidFill>
                  <a:schemeClr val="accent4"/>
                </a:solidFill>
                <a:latin typeface="Consolas" panose="020B0609020204030204" pitchFamily="49" charset="0"/>
                <a:cs typeface="Consolas" panose="020B0609020204030204" pitchFamily="49" charset="0"/>
              </a:rPr>
              <a:t>()</a:t>
            </a:r>
            <a:r>
              <a:rPr lang="fr-FR" sz="2400" dirty="0"/>
              <a:t>, avec un risque d’erreur si l’objet qu’on récupère n’est pas du bon type…</a:t>
            </a:r>
            <a:endParaRPr lang="fr-FR" sz="2400" dirty="0">
              <a:solidFill>
                <a:srgbClr val="A6082B"/>
              </a:solidFill>
              <a:latin typeface="Consolas"/>
              <a:cs typeface="Consolas"/>
            </a:endParaRPr>
          </a:p>
        </p:txBody>
      </p:sp>
    </p:spTree>
    <p:extLst>
      <p:ext uri="{BB962C8B-B14F-4D97-AF65-F5344CB8AC3E}">
        <p14:creationId xmlns:p14="http://schemas.microsoft.com/office/powerpoint/2010/main" val="3073397349"/>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Exemple de classe générique</a:t>
            </a:r>
          </a:p>
        </p:txBody>
      </p:sp>
      <p:sp>
        <p:nvSpPr>
          <p:cNvPr id="9" name="Espace réservé du contenu 8"/>
          <p:cNvSpPr>
            <a:spLocks noGrp="1"/>
          </p:cNvSpPr>
          <p:nvPr>
            <p:ph idx="1"/>
          </p:nvPr>
        </p:nvSpPr>
        <p:spPr>
          <a:xfrm>
            <a:off x="838200" y="5354425"/>
            <a:ext cx="10515600" cy="822537"/>
          </a:xfrm>
        </p:spPr>
        <p:txBody>
          <a:bodyPr>
            <a:noAutofit/>
          </a:bodyPr>
          <a:lstStyle/>
          <a:p>
            <a:pPr marL="0" indent="0">
              <a:buNone/>
            </a:pPr>
            <a:r>
              <a:rPr lang="fr-FR" sz="2400" dirty="0"/>
              <a:t>Dans le code, </a:t>
            </a:r>
            <a:r>
              <a:rPr lang="fr-BE" sz="2400" u="sng" dirty="0" err="1">
                <a:solidFill>
                  <a:schemeClr val="accent4"/>
                </a:solidFill>
                <a:effectLst/>
                <a:latin typeface="Consolas" panose="020B0609020204030204" pitchFamily="49" charset="0"/>
                <a:cs typeface="Consolas" panose="020B0609020204030204" pitchFamily="49" charset="0"/>
              </a:rPr>
              <a:t>T</a:t>
            </a:r>
            <a:r>
              <a:rPr lang="fr-FR" sz="2400" dirty="0"/>
              <a:t> représente un type quelconque, qui est utilisé à différents endroits de la classe, là où un type précis pourrait l’être.</a:t>
            </a:r>
          </a:p>
        </p:txBody>
      </p:sp>
      <p:sp>
        <p:nvSpPr>
          <p:cNvPr id="6" name="ZoneTexte 5">
            <a:extLst>
              <a:ext uri="{FF2B5EF4-FFF2-40B4-BE49-F238E27FC236}">
                <a16:creationId xmlns:a16="http://schemas.microsoft.com/office/drawing/2014/main" id="{84060AC3-F641-7846-4859-37A834D66F27}"/>
              </a:ext>
            </a:extLst>
          </p:cNvPr>
          <p:cNvSpPr txBox="1"/>
          <p:nvPr/>
        </p:nvSpPr>
        <p:spPr>
          <a:xfrm>
            <a:off x="2900913" y="1413063"/>
            <a:ext cx="7280035" cy="3785652"/>
          </a:xfrm>
          <a:prstGeom prst="rect">
            <a:avLst/>
          </a:prstGeom>
          <a:solidFill>
            <a:srgbClr val="2B2B2B"/>
          </a:solidFill>
        </p:spPr>
        <p:txBody>
          <a:bodyPr wrap="square">
            <a:spAutoFit/>
          </a:bodyPr>
          <a:lstStyle/>
          <a:p>
            <a:r>
              <a:rPr lang="fr-BE" sz="1600" dirty="0">
                <a:solidFill>
                  <a:srgbClr val="CC7832"/>
                </a:solidFill>
                <a:effectLst/>
                <a:latin typeface="Consolas" panose="020B0609020204030204" pitchFamily="49" charset="0"/>
                <a:cs typeface="Consolas" panose="020B0609020204030204" pitchFamily="49" charset="0"/>
              </a:rPr>
              <a:t>public class </a:t>
            </a:r>
            <a:r>
              <a:rPr lang="fr-BE" sz="1600" dirty="0">
                <a:latin typeface="Consolas" panose="020B0609020204030204" pitchFamily="49" charset="0"/>
                <a:cs typeface="Consolas" panose="020B0609020204030204" pitchFamily="49" charset="0"/>
              </a:rPr>
              <a:t>Couple&lt;</a:t>
            </a:r>
            <a:r>
              <a:rPr lang="fr-BE" sz="1600" dirty="0" err="1">
                <a:solidFill>
                  <a:srgbClr val="507874"/>
                </a:solidFill>
                <a:effectLst/>
                <a:latin typeface="Consolas" panose="020B0609020204030204" pitchFamily="49" charset="0"/>
                <a:cs typeface="Consolas" panose="020B0609020204030204" pitchFamily="49" charset="0"/>
              </a:rPr>
              <a:t>T</a:t>
            </a:r>
            <a:r>
              <a:rPr lang="fr-BE" sz="1600" dirty="0">
                <a:latin typeface="Consolas" panose="020B0609020204030204" pitchFamily="49" charset="0"/>
                <a:cs typeface="Consolas" panose="020B0609020204030204" pitchFamily="49" charset="0"/>
              </a:rPr>
              <a:t>&gt;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solidFill>
                  <a:srgbClr val="CC7832"/>
                </a:solidFill>
                <a:effectLst/>
                <a:latin typeface="Consolas" panose="020B0609020204030204" pitchFamily="49" charset="0"/>
                <a:cs typeface="Consolas" panose="020B0609020204030204" pitchFamily="49" charset="0"/>
              </a:rPr>
              <a:t>private</a:t>
            </a:r>
            <a:r>
              <a:rPr lang="fr-BE" sz="1600" dirty="0">
                <a:solidFill>
                  <a:srgbClr val="CC7832"/>
                </a:solidFill>
                <a:effectLst/>
                <a:latin typeface="Consolas" panose="020B0609020204030204" pitchFamily="49" charset="0"/>
                <a:cs typeface="Consolas" panose="020B0609020204030204" pitchFamily="49" charset="0"/>
              </a:rPr>
              <a:t> </a:t>
            </a:r>
            <a:r>
              <a:rPr lang="fr-BE" sz="1600" dirty="0" err="1">
                <a:solidFill>
                  <a:srgbClr val="507874"/>
                </a:solidFill>
                <a:effectLst/>
                <a:latin typeface="Consolas" panose="020B0609020204030204" pitchFamily="49" charset="0"/>
                <a:cs typeface="Consolas" panose="020B0609020204030204" pitchFamily="49" charset="0"/>
              </a:rPr>
              <a:t>T</a:t>
            </a:r>
            <a:r>
              <a:rPr lang="fr-BE" sz="1600" dirty="0">
                <a:solidFill>
                  <a:srgbClr val="507874"/>
                </a:solidFill>
                <a:effectLst/>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x</a:t>
            </a:r>
            <a:r>
              <a:rPr lang="fr-BE" sz="1600" dirty="0">
                <a:solidFill>
                  <a:srgbClr val="CC7832"/>
                </a:solidFill>
                <a:effectLst/>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y</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br>
              <a:rPr lang="fr-BE" sz="1600" dirty="0">
                <a:solidFill>
                  <a:srgbClr val="CC7832"/>
                </a:solidFill>
                <a:effectLst/>
                <a:latin typeface="Consolas" panose="020B0609020204030204" pitchFamily="49" charset="0"/>
                <a:cs typeface="Consolas" panose="020B0609020204030204" pitchFamily="49" charset="0"/>
              </a:rPr>
            </a:br>
            <a:r>
              <a:rPr lang="fr-BE" sz="1600" dirty="0">
                <a:solidFill>
                  <a:srgbClr val="CC7832"/>
                </a:solidFill>
                <a:effectLst/>
                <a:latin typeface="Consolas" panose="020B0609020204030204" pitchFamily="49" charset="0"/>
                <a:cs typeface="Consolas" panose="020B0609020204030204" pitchFamily="49" charset="0"/>
              </a:rPr>
              <a:t>    public </a:t>
            </a:r>
            <a:r>
              <a:rPr lang="fr-BE" sz="1600" dirty="0">
                <a:solidFill>
                  <a:srgbClr val="FFC66D"/>
                </a:solidFill>
                <a:effectLst/>
                <a:latin typeface="Consolas" panose="020B0609020204030204" pitchFamily="49" charset="0"/>
                <a:cs typeface="Consolas" panose="020B0609020204030204" pitchFamily="49" charset="0"/>
              </a:rPr>
              <a:t>Couple</a:t>
            </a:r>
            <a:r>
              <a:rPr lang="fr-BE" sz="1600" dirty="0">
                <a:latin typeface="Consolas" panose="020B0609020204030204" pitchFamily="49" charset="0"/>
                <a:cs typeface="Consolas" panose="020B0609020204030204" pitchFamily="49" charset="0"/>
              </a:rPr>
              <a:t>(</a:t>
            </a:r>
            <a:r>
              <a:rPr lang="fr-BE" sz="1600" dirty="0" err="1">
                <a:solidFill>
                  <a:srgbClr val="507874"/>
                </a:solidFill>
                <a:effectLst/>
                <a:latin typeface="Consolas" panose="020B0609020204030204" pitchFamily="49" charset="0"/>
                <a:cs typeface="Consolas" panose="020B0609020204030204" pitchFamily="49" charset="0"/>
              </a:rPr>
              <a:t>T</a:t>
            </a:r>
            <a:r>
              <a:rPr lang="fr-BE" sz="1600" dirty="0">
                <a:solidFill>
                  <a:srgbClr val="507874"/>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premier</a:t>
            </a:r>
            <a:r>
              <a:rPr lang="fr-BE" sz="1600" dirty="0">
                <a:solidFill>
                  <a:srgbClr val="CC7832"/>
                </a:solidFill>
                <a:effectLst/>
                <a:latin typeface="Consolas" panose="020B0609020204030204" pitchFamily="49" charset="0"/>
                <a:cs typeface="Consolas" panose="020B0609020204030204" pitchFamily="49" charset="0"/>
              </a:rPr>
              <a:t>, </a:t>
            </a:r>
            <a:r>
              <a:rPr lang="fr-BE" sz="1600" dirty="0" err="1">
                <a:solidFill>
                  <a:srgbClr val="507874"/>
                </a:solidFill>
                <a:effectLst/>
                <a:latin typeface="Consolas" panose="020B0609020204030204" pitchFamily="49" charset="0"/>
                <a:cs typeface="Consolas" panose="020B0609020204030204" pitchFamily="49" charset="0"/>
              </a:rPr>
              <a:t>T</a:t>
            </a:r>
            <a:r>
              <a:rPr lang="fr-BE" sz="1600" dirty="0">
                <a:solidFill>
                  <a:srgbClr val="507874"/>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second)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x </a:t>
            </a:r>
            <a:r>
              <a:rPr lang="fr-BE" sz="1600" dirty="0">
                <a:latin typeface="Consolas" panose="020B0609020204030204" pitchFamily="49" charset="0"/>
                <a:cs typeface="Consolas" panose="020B0609020204030204" pitchFamily="49" charset="0"/>
              </a:rPr>
              <a:t>= premier</a:t>
            </a:r>
            <a:r>
              <a:rPr lang="fr-BE" sz="1600" dirty="0">
                <a:solidFill>
                  <a:srgbClr val="CC7832"/>
                </a:solidFill>
                <a:effectLst/>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y </a:t>
            </a:r>
            <a:r>
              <a:rPr lang="fr-BE" sz="1600" dirty="0">
                <a:latin typeface="Consolas" panose="020B0609020204030204" pitchFamily="49" charset="0"/>
                <a:cs typeface="Consolas" panose="020B0609020204030204" pitchFamily="49" charset="0"/>
              </a:rPr>
              <a:t>= second</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solidFill>
                  <a:srgbClr val="CC7832"/>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a:t>
            </a:r>
            <a:br>
              <a:rPr lang="fr-BE" sz="1600" dirty="0">
                <a:latin typeface="Consolas" panose="020B0609020204030204" pitchFamily="49" charset="0"/>
                <a:cs typeface="Consolas" panose="020B0609020204030204" pitchFamily="49" charset="0"/>
              </a:rPr>
            </a:b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a:solidFill>
                  <a:srgbClr val="CC7832"/>
                </a:solidFill>
                <a:effectLst/>
                <a:latin typeface="Consolas" panose="020B0609020204030204" pitchFamily="49" charset="0"/>
                <a:cs typeface="Consolas" panose="020B0609020204030204" pitchFamily="49" charset="0"/>
              </a:rPr>
              <a:t>public </a:t>
            </a:r>
            <a:r>
              <a:rPr lang="fr-BE" sz="1600" dirty="0" err="1">
                <a:solidFill>
                  <a:srgbClr val="CC7832"/>
                </a:solidFill>
                <a:effectLst/>
                <a:latin typeface="Consolas" panose="020B0609020204030204" pitchFamily="49" charset="0"/>
                <a:cs typeface="Consolas" panose="020B0609020204030204" pitchFamily="49" charset="0"/>
              </a:rPr>
              <a:t>void</a:t>
            </a:r>
            <a:r>
              <a:rPr lang="fr-BE" sz="1600" dirty="0">
                <a:solidFill>
                  <a:srgbClr val="CC7832"/>
                </a:solidFill>
                <a:effectLst/>
                <a:latin typeface="Consolas" panose="020B0609020204030204" pitchFamily="49" charset="0"/>
                <a:cs typeface="Consolas" panose="020B0609020204030204" pitchFamily="49" charset="0"/>
              </a:rPr>
              <a:t> </a:t>
            </a:r>
            <a:r>
              <a:rPr lang="fr-BE" sz="1600" dirty="0">
                <a:solidFill>
                  <a:srgbClr val="FFC66D"/>
                </a:solidFill>
                <a:effectLst/>
                <a:latin typeface="Consolas" panose="020B0609020204030204" pitchFamily="49" charset="0"/>
                <a:cs typeface="Consolas" panose="020B0609020204030204" pitchFamily="49" charset="0"/>
              </a:rPr>
              <a:t>affiche</a:t>
            </a:r>
            <a:r>
              <a:rPr lang="fr-BE" sz="1600" dirty="0">
                <a:latin typeface="Consolas" panose="020B0609020204030204" pitchFamily="49" charset="0"/>
                <a:cs typeface="Consolas" panose="020B0609020204030204" pitchFamily="49" charset="0"/>
              </a:rPr>
              <a: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System.</a:t>
            </a:r>
            <a:r>
              <a:rPr lang="fr-BE" sz="1600" i="1" dirty="0" err="1">
                <a:solidFill>
                  <a:srgbClr val="9876AA"/>
                </a:solidFill>
                <a:effectLst/>
                <a:latin typeface="Consolas" panose="020B0609020204030204" pitchFamily="49" charset="0"/>
                <a:cs typeface="Consolas" panose="020B0609020204030204" pitchFamily="49" charset="0"/>
              </a:rPr>
              <a:t>out</a:t>
            </a:r>
            <a:r>
              <a:rPr lang="fr-BE" sz="1600" dirty="0" err="1">
                <a:latin typeface="Consolas" panose="020B0609020204030204" pitchFamily="49" charset="0"/>
                <a:cs typeface="Consolas" panose="020B0609020204030204" pitchFamily="49" charset="0"/>
              </a:rPr>
              <a:t>.println</a:t>
            </a:r>
            <a:r>
              <a:rPr lang="fr-BE" sz="1600" dirty="0">
                <a:latin typeface="Consolas" panose="020B0609020204030204" pitchFamily="49" charset="0"/>
                <a:cs typeface="Consolas" panose="020B0609020204030204" pitchFamily="49" charset="0"/>
              </a:rPr>
              <a:t>(</a:t>
            </a:r>
            <a:r>
              <a:rPr lang="fr-BE" sz="1600" dirty="0">
                <a:solidFill>
                  <a:srgbClr val="6A8759"/>
                </a:solidFill>
                <a:effectLst/>
                <a:latin typeface="Consolas" panose="020B0609020204030204" pitchFamily="49" charset="0"/>
                <a:cs typeface="Consolas" panose="020B0609020204030204" pitchFamily="49" charset="0"/>
              </a:rPr>
              <a:t>"premier:" </a:t>
            </a:r>
            <a:r>
              <a:rPr lang="fr-BE" sz="1600" dirty="0">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x </a:t>
            </a:r>
            <a:r>
              <a:rPr lang="fr-BE" sz="1600" dirty="0">
                <a:latin typeface="Consolas" panose="020B0609020204030204" pitchFamily="49" charset="0"/>
                <a:cs typeface="Consolas" panose="020B0609020204030204" pitchFamily="49" charset="0"/>
              </a:rPr>
              <a:t>+ </a:t>
            </a:r>
            <a:r>
              <a:rPr lang="fr-BE" sz="1600" dirty="0">
                <a:solidFill>
                  <a:srgbClr val="6A8759"/>
                </a:solidFill>
                <a:effectLst/>
                <a:latin typeface="Consolas" panose="020B0609020204030204" pitchFamily="49" charset="0"/>
                <a:cs typeface="Consolas" panose="020B0609020204030204" pitchFamily="49" charset="0"/>
              </a:rPr>
              <a:t>", second:" </a:t>
            </a:r>
            <a:r>
              <a:rPr lang="fr-BE" sz="1600" dirty="0">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y</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solidFill>
                  <a:srgbClr val="CC7832"/>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a:t>
            </a:r>
            <a:br>
              <a:rPr lang="fr-BE" sz="1600" dirty="0">
                <a:latin typeface="Consolas" panose="020B0609020204030204" pitchFamily="49" charset="0"/>
                <a:cs typeface="Consolas" panose="020B0609020204030204" pitchFamily="49" charset="0"/>
              </a:rPr>
            </a:b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a:solidFill>
                  <a:srgbClr val="CC7832"/>
                </a:solidFill>
                <a:effectLst/>
                <a:latin typeface="Consolas" panose="020B0609020204030204" pitchFamily="49" charset="0"/>
                <a:cs typeface="Consolas" panose="020B0609020204030204" pitchFamily="49" charset="0"/>
              </a:rPr>
              <a:t>public </a:t>
            </a:r>
            <a:r>
              <a:rPr lang="fr-BE" sz="1600" dirty="0" err="1">
                <a:solidFill>
                  <a:srgbClr val="507874"/>
                </a:solidFill>
                <a:effectLst/>
                <a:latin typeface="Consolas" panose="020B0609020204030204" pitchFamily="49" charset="0"/>
                <a:cs typeface="Consolas" panose="020B0609020204030204" pitchFamily="49" charset="0"/>
              </a:rPr>
              <a:t>T</a:t>
            </a:r>
            <a:r>
              <a:rPr lang="fr-BE" sz="1600" dirty="0">
                <a:solidFill>
                  <a:srgbClr val="507874"/>
                </a:solidFill>
                <a:effectLst/>
                <a:latin typeface="Consolas" panose="020B0609020204030204" pitchFamily="49" charset="0"/>
                <a:cs typeface="Consolas" panose="020B0609020204030204" pitchFamily="49" charset="0"/>
              </a:rPr>
              <a:t> </a:t>
            </a:r>
            <a:r>
              <a:rPr lang="fr-BE" sz="1600" dirty="0" err="1">
                <a:solidFill>
                  <a:srgbClr val="FFC66D"/>
                </a:solidFill>
                <a:effectLst/>
                <a:latin typeface="Consolas" panose="020B0609020204030204" pitchFamily="49" charset="0"/>
                <a:cs typeface="Consolas" panose="020B0609020204030204" pitchFamily="49" charset="0"/>
              </a:rPr>
              <a:t>getPremier</a:t>
            </a:r>
            <a:r>
              <a:rPr lang="fr-BE" sz="1600" dirty="0">
                <a:latin typeface="Consolas" panose="020B0609020204030204" pitchFamily="49" charset="0"/>
                <a:cs typeface="Consolas" panose="020B0609020204030204" pitchFamily="49" charset="0"/>
              </a:rPr>
              <a: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a:solidFill>
                  <a:srgbClr val="CC7832"/>
                </a:solidFill>
                <a:effectLst/>
                <a:latin typeface="Consolas" panose="020B0609020204030204" pitchFamily="49" charset="0"/>
                <a:cs typeface="Consolas" panose="020B0609020204030204" pitchFamily="49" charset="0"/>
              </a:rPr>
              <a:t>return </a:t>
            </a:r>
            <a:r>
              <a:rPr lang="fr-BE" sz="1600" dirty="0">
                <a:solidFill>
                  <a:srgbClr val="9876AA"/>
                </a:solidFill>
                <a:effectLst/>
                <a:latin typeface="Consolas" panose="020B0609020204030204" pitchFamily="49" charset="0"/>
                <a:cs typeface="Consolas" panose="020B0609020204030204" pitchFamily="49" charset="0"/>
              </a:rPr>
              <a:t>x</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solidFill>
                  <a:srgbClr val="CC7832"/>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2947931811"/>
      </p:ext>
    </p:extLst>
  </p:cSld>
  <p:clrMapOvr>
    <a:masterClrMapping/>
  </p:clrMapOvr>
  <p:transition>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Exemple de classe générique</a:t>
            </a:r>
          </a:p>
        </p:txBody>
      </p:sp>
      <p:sp>
        <p:nvSpPr>
          <p:cNvPr id="9" name="Espace réservé du contenu 8"/>
          <p:cNvSpPr>
            <a:spLocks noGrp="1"/>
          </p:cNvSpPr>
          <p:nvPr>
            <p:ph idx="1"/>
          </p:nvPr>
        </p:nvSpPr>
        <p:spPr/>
        <p:txBody>
          <a:bodyPr>
            <a:noAutofit/>
          </a:bodyPr>
          <a:lstStyle/>
          <a:p>
            <a:pPr marL="0" indent="0">
              <a:buNone/>
            </a:pPr>
            <a:r>
              <a:rPr lang="fr-FR" dirty="0"/>
              <a:t>Remarques</a:t>
            </a:r>
          </a:p>
          <a:p>
            <a:pPr marL="342900" indent="-342900"/>
            <a:r>
              <a:rPr lang="fr-FR" dirty="0"/>
              <a:t>Le nom du paramètre (ici </a:t>
            </a:r>
            <a:r>
              <a:rPr lang="fr-FR" sz="2600" dirty="0" err="1">
                <a:solidFill>
                  <a:schemeClr val="accent4"/>
                </a:solidFill>
                <a:latin typeface="Consolas"/>
                <a:cs typeface="Consolas"/>
              </a:rPr>
              <a:t>T</a:t>
            </a:r>
            <a:r>
              <a:rPr lang="fr-FR" dirty="0"/>
              <a:t>) peut être n’importe quel identificateur. Pour que le code reste lisible on recommande l’utilisation </a:t>
            </a:r>
            <a:r>
              <a:rPr lang="fr-FR" dirty="0">
                <a:solidFill>
                  <a:schemeClr val="accent4"/>
                </a:solidFill>
              </a:rPr>
              <a:t>d’une seule lettre Majuscule</a:t>
            </a:r>
            <a:r>
              <a:rPr lang="fr-FR" dirty="0"/>
              <a:t>.</a:t>
            </a:r>
          </a:p>
          <a:p>
            <a:pPr marL="342900" indent="-342900"/>
            <a:r>
              <a:rPr lang="fr-FR" dirty="0"/>
              <a:t>Notez que la méthode </a:t>
            </a:r>
            <a:r>
              <a:rPr lang="fr-FR" sz="2600" dirty="0">
                <a:solidFill>
                  <a:schemeClr val="accent4"/>
                </a:solidFill>
                <a:latin typeface="Consolas"/>
                <a:cs typeface="Consolas"/>
              </a:rPr>
              <a:t>affiche()</a:t>
            </a:r>
            <a:r>
              <a:rPr lang="fr-FR" dirty="0"/>
              <a:t> se contente d’afficher les chaînes obtenues en appelant </a:t>
            </a:r>
            <a:r>
              <a:rPr lang="fr-FR" sz="2600" dirty="0" err="1">
                <a:solidFill>
                  <a:schemeClr val="accent4"/>
                </a:solidFill>
                <a:latin typeface="Consolas"/>
                <a:cs typeface="Consolas"/>
              </a:rPr>
              <a:t>toString</a:t>
            </a:r>
            <a:r>
              <a:rPr lang="fr-FR" sz="2600" dirty="0">
                <a:solidFill>
                  <a:schemeClr val="accent4"/>
                </a:solidFill>
                <a:latin typeface="Consolas"/>
                <a:cs typeface="Consolas"/>
              </a:rPr>
              <a:t>()</a:t>
            </a:r>
            <a:r>
              <a:rPr lang="fr-FR" dirty="0"/>
              <a:t>.</a:t>
            </a:r>
            <a:r>
              <a:rPr lang="fr-FR" dirty="0">
                <a:solidFill>
                  <a:srgbClr val="A6082B"/>
                </a:solidFill>
                <a:latin typeface="Consolas"/>
                <a:cs typeface="Consolas"/>
              </a:rPr>
              <a:t> </a:t>
            </a:r>
          </a:p>
        </p:txBody>
      </p:sp>
      <p:sp>
        <p:nvSpPr>
          <p:cNvPr id="5" name="ZoneTexte 4">
            <a:extLst>
              <a:ext uri="{FF2B5EF4-FFF2-40B4-BE49-F238E27FC236}">
                <a16:creationId xmlns:a16="http://schemas.microsoft.com/office/drawing/2014/main" id="{C41C31F7-D737-593A-1790-6BF57D3A78C1}"/>
              </a:ext>
            </a:extLst>
          </p:cNvPr>
          <p:cNvSpPr txBox="1"/>
          <p:nvPr/>
        </p:nvSpPr>
        <p:spPr>
          <a:xfrm>
            <a:off x="2900913" y="4834993"/>
            <a:ext cx="7280035" cy="830997"/>
          </a:xfrm>
          <a:prstGeom prst="rect">
            <a:avLst/>
          </a:prstGeom>
          <a:solidFill>
            <a:srgbClr val="2B2B2B"/>
          </a:solidFill>
        </p:spPr>
        <p:txBody>
          <a:bodyPr wrap="square">
            <a:spAutoFit/>
          </a:bodyPr>
          <a:lstStyle/>
          <a:p>
            <a:r>
              <a:rPr lang="fr-BE" sz="1600" dirty="0">
                <a:solidFill>
                  <a:srgbClr val="CC7832"/>
                </a:solidFill>
                <a:effectLst/>
                <a:latin typeface="Consolas" panose="020B0609020204030204" pitchFamily="49" charset="0"/>
                <a:cs typeface="Consolas" panose="020B0609020204030204" pitchFamily="49" charset="0"/>
              </a:rPr>
              <a:t>public </a:t>
            </a:r>
            <a:r>
              <a:rPr lang="fr-BE" sz="1600" dirty="0" err="1">
                <a:solidFill>
                  <a:srgbClr val="CC7832"/>
                </a:solidFill>
                <a:effectLst/>
                <a:latin typeface="Consolas" panose="020B0609020204030204" pitchFamily="49" charset="0"/>
                <a:cs typeface="Consolas" panose="020B0609020204030204" pitchFamily="49" charset="0"/>
              </a:rPr>
              <a:t>void</a:t>
            </a:r>
            <a:r>
              <a:rPr lang="fr-BE" sz="1600" dirty="0">
                <a:solidFill>
                  <a:srgbClr val="CC7832"/>
                </a:solidFill>
                <a:effectLst/>
                <a:latin typeface="Consolas" panose="020B0609020204030204" pitchFamily="49" charset="0"/>
                <a:cs typeface="Consolas" panose="020B0609020204030204" pitchFamily="49" charset="0"/>
              </a:rPr>
              <a:t> </a:t>
            </a:r>
            <a:r>
              <a:rPr lang="fr-BE" sz="1600" dirty="0">
                <a:solidFill>
                  <a:srgbClr val="FFC66D"/>
                </a:solidFill>
                <a:effectLst/>
                <a:latin typeface="Consolas" panose="020B0609020204030204" pitchFamily="49" charset="0"/>
                <a:cs typeface="Consolas" panose="020B0609020204030204" pitchFamily="49" charset="0"/>
              </a:rPr>
              <a:t>affiche</a:t>
            </a:r>
            <a:r>
              <a:rPr lang="fr-BE" sz="1600" dirty="0">
                <a:latin typeface="Consolas" panose="020B0609020204030204" pitchFamily="49" charset="0"/>
                <a:cs typeface="Consolas" panose="020B0609020204030204" pitchFamily="49" charset="0"/>
              </a:rPr>
              <a: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System.</a:t>
            </a:r>
            <a:r>
              <a:rPr lang="fr-BE" sz="1600" i="1" dirty="0" err="1">
                <a:solidFill>
                  <a:srgbClr val="9876AA"/>
                </a:solidFill>
                <a:effectLst/>
                <a:latin typeface="Consolas" panose="020B0609020204030204" pitchFamily="49" charset="0"/>
                <a:cs typeface="Consolas" panose="020B0609020204030204" pitchFamily="49" charset="0"/>
              </a:rPr>
              <a:t>out</a:t>
            </a:r>
            <a:r>
              <a:rPr lang="fr-BE" sz="1600" dirty="0" err="1">
                <a:latin typeface="Consolas" panose="020B0609020204030204" pitchFamily="49" charset="0"/>
                <a:cs typeface="Consolas" panose="020B0609020204030204" pitchFamily="49" charset="0"/>
              </a:rPr>
              <a:t>.println</a:t>
            </a:r>
            <a:r>
              <a:rPr lang="fr-BE" sz="1600" dirty="0">
                <a:latin typeface="Consolas" panose="020B0609020204030204" pitchFamily="49" charset="0"/>
                <a:cs typeface="Consolas" panose="020B0609020204030204" pitchFamily="49" charset="0"/>
              </a:rPr>
              <a:t>(</a:t>
            </a:r>
            <a:r>
              <a:rPr lang="fr-BE" sz="1600" dirty="0">
                <a:solidFill>
                  <a:srgbClr val="6A8759"/>
                </a:solidFill>
                <a:effectLst/>
                <a:latin typeface="Consolas" panose="020B0609020204030204" pitchFamily="49" charset="0"/>
                <a:cs typeface="Consolas" panose="020B0609020204030204" pitchFamily="49" charset="0"/>
              </a:rPr>
              <a:t>"premier:" </a:t>
            </a:r>
            <a:r>
              <a:rPr lang="fr-BE" sz="1600" dirty="0">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x </a:t>
            </a:r>
            <a:r>
              <a:rPr lang="fr-BE" sz="1600" dirty="0">
                <a:latin typeface="Consolas" panose="020B0609020204030204" pitchFamily="49" charset="0"/>
                <a:cs typeface="Consolas" panose="020B0609020204030204" pitchFamily="49" charset="0"/>
              </a:rPr>
              <a:t>+ </a:t>
            </a:r>
            <a:r>
              <a:rPr lang="fr-BE" sz="1600" dirty="0">
                <a:solidFill>
                  <a:srgbClr val="6A8759"/>
                </a:solidFill>
                <a:effectLst/>
                <a:latin typeface="Consolas" panose="020B0609020204030204" pitchFamily="49" charset="0"/>
                <a:cs typeface="Consolas" panose="020B0609020204030204" pitchFamily="49" charset="0"/>
              </a:rPr>
              <a:t>", second:" </a:t>
            </a:r>
            <a:r>
              <a:rPr lang="fr-BE" sz="1600" dirty="0">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y</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902080996"/>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Utilisation de classe générique</a:t>
            </a:r>
          </a:p>
        </p:txBody>
      </p:sp>
      <p:sp>
        <p:nvSpPr>
          <p:cNvPr id="9" name="Espace réservé du contenu 8"/>
          <p:cNvSpPr>
            <a:spLocks noGrp="1"/>
          </p:cNvSpPr>
          <p:nvPr>
            <p:ph idx="1"/>
          </p:nvPr>
        </p:nvSpPr>
        <p:spPr>
          <a:xfrm>
            <a:off x="838200" y="1825625"/>
            <a:ext cx="10515600" cy="2872923"/>
          </a:xfrm>
        </p:spPr>
        <p:txBody>
          <a:bodyPr>
            <a:normAutofit/>
          </a:bodyPr>
          <a:lstStyle/>
          <a:p>
            <a:pPr marL="0" indent="0">
              <a:lnSpc>
                <a:spcPct val="110000"/>
              </a:lnSpc>
              <a:buNone/>
            </a:pPr>
            <a:r>
              <a:rPr lang="fr-FR" sz="2200" dirty="0"/>
              <a:t>Lors de </a:t>
            </a:r>
            <a:r>
              <a:rPr lang="fr-FR" sz="2200" dirty="0">
                <a:solidFill>
                  <a:schemeClr val="accent4"/>
                </a:solidFill>
              </a:rPr>
              <a:t>la déclaration</a:t>
            </a:r>
            <a:r>
              <a:rPr lang="fr-FR" sz="2200" dirty="0"/>
              <a:t> d’un objet de la classe </a:t>
            </a:r>
            <a:r>
              <a:rPr lang="fr-FR" sz="2200" dirty="0">
                <a:solidFill>
                  <a:schemeClr val="accent4"/>
                </a:solidFill>
                <a:latin typeface="Consolas"/>
                <a:cs typeface="Consolas"/>
              </a:rPr>
              <a:t>Couple</a:t>
            </a:r>
            <a:r>
              <a:rPr lang="fr-FR" sz="2200" dirty="0"/>
              <a:t>, il faudra spécifier le type effectif correspondant au paramètre </a:t>
            </a:r>
            <a:r>
              <a:rPr lang="fr-FR" sz="2200" dirty="0" err="1">
                <a:solidFill>
                  <a:schemeClr val="accent4"/>
                </a:solidFill>
                <a:latin typeface="Consolas"/>
                <a:cs typeface="Consolas"/>
              </a:rPr>
              <a:t>T</a:t>
            </a:r>
            <a:r>
              <a:rPr lang="fr-FR" sz="2200" dirty="0"/>
              <a:t>.</a:t>
            </a:r>
          </a:p>
        </p:txBody>
      </p:sp>
      <p:sp>
        <p:nvSpPr>
          <p:cNvPr id="5" name="Bulle rectangulaire 4">
            <a:extLst>
              <a:ext uri="{FF2B5EF4-FFF2-40B4-BE49-F238E27FC236}">
                <a16:creationId xmlns:a16="http://schemas.microsoft.com/office/drawing/2014/main" id="{258EF410-0F21-CA4A-9EC5-18D044A9BBEA}"/>
              </a:ext>
            </a:extLst>
          </p:cNvPr>
          <p:cNvSpPr/>
          <p:nvPr/>
        </p:nvSpPr>
        <p:spPr>
          <a:xfrm>
            <a:off x="4159117" y="2676514"/>
            <a:ext cx="3464417" cy="334850"/>
          </a:xfrm>
          <a:prstGeom prst="wedgeRectCallout">
            <a:avLst>
              <a:gd name="adj1" fmla="val -60610"/>
              <a:gd name="adj2" fmla="val -144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Un couple d’entiers</a:t>
            </a:r>
          </a:p>
        </p:txBody>
      </p:sp>
      <p:sp>
        <p:nvSpPr>
          <p:cNvPr id="7" name="Bulle rectangulaire 6">
            <a:extLst>
              <a:ext uri="{FF2B5EF4-FFF2-40B4-BE49-F238E27FC236}">
                <a16:creationId xmlns:a16="http://schemas.microsoft.com/office/drawing/2014/main" id="{0EB5FB8A-60EA-7243-B1BC-BBB74FDA1085}"/>
              </a:ext>
            </a:extLst>
          </p:cNvPr>
          <p:cNvSpPr/>
          <p:nvPr/>
        </p:nvSpPr>
        <p:spPr>
          <a:xfrm>
            <a:off x="4491983" y="3237256"/>
            <a:ext cx="3464417" cy="334850"/>
          </a:xfrm>
          <a:prstGeom prst="wedgeRectCallout">
            <a:avLst>
              <a:gd name="adj1" fmla="val -67945"/>
              <a:gd name="adj2" fmla="val -728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Un couple de points</a:t>
            </a:r>
          </a:p>
        </p:txBody>
      </p:sp>
      <p:sp>
        <p:nvSpPr>
          <p:cNvPr id="13" name="ZoneTexte 12">
            <a:extLst>
              <a:ext uri="{FF2B5EF4-FFF2-40B4-BE49-F238E27FC236}">
                <a16:creationId xmlns:a16="http://schemas.microsoft.com/office/drawing/2014/main" id="{B6F1F7CF-3ADE-B9DC-5732-DE017B207C15}"/>
              </a:ext>
            </a:extLst>
          </p:cNvPr>
          <p:cNvSpPr txBox="1"/>
          <p:nvPr/>
        </p:nvSpPr>
        <p:spPr>
          <a:xfrm>
            <a:off x="1088796" y="2636284"/>
            <a:ext cx="2804474" cy="923330"/>
          </a:xfrm>
          <a:prstGeom prst="rect">
            <a:avLst/>
          </a:prstGeom>
          <a:solidFill>
            <a:srgbClr val="2B2B2B"/>
          </a:solidFill>
        </p:spPr>
        <p:txBody>
          <a:bodyPr wrap="square">
            <a:spAutoFit/>
          </a:bodyPr>
          <a:lstStyle/>
          <a:p>
            <a:r>
              <a:rPr lang="fr-BE" dirty="0">
                <a:latin typeface="Consolas" panose="020B0609020204030204" pitchFamily="49" charset="0"/>
                <a:cs typeface="Consolas" panose="020B0609020204030204" pitchFamily="49" charset="0"/>
              </a:rPr>
              <a:t>Couple&lt;Integer&gt; ci</a:t>
            </a:r>
            <a:r>
              <a:rPr lang="fr-BE" dirty="0">
                <a:solidFill>
                  <a:srgbClr val="CC7832"/>
                </a:solidFill>
                <a:effectLst/>
                <a:latin typeface="Consolas" panose="020B0609020204030204" pitchFamily="49" charset="0"/>
                <a:cs typeface="Consolas" panose="020B0609020204030204" pitchFamily="49" charset="0"/>
              </a:rPr>
              <a:t>;</a:t>
            </a:r>
          </a:p>
          <a:p>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Couple&lt;Point&gt; </a:t>
            </a:r>
            <a:r>
              <a:rPr lang="fr-BE" dirty="0" err="1">
                <a:latin typeface="Consolas" panose="020B0609020204030204" pitchFamily="49" charset="0"/>
                <a:cs typeface="Consolas" panose="020B0609020204030204" pitchFamily="49" charset="0"/>
              </a:rPr>
              <a:t>cp</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15" name="ZoneTexte 14">
            <a:extLst>
              <a:ext uri="{FF2B5EF4-FFF2-40B4-BE49-F238E27FC236}">
                <a16:creationId xmlns:a16="http://schemas.microsoft.com/office/drawing/2014/main" id="{B3D51F76-A89D-A936-EF10-1AC738957194}"/>
              </a:ext>
            </a:extLst>
          </p:cNvPr>
          <p:cNvSpPr txBox="1"/>
          <p:nvPr/>
        </p:nvSpPr>
        <p:spPr>
          <a:xfrm>
            <a:off x="3478491" y="4898497"/>
            <a:ext cx="2974157" cy="369332"/>
          </a:xfrm>
          <a:prstGeom prst="rect">
            <a:avLst/>
          </a:prstGeom>
          <a:solidFill>
            <a:srgbClr val="2B2B2B"/>
          </a:solidFill>
        </p:spPr>
        <p:txBody>
          <a:bodyPr wrap="square">
            <a:spAutoFit/>
          </a:bodyPr>
          <a:lstStyle/>
          <a:p>
            <a:r>
              <a:rPr lang="fr-BE" dirty="0">
                <a:latin typeface="Consolas" panose="020B0609020204030204" pitchFamily="49" charset="0"/>
                <a:cs typeface="Consolas" panose="020B0609020204030204" pitchFamily="49" charset="0"/>
              </a:rPr>
              <a:t>Couple&lt;</a:t>
            </a:r>
            <a:r>
              <a:rPr lang="fr-BE" strike="sngStrike" dirty="0" err="1">
                <a:solidFill>
                  <a:srgbClr val="CC7832"/>
                </a:solidFill>
                <a:effectLst/>
                <a:latin typeface="Consolas" panose="020B0609020204030204" pitchFamily="49" charset="0"/>
                <a:cs typeface="Consolas" panose="020B0609020204030204" pitchFamily="49" charset="0"/>
              </a:rPr>
              <a:t>int</a:t>
            </a:r>
            <a:r>
              <a:rPr lang="fr-BE" dirty="0">
                <a:latin typeface="Consolas" panose="020B0609020204030204" pitchFamily="49" charset="0"/>
                <a:cs typeface="Consolas" panose="020B0609020204030204" pitchFamily="49" charset="0"/>
              </a:rPr>
              <a:t>&gt; couple</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17" name="ZoneTexte 16">
            <a:extLst>
              <a:ext uri="{FF2B5EF4-FFF2-40B4-BE49-F238E27FC236}">
                <a16:creationId xmlns:a16="http://schemas.microsoft.com/office/drawing/2014/main" id="{7EA4711B-6723-5C3F-7510-D9A5869BC3DB}"/>
              </a:ext>
            </a:extLst>
          </p:cNvPr>
          <p:cNvSpPr txBox="1"/>
          <p:nvPr/>
        </p:nvSpPr>
        <p:spPr>
          <a:xfrm>
            <a:off x="838200" y="4128895"/>
            <a:ext cx="10265004" cy="818109"/>
          </a:xfrm>
          <a:prstGeom prst="rect">
            <a:avLst/>
          </a:prstGeom>
          <a:noFill/>
        </p:spPr>
        <p:txBody>
          <a:bodyPr wrap="square">
            <a:spAutoFit/>
          </a:bodyPr>
          <a:lstStyle/>
          <a:p>
            <a:pPr marL="0" indent="0">
              <a:lnSpc>
                <a:spcPct val="110000"/>
              </a:lnSpc>
              <a:buNone/>
            </a:pPr>
            <a:r>
              <a:rPr lang="fr-FR" sz="2200" dirty="0"/>
              <a:t>Il faut cependant respecter la règle suivante: le type effectif doit être </a:t>
            </a:r>
            <a:r>
              <a:rPr lang="fr-FR" sz="2200" dirty="0">
                <a:solidFill>
                  <a:schemeClr val="accent4"/>
                </a:solidFill>
              </a:rPr>
              <a:t>une classe</a:t>
            </a:r>
            <a:r>
              <a:rPr lang="fr-FR" sz="2200" dirty="0"/>
              <a:t>.</a:t>
            </a:r>
          </a:p>
          <a:p>
            <a:pPr marL="0" indent="0">
              <a:lnSpc>
                <a:spcPct val="110000"/>
              </a:lnSpc>
              <a:buNone/>
            </a:pPr>
            <a:r>
              <a:rPr lang="fr-FR" sz="2200" dirty="0"/>
              <a:t>Impossible d’avoir</a:t>
            </a:r>
            <a:endParaRPr lang="fr-FR" sz="2200" dirty="0">
              <a:solidFill>
                <a:srgbClr val="A6082B"/>
              </a:solidFill>
              <a:latin typeface="Consolas"/>
              <a:cs typeface="Consolas"/>
            </a:endParaRPr>
          </a:p>
        </p:txBody>
      </p:sp>
    </p:spTree>
    <p:extLst>
      <p:ext uri="{BB962C8B-B14F-4D97-AF65-F5344CB8AC3E}">
        <p14:creationId xmlns:p14="http://schemas.microsoft.com/office/powerpoint/2010/main" val="162773758"/>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p:tgtEl>
                                          <p:spTgt spid="5"/>
                                        </p:tgtEl>
                                        <p:attrNameLst>
                                          <p:attrName>ppt_x</p:attrName>
                                        </p:attrNameLst>
                                      </p:cBhvr>
                                      <p:tavLst>
                                        <p:tav tm="0">
                                          <p:val>
                                            <p:strVal val="#ppt_x-#ppt_w*1.125000"/>
                                          </p:val>
                                        </p:tav>
                                        <p:tav tm="100000">
                                          <p:val>
                                            <p:strVal val="#ppt_x"/>
                                          </p:val>
                                        </p:tav>
                                      </p:tavLst>
                                    </p:anim>
                                    <p:animEffect transition="in" filter="wipe(right)">
                                      <p:cBhvr>
                                        <p:cTn id="13" dur="500"/>
                                        <p:tgtEl>
                                          <p:spTgt spid="5"/>
                                        </p:tgtEl>
                                      </p:cBhvr>
                                    </p:animEffect>
                                  </p:childTnLst>
                                </p:cTn>
                              </p:par>
                            </p:childTnLst>
                          </p:cTn>
                        </p:par>
                        <p:par>
                          <p:cTn id="14" fill="hold">
                            <p:stCondLst>
                              <p:cond delay="500"/>
                            </p:stCondLst>
                            <p:childTnLst>
                              <p:par>
                                <p:cTn id="15" presetID="12" presetClass="entr" presetSubtype="8"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p:tgtEl>
                                          <p:spTgt spid="7"/>
                                        </p:tgtEl>
                                        <p:attrNameLst>
                                          <p:attrName>ppt_x</p:attrName>
                                        </p:attrNameLst>
                                      </p:cBhvr>
                                      <p:tavLst>
                                        <p:tav tm="0">
                                          <p:val>
                                            <p:strVal val="#ppt_x-#ppt_w*1.125000"/>
                                          </p:val>
                                        </p:tav>
                                        <p:tav tm="100000">
                                          <p:val>
                                            <p:strVal val="#ppt_x"/>
                                          </p:val>
                                        </p:tav>
                                      </p:tavLst>
                                    </p:anim>
                                    <p:animEffect transition="in" filter="wipe(right)">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animBg="1"/>
      <p:bldP spid="15" grpId="0" animBg="1"/>
      <p:bldP spid="1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Utilisation de classe générique</a:t>
            </a:r>
          </a:p>
        </p:txBody>
      </p:sp>
      <p:sp>
        <p:nvSpPr>
          <p:cNvPr id="9" name="Espace réservé du contenu 8"/>
          <p:cNvSpPr>
            <a:spLocks noGrp="1"/>
          </p:cNvSpPr>
          <p:nvPr>
            <p:ph idx="1"/>
          </p:nvPr>
        </p:nvSpPr>
        <p:spPr>
          <a:xfrm>
            <a:off x="838199" y="1825625"/>
            <a:ext cx="10737915" cy="4351338"/>
          </a:xfrm>
        </p:spPr>
        <p:txBody>
          <a:bodyPr>
            <a:normAutofit/>
          </a:bodyPr>
          <a:lstStyle/>
          <a:p>
            <a:pPr marL="0" indent="0">
              <a:lnSpc>
                <a:spcPct val="110000"/>
              </a:lnSpc>
              <a:buNone/>
            </a:pPr>
            <a:r>
              <a:rPr lang="fr-FR" dirty="0"/>
              <a:t>Lors de </a:t>
            </a:r>
            <a:r>
              <a:rPr lang="fr-FR" dirty="0">
                <a:solidFill>
                  <a:schemeClr val="accent4"/>
                </a:solidFill>
              </a:rPr>
              <a:t>l’instanciation</a:t>
            </a:r>
            <a:r>
              <a:rPr lang="fr-FR" dirty="0"/>
              <a:t> d’un objet de la classe </a:t>
            </a:r>
            <a:r>
              <a:rPr lang="fr-FR" sz="2600" dirty="0">
                <a:solidFill>
                  <a:schemeClr val="accent4"/>
                </a:solidFill>
                <a:latin typeface="Consolas"/>
                <a:cs typeface="Consolas"/>
              </a:rPr>
              <a:t>Couple</a:t>
            </a:r>
            <a:r>
              <a:rPr lang="fr-FR" dirty="0"/>
              <a:t>, il faudra aussi spécifier le type effectif:</a:t>
            </a:r>
            <a:endParaRPr lang="fr-FR" sz="1800" dirty="0">
              <a:solidFill>
                <a:srgbClr val="A6082B"/>
              </a:solidFill>
              <a:latin typeface="Consolas"/>
              <a:cs typeface="Consolas"/>
            </a:endParaRPr>
          </a:p>
          <a:p>
            <a:pPr>
              <a:lnSpc>
                <a:spcPct val="110000"/>
              </a:lnSpc>
            </a:pPr>
            <a:endParaRPr lang="fr-FR" dirty="0"/>
          </a:p>
        </p:txBody>
      </p:sp>
      <p:sp>
        <p:nvSpPr>
          <p:cNvPr id="4" name="ZoneTexte 3">
            <a:extLst>
              <a:ext uri="{FF2B5EF4-FFF2-40B4-BE49-F238E27FC236}">
                <a16:creationId xmlns:a16="http://schemas.microsoft.com/office/drawing/2014/main" id="{83534283-C5AC-A12F-9F1D-DA9B7C907255}"/>
              </a:ext>
            </a:extLst>
          </p:cNvPr>
          <p:cNvSpPr txBox="1"/>
          <p:nvPr/>
        </p:nvSpPr>
        <p:spPr>
          <a:xfrm>
            <a:off x="2517134" y="3105834"/>
            <a:ext cx="6099142" cy="646331"/>
          </a:xfrm>
          <a:prstGeom prst="rect">
            <a:avLst/>
          </a:prstGeom>
          <a:solidFill>
            <a:srgbClr val="2B2B2B"/>
          </a:solidFill>
        </p:spPr>
        <p:txBody>
          <a:bodyPr wrap="square">
            <a:spAutoFit/>
          </a:bodyPr>
          <a:lstStyle/>
          <a:p>
            <a:r>
              <a:rPr lang="fr-BE" dirty="0">
                <a:latin typeface="Consolas" panose="020B0609020204030204" pitchFamily="49" charset="0"/>
                <a:cs typeface="Consolas" panose="020B0609020204030204" pitchFamily="49" charset="0"/>
              </a:rPr>
              <a:t>Integer objInt1</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objInt2</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ci = </a:t>
            </a:r>
            <a:r>
              <a:rPr lang="fr-BE" dirty="0">
                <a:solidFill>
                  <a:srgbClr val="CC7832"/>
                </a:solidFill>
                <a:effectLst/>
                <a:latin typeface="Consolas" panose="020B0609020204030204" pitchFamily="49" charset="0"/>
                <a:cs typeface="Consolas" panose="020B0609020204030204" pitchFamily="49" charset="0"/>
              </a:rPr>
              <a:t>new </a:t>
            </a:r>
            <a:r>
              <a:rPr lang="fr-BE" dirty="0">
                <a:latin typeface="Consolas" panose="020B0609020204030204" pitchFamily="49" charset="0"/>
                <a:cs typeface="Consolas" panose="020B0609020204030204" pitchFamily="49" charset="0"/>
              </a:rPr>
              <a:t>Couple&lt;Integer&gt;(objInt1</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objInt2)</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6" name="Bulle rectangulaire 5">
            <a:extLst>
              <a:ext uri="{FF2B5EF4-FFF2-40B4-BE49-F238E27FC236}">
                <a16:creationId xmlns:a16="http://schemas.microsoft.com/office/drawing/2014/main" id="{78BB0738-8AE7-8646-8367-701A4A235D03}"/>
              </a:ext>
            </a:extLst>
          </p:cNvPr>
          <p:cNvSpPr/>
          <p:nvPr/>
        </p:nvSpPr>
        <p:spPr>
          <a:xfrm>
            <a:off x="4206250" y="4069061"/>
            <a:ext cx="3464417" cy="334850"/>
          </a:xfrm>
          <a:prstGeom prst="wedgeRectCallout">
            <a:avLst>
              <a:gd name="adj1" fmla="val -25781"/>
              <a:gd name="adj2" fmla="val -12703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Un couple d’entiers</a:t>
            </a:r>
          </a:p>
        </p:txBody>
      </p:sp>
    </p:spTree>
    <p:extLst>
      <p:ext uri="{BB962C8B-B14F-4D97-AF65-F5344CB8AC3E}">
        <p14:creationId xmlns:p14="http://schemas.microsoft.com/office/powerpoint/2010/main" val="727291174"/>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right)">
                                      <p:cBhvr>
                                        <p:cTn id="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Avec ou sans type générique…</a:t>
            </a:r>
          </a:p>
        </p:txBody>
      </p:sp>
      <p:sp>
        <p:nvSpPr>
          <p:cNvPr id="9" name="Espace réservé du contenu 8"/>
          <p:cNvSpPr>
            <a:spLocks noGrp="1"/>
          </p:cNvSpPr>
          <p:nvPr>
            <p:ph sz="half" idx="1"/>
          </p:nvPr>
        </p:nvSpPr>
        <p:spPr/>
        <p:txBody>
          <a:bodyPr>
            <a:noAutofit/>
          </a:bodyPr>
          <a:lstStyle/>
          <a:p>
            <a:pPr marL="0" indent="0">
              <a:buNone/>
            </a:pPr>
            <a:r>
              <a:rPr lang="fr-FR" sz="2600" dirty="0">
                <a:solidFill>
                  <a:schemeClr val="accent4"/>
                </a:solidFill>
              </a:rPr>
              <a:t>Sans type générique:</a:t>
            </a:r>
          </a:p>
          <a:p>
            <a:pPr marL="0" indent="0">
              <a:buNone/>
            </a:pPr>
            <a:endParaRPr lang="fr-FR" sz="2600" dirty="0">
              <a:latin typeface="Consolas"/>
              <a:cs typeface="Consolas"/>
            </a:endParaRPr>
          </a:p>
        </p:txBody>
      </p:sp>
      <p:sp>
        <p:nvSpPr>
          <p:cNvPr id="5" name="Espace réservé du contenu 4"/>
          <p:cNvSpPr>
            <a:spLocks noGrp="1"/>
          </p:cNvSpPr>
          <p:nvPr>
            <p:ph sz="half" idx="2"/>
          </p:nvPr>
        </p:nvSpPr>
        <p:spPr/>
        <p:txBody>
          <a:bodyPr>
            <a:normAutofit/>
          </a:bodyPr>
          <a:lstStyle/>
          <a:p>
            <a:pPr marL="0" indent="0">
              <a:buNone/>
            </a:pPr>
            <a:r>
              <a:rPr lang="fr-FR" sz="2600" dirty="0">
                <a:solidFill>
                  <a:schemeClr val="accent4"/>
                </a:solidFill>
              </a:rPr>
              <a:t>Avec type générique:</a:t>
            </a:r>
            <a:endParaRPr lang="fr-FR" sz="2600" dirty="0">
              <a:latin typeface="Consolas"/>
              <a:cs typeface="Consolas"/>
            </a:endParaRPr>
          </a:p>
        </p:txBody>
      </p:sp>
      <p:sp>
        <p:nvSpPr>
          <p:cNvPr id="8" name="ZoneTexte 7">
            <a:extLst>
              <a:ext uri="{FF2B5EF4-FFF2-40B4-BE49-F238E27FC236}">
                <a16:creationId xmlns:a16="http://schemas.microsoft.com/office/drawing/2014/main" id="{7E222047-FC39-C868-3840-3839EC1A33EE}"/>
              </a:ext>
            </a:extLst>
          </p:cNvPr>
          <p:cNvSpPr txBox="1"/>
          <p:nvPr/>
        </p:nvSpPr>
        <p:spPr>
          <a:xfrm>
            <a:off x="838200" y="2397933"/>
            <a:ext cx="4865016" cy="3139321"/>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public class </a:t>
            </a:r>
            <a:r>
              <a:rPr lang="fr-BE" dirty="0" err="1">
                <a:latin typeface="Consolas" panose="020B0609020204030204" pitchFamily="49" charset="0"/>
                <a:cs typeface="Consolas" panose="020B0609020204030204" pitchFamily="49" charset="0"/>
              </a:rPr>
              <a:t>MaListe</a:t>
            </a:r>
            <a:r>
              <a:rPr lang="fr-BE" dirty="0">
                <a:latin typeface="Consolas" panose="020B0609020204030204" pitchFamily="49" charset="0"/>
                <a:cs typeface="Consolas" panose="020B0609020204030204" pitchFamily="49" charset="0"/>
              </a:rPr>
              <a:t>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private</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List </a:t>
            </a:r>
            <a:r>
              <a:rPr lang="fr-BE" dirty="0">
                <a:solidFill>
                  <a:srgbClr val="9876AA"/>
                </a:solidFill>
                <a:effectLst/>
                <a:latin typeface="Consolas" panose="020B0609020204030204" pitchFamily="49" charset="0"/>
                <a:cs typeface="Consolas" panose="020B0609020204030204" pitchFamily="49" charset="0"/>
              </a:rPr>
              <a:t>liste</a:t>
            </a:r>
            <a:r>
              <a:rPr lang="fr-BE" dirty="0">
                <a:latin typeface="Consolas" panose="020B0609020204030204" pitchFamily="49" charset="0"/>
                <a:cs typeface="Consolas" panose="020B0609020204030204" pitchFamily="49" charset="0"/>
              </a:rPr>
              <a:t> = ...</a:t>
            </a:r>
            <a:r>
              <a:rPr lang="fr-BE" dirty="0">
                <a:solidFill>
                  <a:srgbClr val="CC7832"/>
                </a:solidFill>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endParaRPr lang="fr-BE" dirty="0">
              <a:solidFill>
                <a:srgbClr val="CC7832"/>
              </a:solidFill>
              <a:effectLst/>
              <a:latin typeface="Consolas" panose="020B0609020204030204" pitchFamily="49" charset="0"/>
              <a:cs typeface="Consolas" panose="020B0609020204030204" pitchFamily="49" charset="0"/>
            </a:endParaRPr>
          </a:p>
          <a:p>
            <a:r>
              <a:rPr lang="fr-BE" dirty="0">
                <a:solidFill>
                  <a:srgbClr val="CC7832"/>
                </a:solidFill>
                <a:effectLst/>
                <a:latin typeface="Consolas" panose="020B0609020204030204" pitchFamily="49" charset="0"/>
                <a:cs typeface="Consolas" panose="020B0609020204030204" pitchFamily="49" charset="0"/>
              </a:rPr>
              <a:t>    public </a:t>
            </a:r>
            <a:r>
              <a:rPr lang="fr-BE" dirty="0" err="1">
                <a:solidFill>
                  <a:srgbClr val="FFC66D"/>
                </a:solidFill>
                <a:latin typeface="Consolas" panose="020B0609020204030204" pitchFamily="49" charset="0"/>
                <a:cs typeface="Consolas" panose="020B0609020204030204" pitchFamily="49" charset="0"/>
              </a:rPr>
              <a:t>add</a:t>
            </a:r>
            <a:r>
              <a:rPr lang="fr-BE" dirty="0" err="1">
                <a:solidFill>
                  <a:srgbClr val="FFC66D"/>
                </a:solidFill>
                <a:effectLst/>
                <a:latin typeface="Consolas" panose="020B0609020204030204" pitchFamily="49" charset="0"/>
                <a:cs typeface="Consolas" panose="020B0609020204030204" pitchFamily="49" charset="0"/>
              </a:rPr>
              <a:t>Membre</a:t>
            </a:r>
            <a:r>
              <a:rPr lang="fr-BE" dirty="0">
                <a:latin typeface="Consolas" panose="020B0609020204030204" pitchFamily="49" charset="0"/>
                <a:cs typeface="Consolas" panose="020B0609020204030204" pitchFamily="49" charset="0"/>
              </a:rPr>
              <a:t>(Object o)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solidFill>
                  <a:srgbClr val="9876AA"/>
                </a:solidFill>
                <a:effectLst/>
                <a:latin typeface="Consolas" panose="020B0609020204030204" pitchFamily="49" charset="0"/>
                <a:cs typeface="Consolas" panose="020B0609020204030204" pitchFamily="49" charset="0"/>
              </a:rPr>
              <a:t>liste</a:t>
            </a:r>
            <a:r>
              <a:rPr lang="fr-BE" dirty="0" err="1">
                <a:latin typeface="Consolas" panose="020B0609020204030204" pitchFamily="49" charset="0"/>
                <a:cs typeface="Consolas" panose="020B0609020204030204" pitchFamily="49" charset="0"/>
              </a:rPr>
              <a:t>.add</a:t>
            </a:r>
            <a:r>
              <a:rPr lang="fr-BE" dirty="0">
                <a:latin typeface="Consolas" panose="020B0609020204030204" pitchFamily="49" charset="0"/>
                <a:cs typeface="Consolas" panose="020B0609020204030204" pitchFamily="49" charset="0"/>
              </a:rPr>
              <a:t>(o)</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endParaRPr lang="fr-BE" dirty="0">
              <a:latin typeface="Consolas" panose="020B0609020204030204" pitchFamily="49" charset="0"/>
              <a:cs typeface="Consolas" panose="020B0609020204030204" pitchFamily="49" charset="0"/>
            </a:endParaRPr>
          </a:p>
          <a:p>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public </a:t>
            </a:r>
            <a:r>
              <a:rPr lang="fr-BE" dirty="0">
                <a:latin typeface="Consolas" panose="020B0609020204030204" pitchFamily="49" charset="0"/>
                <a:cs typeface="Consolas" panose="020B0609020204030204" pitchFamily="49" charset="0"/>
              </a:rPr>
              <a:t>Object </a:t>
            </a:r>
            <a:r>
              <a:rPr lang="fr-BE" dirty="0" err="1">
                <a:solidFill>
                  <a:srgbClr val="FFC66D"/>
                </a:solidFill>
                <a:effectLst/>
                <a:latin typeface="Consolas" panose="020B0609020204030204" pitchFamily="49" charset="0"/>
                <a:cs typeface="Consolas" panose="020B0609020204030204" pitchFamily="49" charset="0"/>
              </a:rPr>
              <a:t>getMembre</a:t>
            </a:r>
            <a:r>
              <a:rPr lang="fr-BE" dirty="0">
                <a:latin typeface="Consolas" panose="020B0609020204030204" pitchFamily="49" charset="0"/>
                <a:cs typeface="Consolas" panose="020B0609020204030204" pitchFamily="49" charset="0"/>
              </a:rPr>
              <a:t>(</a:t>
            </a:r>
            <a:r>
              <a:rPr lang="fr-BE" dirty="0" err="1">
                <a:solidFill>
                  <a:srgbClr val="CC7832"/>
                </a:solidFill>
                <a:effectLst/>
                <a:latin typeface="Consolas" panose="020B0609020204030204" pitchFamily="49" charset="0"/>
                <a:cs typeface="Consolas" panose="020B0609020204030204" pitchFamily="49" charset="0"/>
              </a:rPr>
              <a:t>int</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i)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return </a:t>
            </a:r>
            <a:r>
              <a:rPr lang="fr-BE" dirty="0" err="1">
                <a:solidFill>
                  <a:srgbClr val="9876AA"/>
                </a:solidFill>
                <a:effectLst/>
                <a:latin typeface="Consolas" panose="020B0609020204030204" pitchFamily="49" charset="0"/>
                <a:cs typeface="Consolas" panose="020B0609020204030204" pitchFamily="49" charset="0"/>
              </a:rPr>
              <a:t>liste</a:t>
            </a:r>
            <a:r>
              <a:rPr lang="fr-BE" dirty="0" err="1">
                <a:latin typeface="Consolas" panose="020B0609020204030204" pitchFamily="49" charset="0"/>
                <a:cs typeface="Consolas" panose="020B0609020204030204" pitchFamily="49" charset="0"/>
              </a:rPr>
              <a:t>.get</a:t>
            </a:r>
            <a:r>
              <a:rPr lang="fr-BE" dirty="0">
                <a:latin typeface="Consolas" panose="020B0609020204030204" pitchFamily="49" charset="0"/>
                <a:cs typeface="Consolas" panose="020B0609020204030204" pitchFamily="49" charset="0"/>
              </a:rPr>
              <a:t>(i)</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7" name="Légende encadrée 1 6"/>
          <p:cNvSpPr/>
          <p:nvPr/>
        </p:nvSpPr>
        <p:spPr>
          <a:xfrm>
            <a:off x="2567875" y="5603700"/>
            <a:ext cx="3711947" cy="927279"/>
          </a:xfrm>
          <a:prstGeom prst="borderCallout1">
            <a:avLst>
              <a:gd name="adj1" fmla="val -5036"/>
              <a:gd name="adj2" fmla="val 47398"/>
              <a:gd name="adj3" fmla="val -19407"/>
              <a:gd name="adj4" fmla="val 43330"/>
            </a:avLst>
          </a:prstGeom>
          <a:solidFill>
            <a:schemeClr val="accent4"/>
          </a:solidFill>
          <a:ln w="3175" cmpd="sng">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b="1" dirty="0">
                <a:solidFill>
                  <a:srgbClr val="008000"/>
                </a:solidFill>
              </a:rPr>
              <a:t>Le client (celui qui appelle) doit </a:t>
            </a:r>
            <a:r>
              <a:rPr lang="fr-FR" sz="1400" b="1" dirty="0" err="1">
                <a:solidFill>
                  <a:srgbClr val="008000"/>
                </a:solidFill>
              </a:rPr>
              <a:t>caster</a:t>
            </a:r>
            <a:r>
              <a:rPr lang="fr-FR" sz="1400" b="1" dirty="0">
                <a:solidFill>
                  <a:srgbClr val="008000"/>
                </a:solidFill>
              </a:rPr>
              <a:t> le résultat (par exemple en </a:t>
            </a:r>
            <a:r>
              <a:rPr lang="fr-FR" sz="1400" b="1" dirty="0" err="1">
                <a:solidFill>
                  <a:srgbClr val="008000"/>
                </a:solidFill>
              </a:rPr>
              <a:t>Integer</a:t>
            </a:r>
            <a:r>
              <a:rPr lang="fr-FR" sz="1400" b="1" dirty="0">
                <a:solidFill>
                  <a:srgbClr val="008000"/>
                </a:solidFill>
              </a:rPr>
              <a:t>) </a:t>
            </a:r>
            <a:r>
              <a:rPr lang="fr-FR" sz="1400" b="1" dirty="0">
                <a:solidFill>
                  <a:srgbClr val="008000"/>
                </a:solidFill>
                <a:sym typeface="Wingdings" pitchFamily="2" charset="2"/>
              </a:rPr>
              <a:t></a:t>
            </a:r>
            <a:r>
              <a:rPr lang="fr-FR" sz="1400" b="1" dirty="0">
                <a:solidFill>
                  <a:srgbClr val="008000"/>
                </a:solidFill>
              </a:rPr>
              <a:t> risque d'erreur à l'exécution si on a mis autre chose qu’un </a:t>
            </a:r>
            <a:r>
              <a:rPr lang="fr-FR" sz="1400" b="1" dirty="0" err="1">
                <a:solidFill>
                  <a:srgbClr val="008000"/>
                </a:solidFill>
              </a:rPr>
              <a:t>Integer</a:t>
            </a:r>
            <a:r>
              <a:rPr lang="fr-FR" sz="1400" b="1" dirty="0">
                <a:solidFill>
                  <a:srgbClr val="008000"/>
                </a:solidFill>
              </a:rPr>
              <a:t> dans la liste…</a:t>
            </a:r>
          </a:p>
        </p:txBody>
      </p:sp>
      <p:sp>
        <p:nvSpPr>
          <p:cNvPr id="11" name="ZoneTexte 10">
            <a:extLst>
              <a:ext uri="{FF2B5EF4-FFF2-40B4-BE49-F238E27FC236}">
                <a16:creationId xmlns:a16="http://schemas.microsoft.com/office/drawing/2014/main" id="{81958FA6-DCD4-6F5B-F326-2DA8BE795D0F}"/>
              </a:ext>
            </a:extLst>
          </p:cNvPr>
          <p:cNvSpPr txBox="1"/>
          <p:nvPr/>
        </p:nvSpPr>
        <p:spPr>
          <a:xfrm>
            <a:off x="6279822" y="2401653"/>
            <a:ext cx="4491873" cy="3139321"/>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public class </a:t>
            </a:r>
            <a:r>
              <a:rPr lang="fr-BE" dirty="0" err="1">
                <a:latin typeface="Consolas" panose="020B0609020204030204" pitchFamily="49" charset="0"/>
                <a:cs typeface="Consolas" panose="020B0609020204030204" pitchFamily="49" charset="0"/>
              </a:rPr>
              <a:t>MaListe</a:t>
            </a:r>
            <a:r>
              <a:rPr lang="fr-BE" dirty="0">
                <a:latin typeface="Consolas" panose="020B0609020204030204" pitchFamily="49" charset="0"/>
                <a:cs typeface="Consolas" panose="020B0609020204030204" pitchFamily="49" charset="0"/>
              </a:rPr>
              <a:t>&lt;</a:t>
            </a:r>
            <a:r>
              <a:rPr lang="fr-BE" dirty="0" err="1">
                <a:solidFill>
                  <a:srgbClr val="507874"/>
                </a:solidFill>
                <a:effectLst/>
                <a:latin typeface="Consolas" panose="020B0609020204030204" pitchFamily="49" charset="0"/>
                <a:cs typeface="Consolas" panose="020B0609020204030204" pitchFamily="49" charset="0"/>
              </a:rPr>
              <a:t>T</a:t>
            </a:r>
            <a:r>
              <a:rPr lang="fr-BE" dirty="0">
                <a:latin typeface="Consolas" panose="020B0609020204030204" pitchFamily="49" charset="0"/>
                <a:cs typeface="Consolas" panose="020B0609020204030204" pitchFamily="49" charset="0"/>
              </a:rPr>
              <a:t>&gt;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private</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List&lt;</a:t>
            </a:r>
            <a:r>
              <a:rPr lang="fr-BE" dirty="0" err="1">
                <a:solidFill>
                  <a:srgbClr val="507874"/>
                </a:solidFill>
                <a:effectLst/>
                <a:latin typeface="Consolas" panose="020B0609020204030204" pitchFamily="49" charset="0"/>
                <a:cs typeface="Consolas" panose="020B0609020204030204" pitchFamily="49" charset="0"/>
              </a:rPr>
              <a:t>T</a:t>
            </a:r>
            <a:r>
              <a:rPr lang="fr-BE" dirty="0">
                <a:latin typeface="Consolas" panose="020B0609020204030204" pitchFamily="49" charset="0"/>
                <a:cs typeface="Consolas" panose="020B0609020204030204" pitchFamily="49" charset="0"/>
              </a:rPr>
              <a:t>&gt; </a:t>
            </a:r>
            <a:r>
              <a:rPr lang="fr-BE" dirty="0">
                <a:solidFill>
                  <a:srgbClr val="9876AA"/>
                </a:solidFill>
                <a:effectLst/>
                <a:latin typeface="Consolas" panose="020B0609020204030204" pitchFamily="49" charset="0"/>
                <a:cs typeface="Consolas" panose="020B0609020204030204" pitchFamily="49" charset="0"/>
              </a:rPr>
              <a:t>liste</a:t>
            </a:r>
            <a:r>
              <a:rPr lang="fr-BE" dirty="0">
                <a:latin typeface="Consolas" panose="020B0609020204030204" pitchFamily="49" charset="0"/>
                <a:cs typeface="Consolas" panose="020B0609020204030204" pitchFamily="49" charset="0"/>
              </a:rPr>
              <a:t> = ...</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public </a:t>
            </a:r>
            <a:r>
              <a:rPr lang="fr-BE" dirty="0" err="1">
                <a:solidFill>
                  <a:srgbClr val="CC7832"/>
                </a:solidFill>
                <a:effectLst/>
                <a:latin typeface="Consolas" panose="020B0609020204030204" pitchFamily="49" charset="0"/>
                <a:cs typeface="Consolas" panose="020B0609020204030204" pitchFamily="49" charset="0"/>
              </a:rPr>
              <a:t>void</a:t>
            </a:r>
            <a:r>
              <a:rPr lang="fr-BE" dirty="0">
                <a:solidFill>
                  <a:srgbClr val="CC7832"/>
                </a:solidFill>
                <a:effectLst/>
                <a:latin typeface="Consolas" panose="020B0609020204030204" pitchFamily="49" charset="0"/>
                <a:cs typeface="Consolas" panose="020B0609020204030204" pitchFamily="49" charset="0"/>
              </a:rPr>
              <a:t> </a:t>
            </a:r>
            <a:r>
              <a:rPr lang="fr-BE" dirty="0" err="1">
                <a:solidFill>
                  <a:srgbClr val="FFC66D"/>
                </a:solidFill>
                <a:latin typeface="Consolas" panose="020B0609020204030204" pitchFamily="49" charset="0"/>
                <a:cs typeface="Consolas" panose="020B0609020204030204" pitchFamily="49" charset="0"/>
              </a:rPr>
              <a:t>add</a:t>
            </a:r>
            <a:r>
              <a:rPr lang="fr-BE" dirty="0" err="1">
                <a:solidFill>
                  <a:srgbClr val="FFC66D"/>
                </a:solidFill>
                <a:effectLst/>
                <a:latin typeface="Consolas" panose="020B0609020204030204" pitchFamily="49" charset="0"/>
                <a:cs typeface="Consolas" panose="020B0609020204030204" pitchFamily="49" charset="0"/>
              </a:rPr>
              <a:t>Membre</a:t>
            </a:r>
            <a:r>
              <a:rPr lang="fr-BE" dirty="0">
                <a:latin typeface="Consolas" panose="020B0609020204030204" pitchFamily="49" charset="0"/>
                <a:cs typeface="Consolas" panose="020B0609020204030204" pitchFamily="49" charset="0"/>
              </a:rPr>
              <a:t>(</a:t>
            </a:r>
            <a:r>
              <a:rPr lang="fr-BE" dirty="0" err="1">
                <a:solidFill>
                  <a:srgbClr val="507874"/>
                </a:solidFill>
                <a:effectLst/>
                <a:latin typeface="Consolas" panose="020B0609020204030204" pitchFamily="49" charset="0"/>
                <a:cs typeface="Consolas" panose="020B0609020204030204" pitchFamily="49" charset="0"/>
              </a:rPr>
              <a:t>T</a:t>
            </a:r>
            <a:r>
              <a:rPr lang="fr-BE" dirty="0">
                <a:solidFill>
                  <a:srgbClr val="507874"/>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m)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solidFill>
                  <a:srgbClr val="9876AA"/>
                </a:solidFill>
                <a:effectLst/>
                <a:latin typeface="Consolas" panose="020B0609020204030204" pitchFamily="49" charset="0"/>
                <a:cs typeface="Consolas" panose="020B0609020204030204" pitchFamily="49" charset="0"/>
              </a:rPr>
              <a:t>liste</a:t>
            </a:r>
            <a:r>
              <a:rPr lang="fr-BE" dirty="0" err="1">
                <a:latin typeface="Consolas" panose="020B0609020204030204" pitchFamily="49" charset="0"/>
                <a:cs typeface="Consolas" panose="020B0609020204030204" pitchFamily="49" charset="0"/>
              </a:rPr>
              <a:t>.add</a:t>
            </a:r>
            <a:r>
              <a:rPr lang="fr-BE" dirty="0">
                <a:latin typeface="Consolas" panose="020B0609020204030204" pitchFamily="49" charset="0"/>
                <a:cs typeface="Consolas" panose="020B0609020204030204" pitchFamily="49" charset="0"/>
              </a:rPr>
              <a:t>(m)</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public </a:t>
            </a:r>
            <a:r>
              <a:rPr lang="fr-BE" dirty="0" err="1">
                <a:solidFill>
                  <a:srgbClr val="507874"/>
                </a:solidFill>
                <a:effectLst/>
                <a:latin typeface="Consolas" panose="020B0609020204030204" pitchFamily="49" charset="0"/>
                <a:cs typeface="Consolas" panose="020B0609020204030204" pitchFamily="49" charset="0"/>
              </a:rPr>
              <a:t>T</a:t>
            </a:r>
            <a:r>
              <a:rPr lang="fr-BE" dirty="0">
                <a:solidFill>
                  <a:srgbClr val="507874"/>
                </a:solidFill>
                <a:effectLst/>
                <a:latin typeface="Consolas" panose="020B0609020204030204" pitchFamily="49" charset="0"/>
                <a:cs typeface="Consolas" panose="020B0609020204030204" pitchFamily="49" charset="0"/>
              </a:rPr>
              <a:t> </a:t>
            </a:r>
            <a:r>
              <a:rPr lang="fr-BE" dirty="0" err="1">
                <a:solidFill>
                  <a:srgbClr val="FFC66D"/>
                </a:solidFill>
                <a:effectLst/>
                <a:latin typeface="Consolas" panose="020B0609020204030204" pitchFamily="49" charset="0"/>
                <a:cs typeface="Consolas" panose="020B0609020204030204" pitchFamily="49" charset="0"/>
              </a:rPr>
              <a:t>getMembre</a:t>
            </a:r>
            <a:r>
              <a:rPr lang="fr-BE" dirty="0">
                <a:latin typeface="Consolas" panose="020B0609020204030204" pitchFamily="49" charset="0"/>
                <a:cs typeface="Consolas" panose="020B0609020204030204" pitchFamily="49" charset="0"/>
              </a:rPr>
              <a:t>(</a:t>
            </a:r>
            <a:r>
              <a:rPr lang="fr-BE" dirty="0" err="1">
                <a:solidFill>
                  <a:srgbClr val="CC7832"/>
                </a:solidFill>
                <a:effectLst/>
                <a:latin typeface="Consolas" panose="020B0609020204030204" pitchFamily="49" charset="0"/>
                <a:cs typeface="Consolas" panose="020B0609020204030204" pitchFamily="49" charset="0"/>
              </a:rPr>
              <a:t>int</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i)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return </a:t>
            </a:r>
            <a:r>
              <a:rPr lang="fr-BE" dirty="0" err="1">
                <a:solidFill>
                  <a:srgbClr val="9876AA"/>
                </a:solidFill>
                <a:effectLst/>
                <a:latin typeface="Consolas" panose="020B0609020204030204" pitchFamily="49" charset="0"/>
                <a:cs typeface="Consolas" panose="020B0609020204030204" pitchFamily="49" charset="0"/>
              </a:rPr>
              <a:t>liste</a:t>
            </a:r>
            <a:r>
              <a:rPr lang="fr-BE" dirty="0" err="1">
                <a:latin typeface="Consolas" panose="020B0609020204030204" pitchFamily="49" charset="0"/>
                <a:cs typeface="Consolas" panose="020B0609020204030204" pitchFamily="49" charset="0"/>
              </a:rPr>
              <a:t>.get</a:t>
            </a:r>
            <a:r>
              <a:rPr lang="fr-BE" dirty="0">
                <a:latin typeface="Consolas" panose="020B0609020204030204" pitchFamily="49" charset="0"/>
                <a:cs typeface="Consolas" panose="020B0609020204030204" pitchFamily="49" charset="0"/>
              </a:rPr>
              <a:t>(i)</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707366144"/>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11"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BC18DC-5789-A343-9CF8-610E340ECFCA}"/>
              </a:ext>
            </a:extLst>
          </p:cNvPr>
          <p:cNvSpPr>
            <a:spLocks noGrp="1"/>
          </p:cNvSpPr>
          <p:nvPr>
            <p:ph type="title"/>
          </p:nvPr>
        </p:nvSpPr>
        <p:spPr/>
        <p:txBody>
          <a:bodyPr/>
          <a:lstStyle/>
          <a:p>
            <a:r>
              <a:rPr lang="fr-FR" dirty="0"/>
              <a:t>Exercice</a:t>
            </a:r>
          </a:p>
        </p:txBody>
      </p:sp>
      <p:sp>
        <p:nvSpPr>
          <p:cNvPr id="5" name="Espace réservé du contenu 4">
            <a:extLst>
              <a:ext uri="{FF2B5EF4-FFF2-40B4-BE49-F238E27FC236}">
                <a16:creationId xmlns:a16="http://schemas.microsoft.com/office/drawing/2014/main" id="{3F8D6BDE-490E-3140-9666-7A039C4FFA76}"/>
              </a:ext>
            </a:extLst>
          </p:cNvPr>
          <p:cNvSpPr>
            <a:spLocks noGrp="1"/>
          </p:cNvSpPr>
          <p:nvPr>
            <p:ph idx="1"/>
          </p:nvPr>
        </p:nvSpPr>
        <p:spPr/>
        <p:txBody>
          <a:bodyPr>
            <a:normAutofit/>
          </a:bodyPr>
          <a:lstStyle/>
          <a:p>
            <a:pPr marL="0" indent="0">
              <a:buNone/>
            </a:pPr>
            <a:r>
              <a:rPr lang="fr-FR" sz="2400" dirty="0"/>
              <a:t>Ecrivez une classe </a:t>
            </a:r>
            <a:r>
              <a:rPr lang="fr-FR" sz="2200" dirty="0">
                <a:solidFill>
                  <a:schemeClr val="accent4"/>
                </a:solidFill>
                <a:latin typeface="Consolas"/>
                <a:cs typeface="Consolas"/>
              </a:rPr>
              <a:t>Paire&lt;</a:t>
            </a:r>
            <a:r>
              <a:rPr lang="fr-FR" sz="2200" dirty="0" err="1">
                <a:solidFill>
                  <a:schemeClr val="accent4"/>
                </a:solidFill>
                <a:latin typeface="Consolas"/>
                <a:cs typeface="Consolas"/>
              </a:rPr>
              <a:t>T</a:t>
            </a:r>
            <a:r>
              <a:rPr lang="fr-FR" sz="2200" dirty="0">
                <a:solidFill>
                  <a:schemeClr val="accent4"/>
                </a:solidFill>
                <a:latin typeface="Consolas"/>
                <a:cs typeface="Consolas"/>
              </a:rPr>
              <a:t>&gt;</a:t>
            </a:r>
            <a:r>
              <a:rPr lang="fr-FR" sz="2400" dirty="0"/>
              <a:t>, qui modélise une paire de deux objets de type identique. </a:t>
            </a:r>
          </a:p>
          <a:p>
            <a:pPr marL="342900" indent="-342900"/>
            <a:r>
              <a:rPr lang="fr-FR" sz="2400" dirty="0"/>
              <a:t>Son constructeur prend deux objets (premier et second).</a:t>
            </a:r>
          </a:p>
          <a:p>
            <a:pPr marL="342900" indent="-342900"/>
            <a:r>
              <a:rPr lang="fr-FR" sz="2400" dirty="0"/>
              <a:t>Elle présente deux méthodes </a:t>
            </a:r>
            <a:r>
              <a:rPr lang="fr-FR" sz="2200" dirty="0" err="1">
                <a:solidFill>
                  <a:schemeClr val="accent4"/>
                </a:solidFill>
                <a:latin typeface="Consolas"/>
                <a:cs typeface="Consolas"/>
              </a:rPr>
              <a:t>getPremier</a:t>
            </a:r>
            <a:r>
              <a:rPr lang="fr-FR" sz="2400" dirty="0"/>
              <a:t> et </a:t>
            </a:r>
            <a:r>
              <a:rPr lang="fr-FR" sz="2200" dirty="0" err="1">
                <a:solidFill>
                  <a:schemeClr val="accent4"/>
                </a:solidFill>
                <a:latin typeface="Consolas"/>
                <a:cs typeface="Consolas"/>
              </a:rPr>
              <a:t>getSecond</a:t>
            </a:r>
            <a:r>
              <a:rPr lang="fr-FR" sz="2400" dirty="0"/>
              <a:t>. </a:t>
            </a:r>
          </a:p>
          <a:p>
            <a:pPr marL="342900" indent="-342900"/>
            <a:r>
              <a:rPr lang="fr-FR" sz="2400" dirty="0"/>
              <a:t>… ainsi qu’une méthode </a:t>
            </a:r>
            <a:r>
              <a:rPr lang="fr-FR" sz="2200" dirty="0" err="1">
                <a:solidFill>
                  <a:schemeClr val="accent4"/>
                </a:solidFill>
                <a:latin typeface="Consolas"/>
                <a:cs typeface="Consolas"/>
              </a:rPr>
              <a:t>toString</a:t>
            </a:r>
            <a:r>
              <a:rPr lang="fr-FR" sz="2400" dirty="0"/>
              <a:t> qui affiche ﻿</a:t>
            </a:r>
            <a:br>
              <a:rPr lang="fr-FR" sz="2400" dirty="0"/>
            </a:br>
            <a:r>
              <a:rPr lang="fr-FR" sz="2400" dirty="0"/>
              <a:t>    </a:t>
            </a:r>
            <a:r>
              <a:rPr lang="fr-FR" sz="2200" dirty="0">
                <a:solidFill>
                  <a:schemeClr val="accent4"/>
                </a:solidFill>
                <a:latin typeface="Consolas"/>
                <a:cs typeface="Consolas"/>
              </a:rPr>
              <a:t>"</a:t>
            </a:r>
            <a:r>
              <a:rPr lang="fr-FR" sz="2200" dirty="0" err="1">
                <a:solidFill>
                  <a:schemeClr val="accent4"/>
                </a:solidFill>
                <a:latin typeface="Consolas"/>
                <a:cs typeface="Consolas"/>
              </a:rPr>
              <a:t>premiere</a:t>
            </a:r>
            <a:r>
              <a:rPr lang="fr-FR" sz="2200" dirty="0">
                <a:solidFill>
                  <a:schemeClr val="accent4"/>
                </a:solidFill>
                <a:latin typeface="Consolas"/>
                <a:cs typeface="Consolas"/>
              </a:rPr>
              <a:t> valeur : " + p + " - </a:t>
            </a:r>
            <a:r>
              <a:rPr lang="fr-FR" sz="2200" dirty="0" err="1">
                <a:solidFill>
                  <a:schemeClr val="accent4"/>
                </a:solidFill>
                <a:latin typeface="Consolas"/>
                <a:cs typeface="Consolas"/>
              </a:rPr>
              <a:t>deuxieme</a:t>
            </a:r>
            <a:r>
              <a:rPr lang="fr-FR" sz="2200" dirty="0">
                <a:solidFill>
                  <a:schemeClr val="accent4"/>
                </a:solidFill>
                <a:latin typeface="Consolas"/>
                <a:cs typeface="Consolas"/>
              </a:rPr>
              <a:t> valeur : " + s</a:t>
            </a:r>
          </a:p>
          <a:p>
            <a:endParaRPr lang="fr-FR" sz="2400" dirty="0"/>
          </a:p>
          <a:p>
            <a:pPr marL="0" indent="0">
              <a:buNone/>
            </a:pPr>
            <a:r>
              <a:rPr lang="fr-FR" sz="2400" dirty="0"/>
              <a:t>Ecrivez aussi un programme dans lequel vous créez une paire </a:t>
            </a:r>
            <a:r>
              <a:rPr lang="fr-FR" sz="2200" dirty="0">
                <a:solidFill>
                  <a:schemeClr val="accent4"/>
                </a:solidFill>
                <a:latin typeface="Consolas"/>
                <a:cs typeface="Consolas"/>
              </a:rPr>
              <a:t>d’Integer</a:t>
            </a:r>
            <a:r>
              <a:rPr lang="fr-FR" sz="2400" dirty="0"/>
              <a:t> et une paire de </a:t>
            </a:r>
            <a:r>
              <a:rPr lang="fr-FR" sz="2200" dirty="0">
                <a:solidFill>
                  <a:schemeClr val="accent4"/>
                </a:solidFill>
                <a:latin typeface="Consolas"/>
                <a:cs typeface="Consolas"/>
              </a:rPr>
              <a:t>Double</a:t>
            </a:r>
            <a:r>
              <a:rPr lang="fr-FR" sz="2400" dirty="0"/>
              <a:t>, puis les affichez en appelant les différentes méthodes de la classe </a:t>
            </a:r>
            <a:r>
              <a:rPr lang="fr-FR" sz="2200" dirty="0">
                <a:solidFill>
                  <a:schemeClr val="accent4"/>
                </a:solidFill>
                <a:latin typeface="Consolas"/>
                <a:cs typeface="Consolas"/>
              </a:rPr>
              <a:t>Paire&lt;</a:t>
            </a:r>
            <a:r>
              <a:rPr lang="fr-FR" sz="2200" dirty="0" err="1">
                <a:solidFill>
                  <a:schemeClr val="accent4"/>
                </a:solidFill>
                <a:latin typeface="Consolas"/>
                <a:cs typeface="Consolas"/>
              </a:rPr>
              <a:t>T</a:t>
            </a:r>
            <a:r>
              <a:rPr lang="fr-FR" sz="2200" dirty="0">
                <a:solidFill>
                  <a:schemeClr val="accent4"/>
                </a:solidFill>
                <a:latin typeface="Consolas"/>
                <a:cs typeface="Consolas"/>
              </a:rPr>
              <a:t>&gt;</a:t>
            </a:r>
            <a:r>
              <a:rPr lang="fr-FR" sz="2400" dirty="0"/>
              <a:t>.</a:t>
            </a:r>
          </a:p>
          <a:p>
            <a:endParaRPr lang="fr-FR" sz="2400" dirty="0"/>
          </a:p>
        </p:txBody>
      </p:sp>
      <p:pic>
        <p:nvPicPr>
          <p:cNvPr id="6146" name="Picture 2" descr="Exercer PNG Transparent Images, Images, Photos | PNG Arts">
            <a:extLst>
              <a:ext uri="{FF2B5EF4-FFF2-40B4-BE49-F238E27FC236}">
                <a16:creationId xmlns:a16="http://schemas.microsoft.com/office/drawing/2014/main" id="{FAFC3130-96CA-3716-2BC8-954F342B35D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038897" y="140741"/>
            <a:ext cx="2732688" cy="1439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32125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génériques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Le concept de type générique</a:t>
            </a:r>
          </a:p>
          <a:p>
            <a:pPr marL="342900" indent="-342900">
              <a:lnSpc>
                <a:spcPct val="80000"/>
              </a:lnSpc>
              <a:buFont typeface="Arial"/>
              <a:buChar char="•"/>
            </a:pPr>
            <a:r>
              <a:rPr lang="fr-FR" dirty="0"/>
              <a:t>Classe Générique à un seul paramètre</a:t>
            </a:r>
          </a:p>
          <a:p>
            <a:pPr marL="342900" indent="-342900">
              <a:lnSpc>
                <a:spcPct val="80000"/>
              </a:lnSpc>
              <a:buFont typeface="Arial"/>
              <a:buChar char="•"/>
            </a:pPr>
            <a:r>
              <a:rPr lang="fr-FR" dirty="0">
                <a:solidFill>
                  <a:schemeClr val="accent4"/>
                </a:solidFill>
              </a:rPr>
              <a:t>Classe Générique à plusieurs paramètres</a:t>
            </a:r>
          </a:p>
          <a:p>
            <a:pPr marL="342900" indent="-342900">
              <a:lnSpc>
                <a:spcPct val="80000"/>
              </a:lnSpc>
              <a:buFont typeface="Arial"/>
              <a:buChar char="•"/>
            </a:pPr>
            <a:r>
              <a:rPr lang="fr-FR" dirty="0"/>
              <a:t>Compilation des types génériques</a:t>
            </a:r>
          </a:p>
          <a:p>
            <a:pPr marL="342900" indent="-342900">
              <a:lnSpc>
                <a:spcPct val="80000"/>
              </a:lnSpc>
              <a:buFont typeface="Arial"/>
              <a:buChar char="•"/>
            </a:pPr>
            <a:r>
              <a:rPr lang="fr-FR" dirty="0"/>
              <a:t>Méthodes génériques</a:t>
            </a:r>
          </a:p>
          <a:p>
            <a:pPr marL="342900" indent="-342900">
              <a:lnSpc>
                <a:spcPct val="80000"/>
              </a:lnSpc>
              <a:buFont typeface="Arial"/>
              <a:buChar char="•"/>
            </a:pPr>
            <a:r>
              <a:rPr lang="fr-FR" dirty="0"/>
              <a:t>Limitations sur le type</a:t>
            </a:r>
          </a:p>
          <a:p>
            <a:pPr marL="342900" indent="-342900">
              <a:lnSpc>
                <a:spcPct val="80000"/>
              </a:lnSpc>
              <a:buFont typeface="Arial"/>
              <a:buChar char="•"/>
            </a:pPr>
            <a:r>
              <a:rPr lang="fr-FR" dirty="0"/>
              <a:t>Type générique et héritage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Tree>
    <p:extLst>
      <p:ext uri="{BB962C8B-B14F-4D97-AF65-F5344CB8AC3E}">
        <p14:creationId xmlns:p14="http://schemas.microsoft.com/office/powerpoint/2010/main" val="1638011434"/>
      </p:ext>
    </p:extLst>
  </p:cSld>
  <p:clrMapOvr>
    <a:masterClrMapping/>
  </p:clrMapOvr>
  <p:transition>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Classe générique à deux types</a:t>
            </a:r>
          </a:p>
        </p:txBody>
      </p:sp>
      <p:sp>
        <p:nvSpPr>
          <p:cNvPr id="6" name="ZoneTexte 5">
            <a:extLst>
              <a:ext uri="{FF2B5EF4-FFF2-40B4-BE49-F238E27FC236}">
                <a16:creationId xmlns:a16="http://schemas.microsoft.com/office/drawing/2014/main" id="{F1193AAC-67AE-D760-0AC5-118FF084EDD1}"/>
              </a:ext>
            </a:extLst>
          </p:cNvPr>
          <p:cNvSpPr txBox="1"/>
          <p:nvPr/>
        </p:nvSpPr>
        <p:spPr>
          <a:xfrm>
            <a:off x="838200" y="1439054"/>
            <a:ext cx="8458199" cy="4801314"/>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public class </a:t>
            </a:r>
            <a:r>
              <a:rPr lang="fr-BE" dirty="0">
                <a:latin typeface="Consolas" panose="020B0609020204030204" pitchFamily="49" charset="0"/>
                <a:cs typeface="Consolas" panose="020B0609020204030204" pitchFamily="49" charset="0"/>
              </a:rPr>
              <a:t>Couple&lt;</a:t>
            </a:r>
            <a:r>
              <a:rPr lang="fr-BE" dirty="0">
                <a:solidFill>
                  <a:srgbClr val="507874"/>
                </a:solidFill>
                <a:effectLst/>
                <a:latin typeface="Consolas" panose="020B0609020204030204" pitchFamily="49" charset="0"/>
                <a:cs typeface="Consolas" panose="020B0609020204030204" pitchFamily="49" charset="0"/>
              </a:rPr>
              <a:t>U</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507874"/>
                </a:solidFill>
                <a:effectLst/>
                <a:latin typeface="Consolas" panose="020B0609020204030204" pitchFamily="49" charset="0"/>
                <a:cs typeface="Consolas" panose="020B0609020204030204" pitchFamily="49" charset="0"/>
              </a:rPr>
              <a:t>V</a:t>
            </a:r>
            <a:r>
              <a:rPr lang="fr-BE" dirty="0">
                <a:latin typeface="Consolas" panose="020B0609020204030204" pitchFamily="49" charset="0"/>
                <a:cs typeface="Consolas" panose="020B0609020204030204" pitchFamily="49" charset="0"/>
              </a:rPr>
              <a:t>&gt;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private</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507874"/>
                </a:solidFill>
                <a:effectLst/>
                <a:latin typeface="Consolas" panose="020B0609020204030204" pitchFamily="49" charset="0"/>
                <a:cs typeface="Consolas" panose="020B0609020204030204" pitchFamily="49" charset="0"/>
              </a:rPr>
              <a:t>U </a:t>
            </a:r>
            <a:r>
              <a:rPr lang="fr-BE" dirty="0">
                <a:solidFill>
                  <a:srgbClr val="9876AA"/>
                </a:solidFill>
                <a:effectLst/>
                <a:latin typeface="Consolas" panose="020B0609020204030204" pitchFamily="49" charset="0"/>
                <a:cs typeface="Consolas" panose="020B0609020204030204" pitchFamily="49" charset="0"/>
              </a:rPr>
              <a:t>x</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private</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507874"/>
                </a:solidFill>
                <a:effectLst/>
                <a:latin typeface="Consolas" panose="020B0609020204030204" pitchFamily="49" charset="0"/>
                <a:cs typeface="Consolas" panose="020B0609020204030204" pitchFamily="49" charset="0"/>
              </a:rPr>
              <a:t>V </a:t>
            </a:r>
            <a:r>
              <a:rPr lang="fr-BE" dirty="0">
                <a:solidFill>
                  <a:srgbClr val="9876AA"/>
                </a:solidFill>
                <a:effectLst/>
                <a:latin typeface="Consolas" panose="020B0609020204030204" pitchFamily="49" charset="0"/>
                <a:cs typeface="Consolas" panose="020B0609020204030204" pitchFamily="49" charset="0"/>
              </a:rPr>
              <a:t>y</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public </a:t>
            </a:r>
            <a:r>
              <a:rPr lang="fr-BE" dirty="0">
                <a:solidFill>
                  <a:srgbClr val="FFC66D"/>
                </a:solidFill>
                <a:effectLst/>
                <a:latin typeface="Consolas" panose="020B0609020204030204" pitchFamily="49" charset="0"/>
                <a:cs typeface="Consolas" panose="020B0609020204030204" pitchFamily="49" charset="0"/>
              </a:rPr>
              <a:t>Couple</a:t>
            </a:r>
            <a:r>
              <a:rPr lang="fr-BE" dirty="0">
                <a:latin typeface="Consolas" panose="020B0609020204030204" pitchFamily="49" charset="0"/>
                <a:cs typeface="Consolas" panose="020B0609020204030204" pitchFamily="49" charset="0"/>
              </a:rPr>
              <a:t>(</a:t>
            </a:r>
            <a:r>
              <a:rPr lang="fr-BE" dirty="0">
                <a:solidFill>
                  <a:srgbClr val="507874"/>
                </a:solidFill>
                <a:effectLst/>
                <a:latin typeface="Consolas" panose="020B0609020204030204" pitchFamily="49" charset="0"/>
                <a:cs typeface="Consolas" panose="020B0609020204030204" pitchFamily="49" charset="0"/>
              </a:rPr>
              <a:t>U </a:t>
            </a:r>
            <a:r>
              <a:rPr lang="fr-BE" dirty="0">
                <a:latin typeface="Consolas" panose="020B0609020204030204" pitchFamily="49" charset="0"/>
                <a:cs typeface="Consolas" panose="020B0609020204030204" pitchFamily="49" charset="0"/>
              </a:rPr>
              <a:t>premier</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507874"/>
                </a:solidFill>
                <a:effectLst/>
                <a:latin typeface="Consolas" panose="020B0609020204030204" pitchFamily="49" charset="0"/>
                <a:cs typeface="Consolas" panose="020B0609020204030204" pitchFamily="49" charset="0"/>
              </a:rPr>
              <a:t>V </a:t>
            </a:r>
            <a:r>
              <a:rPr lang="fr-BE" dirty="0">
                <a:latin typeface="Consolas" panose="020B0609020204030204" pitchFamily="49" charset="0"/>
                <a:cs typeface="Consolas" panose="020B0609020204030204" pitchFamily="49" charset="0"/>
              </a:rPr>
              <a:t>second)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9876AA"/>
                </a:solidFill>
                <a:effectLst/>
                <a:latin typeface="Consolas" panose="020B0609020204030204" pitchFamily="49" charset="0"/>
                <a:cs typeface="Consolas" panose="020B0609020204030204" pitchFamily="49" charset="0"/>
              </a:rPr>
              <a:t>x </a:t>
            </a:r>
            <a:r>
              <a:rPr lang="fr-BE" dirty="0">
                <a:latin typeface="Consolas" panose="020B0609020204030204" pitchFamily="49" charset="0"/>
                <a:cs typeface="Consolas" panose="020B0609020204030204" pitchFamily="49" charset="0"/>
              </a:rPr>
              <a:t>= premier</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9876AA"/>
                </a:solidFill>
                <a:effectLst/>
                <a:latin typeface="Consolas" panose="020B0609020204030204" pitchFamily="49" charset="0"/>
                <a:cs typeface="Consolas" panose="020B0609020204030204" pitchFamily="49" charset="0"/>
              </a:rPr>
              <a:t>y </a:t>
            </a:r>
            <a:r>
              <a:rPr lang="fr-BE" dirty="0">
                <a:latin typeface="Consolas" panose="020B0609020204030204" pitchFamily="49" charset="0"/>
                <a:cs typeface="Consolas" panose="020B0609020204030204" pitchFamily="49" charset="0"/>
              </a:rPr>
              <a:t>= second</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public </a:t>
            </a:r>
            <a:r>
              <a:rPr lang="fr-BE" dirty="0" err="1">
                <a:solidFill>
                  <a:srgbClr val="CC7832"/>
                </a:solidFill>
                <a:effectLst/>
                <a:latin typeface="Consolas" panose="020B0609020204030204" pitchFamily="49" charset="0"/>
                <a:cs typeface="Consolas" panose="020B0609020204030204" pitchFamily="49" charset="0"/>
              </a:rPr>
              <a:t>void</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FFC66D"/>
                </a:solidFill>
                <a:effectLst/>
                <a:latin typeface="Consolas" panose="020B0609020204030204" pitchFamily="49" charset="0"/>
                <a:cs typeface="Consolas" panose="020B0609020204030204" pitchFamily="49" charset="0"/>
              </a:rPr>
              <a:t>affiche</a:t>
            </a:r>
            <a:r>
              <a:rPr lang="fr-BE" dirty="0">
                <a:latin typeface="Consolas" panose="020B0609020204030204" pitchFamily="49" charset="0"/>
                <a:cs typeface="Consolas" panose="020B0609020204030204" pitchFamily="49" charset="0"/>
              </a:rPr>
              <a:t>()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System.</a:t>
            </a:r>
            <a:r>
              <a:rPr lang="fr-BE" i="1" dirty="0" err="1">
                <a:solidFill>
                  <a:srgbClr val="9876AA"/>
                </a:solidFill>
                <a:effectLst/>
                <a:latin typeface="Consolas" panose="020B0609020204030204" pitchFamily="49" charset="0"/>
                <a:cs typeface="Consolas" panose="020B0609020204030204" pitchFamily="49" charset="0"/>
              </a:rPr>
              <a:t>out</a:t>
            </a:r>
            <a:r>
              <a:rPr lang="fr-BE" dirty="0" err="1">
                <a:latin typeface="Consolas" panose="020B0609020204030204" pitchFamily="49" charset="0"/>
                <a:cs typeface="Consolas" panose="020B0609020204030204" pitchFamily="49" charset="0"/>
              </a:rPr>
              <a:t>.println</a:t>
            </a:r>
            <a:r>
              <a:rPr lang="fr-BE" dirty="0">
                <a:latin typeface="Consolas" panose="020B0609020204030204" pitchFamily="49" charset="0"/>
                <a:cs typeface="Consolas" panose="020B0609020204030204" pitchFamily="49" charset="0"/>
              </a:rPr>
              <a:t>(</a:t>
            </a:r>
            <a:r>
              <a:rPr lang="fr-BE" dirty="0">
                <a:solidFill>
                  <a:srgbClr val="6A8759"/>
                </a:solidFill>
                <a:effectLst/>
                <a:latin typeface="Consolas" panose="020B0609020204030204" pitchFamily="49" charset="0"/>
                <a:cs typeface="Consolas" panose="020B0609020204030204" pitchFamily="49" charset="0"/>
              </a:rPr>
              <a:t>"premier:" </a:t>
            </a:r>
            <a:r>
              <a:rPr lang="fr-BE" dirty="0">
                <a:latin typeface="Consolas" panose="020B0609020204030204" pitchFamily="49" charset="0"/>
                <a:cs typeface="Consolas" panose="020B0609020204030204" pitchFamily="49" charset="0"/>
              </a:rPr>
              <a:t>+ </a:t>
            </a:r>
            <a:r>
              <a:rPr lang="fr-BE" dirty="0">
                <a:solidFill>
                  <a:srgbClr val="9876AA"/>
                </a:solidFill>
                <a:effectLst/>
                <a:latin typeface="Consolas" panose="020B0609020204030204" pitchFamily="49" charset="0"/>
                <a:cs typeface="Consolas" panose="020B0609020204030204" pitchFamily="49" charset="0"/>
              </a:rPr>
              <a:t>x </a:t>
            </a:r>
            <a:r>
              <a:rPr lang="fr-BE" dirty="0">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 second:" </a:t>
            </a:r>
            <a:r>
              <a:rPr lang="fr-BE" dirty="0">
                <a:latin typeface="Consolas" panose="020B0609020204030204" pitchFamily="49" charset="0"/>
                <a:cs typeface="Consolas" panose="020B0609020204030204" pitchFamily="49" charset="0"/>
              </a:rPr>
              <a:t>+ </a:t>
            </a:r>
            <a:r>
              <a:rPr lang="fr-BE" dirty="0">
                <a:solidFill>
                  <a:srgbClr val="9876AA"/>
                </a:solidFill>
                <a:effectLst/>
                <a:latin typeface="Consolas" panose="020B0609020204030204" pitchFamily="49" charset="0"/>
                <a:cs typeface="Consolas" panose="020B0609020204030204" pitchFamily="49" charset="0"/>
              </a:rPr>
              <a:t>y</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public </a:t>
            </a:r>
            <a:r>
              <a:rPr lang="fr-BE" dirty="0">
                <a:solidFill>
                  <a:srgbClr val="507874"/>
                </a:solidFill>
                <a:effectLst/>
                <a:latin typeface="Consolas" panose="020B0609020204030204" pitchFamily="49" charset="0"/>
                <a:cs typeface="Consolas" panose="020B0609020204030204" pitchFamily="49" charset="0"/>
              </a:rPr>
              <a:t>U </a:t>
            </a:r>
            <a:r>
              <a:rPr lang="fr-BE" dirty="0" err="1">
                <a:solidFill>
                  <a:srgbClr val="FFC66D"/>
                </a:solidFill>
                <a:effectLst/>
                <a:latin typeface="Consolas" panose="020B0609020204030204" pitchFamily="49" charset="0"/>
                <a:cs typeface="Consolas" panose="020B0609020204030204" pitchFamily="49" charset="0"/>
              </a:rPr>
              <a:t>getPremier</a:t>
            </a:r>
            <a:r>
              <a:rPr lang="fr-BE" dirty="0">
                <a:latin typeface="Consolas" panose="020B0609020204030204" pitchFamily="49" charset="0"/>
                <a:cs typeface="Consolas" panose="020B0609020204030204" pitchFamily="49" charset="0"/>
              </a:rPr>
              <a:t>()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return </a:t>
            </a:r>
            <a:r>
              <a:rPr lang="fr-BE" dirty="0">
                <a:solidFill>
                  <a:srgbClr val="9876AA"/>
                </a:solidFill>
                <a:effectLst/>
                <a:latin typeface="Consolas" panose="020B0609020204030204" pitchFamily="49" charset="0"/>
                <a:cs typeface="Consolas" panose="020B0609020204030204" pitchFamily="49" charset="0"/>
              </a:rPr>
              <a:t>x</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8" name="ZoneTexte 7">
            <a:extLst>
              <a:ext uri="{FF2B5EF4-FFF2-40B4-BE49-F238E27FC236}">
                <a16:creationId xmlns:a16="http://schemas.microsoft.com/office/drawing/2014/main" id="{1DF94040-AFF5-DFCA-7374-4DBFB19834A1}"/>
              </a:ext>
            </a:extLst>
          </p:cNvPr>
          <p:cNvSpPr txBox="1"/>
          <p:nvPr/>
        </p:nvSpPr>
        <p:spPr>
          <a:xfrm>
            <a:off x="9422295" y="1580322"/>
            <a:ext cx="2604053" cy="1569660"/>
          </a:xfrm>
          <a:prstGeom prst="rect">
            <a:avLst/>
          </a:prstGeom>
          <a:noFill/>
        </p:spPr>
        <p:txBody>
          <a:bodyPr wrap="square">
            <a:spAutoFit/>
          </a:bodyPr>
          <a:lstStyle/>
          <a:p>
            <a:pPr marL="0" indent="0">
              <a:buNone/>
            </a:pPr>
            <a:r>
              <a:rPr lang="fr-FR" sz="2400" dirty="0">
                <a:solidFill>
                  <a:schemeClr val="accent4"/>
                </a:solidFill>
                <a:latin typeface="Consolas"/>
                <a:cs typeface="Consolas"/>
              </a:rPr>
              <a:t>U</a:t>
            </a:r>
            <a:r>
              <a:rPr lang="fr-FR" sz="2400" dirty="0"/>
              <a:t> et </a:t>
            </a:r>
            <a:r>
              <a:rPr lang="fr-FR" sz="2400" dirty="0">
                <a:solidFill>
                  <a:schemeClr val="accent4"/>
                </a:solidFill>
                <a:latin typeface="Consolas"/>
                <a:cs typeface="Consolas"/>
              </a:rPr>
              <a:t>V</a:t>
            </a:r>
            <a:r>
              <a:rPr lang="fr-FR" sz="2400" dirty="0"/>
              <a:t> représentent les types qui seront remplacés à la compilation.</a:t>
            </a:r>
          </a:p>
        </p:txBody>
      </p:sp>
    </p:spTree>
    <p:extLst>
      <p:ext uri="{BB962C8B-B14F-4D97-AF65-F5344CB8AC3E}">
        <p14:creationId xmlns:p14="http://schemas.microsoft.com/office/powerpoint/2010/main" val="3101167554"/>
      </p:ext>
    </p:extLst>
  </p:cSld>
  <p:clrMapOvr>
    <a:masterClrMapping/>
  </p:clrMapOvr>
  <p:transition>
    <p:push di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BC18DC-5789-A343-9CF8-610E340ECFCA}"/>
              </a:ext>
            </a:extLst>
          </p:cNvPr>
          <p:cNvSpPr>
            <a:spLocks noGrp="1"/>
          </p:cNvSpPr>
          <p:nvPr>
            <p:ph type="title"/>
          </p:nvPr>
        </p:nvSpPr>
        <p:spPr/>
        <p:txBody>
          <a:bodyPr/>
          <a:lstStyle/>
          <a:p>
            <a:r>
              <a:rPr lang="fr-FR" dirty="0"/>
              <a:t>Exercice</a:t>
            </a:r>
          </a:p>
        </p:txBody>
      </p:sp>
      <p:sp>
        <p:nvSpPr>
          <p:cNvPr id="5" name="Espace réservé du contenu 4">
            <a:extLst>
              <a:ext uri="{FF2B5EF4-FFF2-40B4-BE49-F238E27FC236}">
                <a16:creationId xmlns:a16="http://schemas.microsoft.com/office/drawing/2014/main" id="{3F8D6BDE-490E-3140-9666-7A039C4FFA76}"/>
              </a:ext>
            </a:extLst>
          </p:cNvPr>
          <p:cNvSpPr>
            <a:spLocks noGrp="1"/>
          </p:cNvSpPr>
          <p:nvPr>
            <p:ph idx="1"/>
          </p:nvPr>
        </p:nvSpPr>
        <p:spPr/>
        <p:txBody>
          <a:bodyPr>
            <a:normAutofit/>
          </a:bodyPr>
          <a:lstStyle/>
          <a:p>
            <a:r>
              <a:rPr lang="fr-FR" sz="2000" dirty="0"/>
              <a:t>Ecrivez une autre classe </a:t>
            </a:r>
            <a:r>
              <a:rPr lang="fr-FR" sz="1800" dirty="0">
                <a:solidFill>
                  <a:schemeClr val="accent4"/>
                </a:solidFill>
                <a:latin typeface="Consolas"/>
                <a:cs typeface="Consolas"/>
              </a:rPr>
              <a:t>Couple2&lt;U, V&gt;</a:t>
            </a:r>
            <a:r>
              <a:rPr lang="fr-FR" sz="2000" dirty="0"/>
              <a:t>, qui modélise un </a:t>
            </a:r>
            <a:br>
              <a:rPr lang="fr-FR" sz="2000" dirty="0"/>
            </a:br>
            <a:r>
              <a:rPr lang="fr-FR" sz="2000" dirty="0"/>
              <a:t>couple de deux objets de types différents. </a:t>
            </a:r>
          </a:p>
          <a:p>
            <a:pPr marL="342900" indent="-342900"/>
            <a:r>
              <a:rPr lang="fr-FR" sz="2000" dirty="0"/>
              <a:t>Son constructeur prend deux objets (premier et second).</a:t>
            </a:r>
          </a:p>
          <a:p>
            <a:pPr marL="342900" indent="-342900"/>
            <a:r>
              <a:rPr lang="fr-FR" sz="2000" dirty="0"/>
              <a:t>Elle présente deux méthodes </a:t>
            </a:r>
            <a:r>
              <a:rPr lang="fr-FR" sz="1800" dirty="0" err="1">
                <a:solidFill>
                  <a:schemeClr val="accent4"/>
                </a:solidFill>
                <a:latin typeface="Consolas"/>
                <a:cs typeface="Consolas"/>
              </a:rPr>
              <a:t>getPremier</a:t>
            </a:r>
            <a:r>
              <a:rPr lang="fr-FR" sz="2000" dirty="0"/>
              <a:t> et </a:t>
            </a:r>
            <a:r>
              <a:rPr lang="fr-FR" sz="1800" dirty="0" err="1">
                <a:solidFill>
                  <a:schemeClr val="accent4"/>
                </a:solidFill>
                <a:latin typeface="Consolas"/>
                <a:cs typeface="Consolas"/>
              </a:rPr>
              <a:t>getSecond</a:t>
            </a:r>
            <a:r>
              <a:rPr lang="fr-FR" sz="2000" dirty="0"/>
              <a:t>. </a:t>
            </a:r>
          </a:p>
          <a:p>
            <a:pPr marL="342900" indent="-342900"/>
            <a:r>
              <a:rPr lang="fr-FR" sz="2000" dirty="0"/>
              <a:t>… ainsi qu’une méthode </a:t>
            </a:r>
            <a:r>
              <a:rPr lang="fr-FR" sz="1800" dirty="0" err="1">
                <a:solidFill>
                  <a:schemeClr val="accent4"/>
                </a:solidFill>
                <a:latin typeface="Consolas"/>
                <a:cs typeface="Consolas"/>
              </a:rPr>
              <a:t>toString</a:t>
            </a:r>
            <a:r>
              <a:rPr lang="fr-FR" sz="2000" dirty="0"/>
              <a:t> qui retourne ﻿</a:t>
            </a:r>
            <a:br>
              <a:rPr lang="fr-FR" sz="2000" dirty="0"/>
            </a:br>
            <a:endParaRPr lang="fr-FR" sz="2000" dirty="0"/>
          </a:p>
          <a:p>
            <a:pPr marL="342900" indent="-342900"/>
            <a:endParaRPr lang="fr-FR" sz="2000" dirty="0"/>
          </a:p>
          <a:p>
            <a:r>
              <a:rPr lang="fr-FR" sz="2000" dirty="0"/>
              <a:t>Ecrivez aussi un programme dans lequel vous créez un couple de deux </a:t>
            </a:r>
            <a:r>
              <a:rPr lang="fr-FR" sz="1800" dirty="0" err="1">
                <a:solidFill>
                  <a:schemeClr val="accent4"/>
                </a:solidFill>
                <a:latin typeface="Consolas"/>
                <a:cs typeface="Consolas"/>
              </a:rPr>
              <a:t>Integer</a:t>
            </a:r>
            <a:r>
              <a:rPr lang="fr-FR" sz="2000" dirty="0"/>
              <a:t> et un couple contenant un </a:t>
            </a:r>
            <a:r>
              <a:rPr lang="fr-FR" sz="1800" dirty="0" err="1">
                <a:solidFill>
                  <a:schemeClr val="accent4"/>
                </a:solidFill>
                <a:latin typeface="Consolas"/>
                <a:cs typeface="Consolas"/>
              </a:rPr>
              <a:t>Integer</a:t>
            </a:r>
            <a:r>
              <a:rPr lang="fr-FR" sz="2000" dirty="0"/>
              <a:t> et un </a:t>
            </a:r>
            <a:r>
              <a:rPr lang="fr-FR" sz="1800" dirty="0">
                <a:solidFill>
                  <a:schemeClr val="accent4"/>
                </a:solidFill>
                <a:latin typeface="Consolas"/>
                <a:cs typeface="Consolas"/>
              </a:rPr>
              <a:t>Double</a:t>
            </a:r>
            <a:r>
              <a:rPr lang="fr-FR" sz="2000" dirty="0"/>
              <a:t>.</a:t>
            </a:r>
            <a:br>
              <a:rPr lang="fr-FR" sz="2000" dirty="0"/>
            </a:br>
            <a:r>
              <a:rPr lang="fr-FR" sz="2000" dirty="0"/>
              <a:t>Affichez les valeurs en appelant les différentes méthodes de la classe </a:t>
            </a:r>
            <a:r>
              <a:rPr lang="fr-FR" sz="1800" dirty="0">
                <a:solidFill>
                  <a:schemeClr val="accent4"/>
                </a:solidFill>
                <a:latin typeface="Consolas"/>
                <a:cs typeface="Consolas"/>
              </a:rPr>
              <a:t>Couple&lt;U, V&gt;</a:t>
            </a:r>
            <a:r>
              <a:rPr lang="fr-FR" sz="2000" dirty="0"/>
              <a:t>.</a:t>
            </a:r>
          </a:p>
          <a:p>
            <a:endParaRPr lang="fr-FR" sz="2000" dirty="0"/>
          </a:p>
        </p:txBody>
      </p:sp>
      <p:sp>
        <p:nvSpPr>
          <p:cNvPr id="7" name="ZoneTexte 6">
            <a:extLst>
              <a:ext uri="{FF2B5EF4-FFF2-40B4-BE49-F238E27FC236}">
                <a16:creationId xmlns:a16="http://schemas.microsoft.com/office/drawing/2014/main" id="{7B4ACA39-4994-2486-4246-C6105848CBE8}"/>
              </a:ext>
            </a:extLst>
          </p:cNvPr>
          <p:cNvSpPr txBox="1"/>
          <p:nvPr/>
        </p:nvSpPr>
        <p:spPr>
          <a:xfrm>
            <a:off x="1928191" y="3832017"/>
            <a:ext cx="7199906" cy="369332"/>
          </a:xfrm>
          <a:prstGeom prst="rect">
            <a:avLst/>
          </a:prstGeom>
          <a:solidFill>
            <a:srgbClr val="2B2B2B"/>
          </a:solidFill>
        </p:spPr>
        <p:txBody>
          <a:bodyPr wrap="square">
            <a:spAutoFit/>
          </a:bodyPr>
          <a:lstStyle/>
          <a:p>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premiere</a:t>
            </a:r>
            <a:r>
              <a:rPr lang="fr-BE" dirty="0">
                <a:solidFill>
                  <a:srgbClr val="6A8759"/>
                </a:solidFill>
                <a:effectLst/>
                <a:latin typeface="Consolas" panose="020B0609020204030204" pitchFamily="49" charset="0"/>
                <a:cs typeface="Consolas" panose="020B0609020204030204" pitchFamily="49" charset="0"/>
              </a:rPr>
              <a:t> valeur : " </a:t>
            </a:r>
            <a:r>
              <a:rPr lang="fr-BE" dirty="0">
                <a:latin typeface="Consolas" panose="020B0609020204030204" pitchFamily="49" charset="0"/>
                <a:cs typeface="Consolas" panose="020B0609020204030204" pitchFamily="49" charset="0"/>
              </a:rPr>
              <a:t>+ p + </a:t>
            </a:r>
            <a:r>
              <a:rPr lang="fr-BE" dirty="0">
                <a:solidFill>
                  <a:srgbClr val="6A8759"/>
                </a:solidFill>
                <a:effectLst/>
                <a:latin typeface="Consolas" panose="020B0609020204030204" pitchFamily="49" charset="0"/>
                <a:cs typeface="Consolas" panose="020B0609020204030204" pitchFamily="49" charset="0"/>
              </a:rPr>
              <a:t>" - </a:t>
            </a:r>
            <a:r>
              <a:rPr lang="fr-BE" dirty="0" err="1">
                <a:solidFill>
                  <a:srgbClr val="6A8759"/>
                </a:solidFill>
                <a:effectLst/>
                <a:latin typeface="Consolas" panose="020B0609020204030204" pitchFamily="49" charset="0"/>
                <a:cs typeface="Consolas" panose="020B0609020204030204" pitchFamily="49" charset="0"/>
              </a:rPr>
              <a:t>deuxieme</a:t>
            </a:r>
            <a:r>
              <a:rPr lang="fr-BE" dirty="0">
                <a:solidFill>
                  <a:srgbClr val="6A8759"/>
                </a:solidFill>
                <a:effectLst/>
                <a:latin typeface="Consolas" panose="020B0609020204030204" pitchFamily="49" charset="0"/>
                <a:cs typeface="Consolas" panose="020B0609020204030204" pitchFamily="49" charset="0"/>
              </a:rPr>
              <a:t> valeur : " </a:t>
            </a:r>
            <a:r>
              <a:rPr lang="fr-BE" dirty="0">
                <a:latin typeface="Consolas" panose="020B0609020204030204" pitchFamily="49" charset="0"/>
                <a:cs typeface="Consolas" panose="020B0609020204030204" pitchFamily="49" charset="0"/>
              </a:rPr>
              <a:t>+ s</a:t>
            </a:r>
            <a:endParaRPr lang="fr-FR"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1861831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Convention sur les noms de types</a:t>
            </a:r>
          </a:p>
        </p:txBody>
      </p:sp>
      <p:sp>
        <p:nvSpPr>
          <p:cNvPr id="5" name="Espace réservé du contenu 4"/>
          <p:cNvSpPr>
            <a:spLocks noGrp="1"/>
          </p:cNvSpPr>
          <p:nvPr>
            <p:ph idx="1"/>
          </p:nvPr>
        </p:nvSpPr>
        <p:spPr/>
        <p:txBody>
          <a:bodyPr>
            <a:normAutofit/>
          </a:bodyPr>
          <a:lstStyle/>
          <a:p>
            <a:pPr marL="0" indent="0">
              <a:buNone/>
            </a:pPr>
            <a:r>
              <a:rPr lang="fr-FR" dirty="0"/>
              <a:t>Il est recommandé, lors de la création d'une classe qui utilise un générique, d'utiliser la convention de nommage suivante: </a:t>
            </a:r>
          </a:p>
          <a:p>
            <a:r>
              <a:rPr lang="fr-FR" dirty="0">
                <a:solidFill>
                  <a:schemeClr val="accent4"/>
                </a:solidFill>
                <a:latin typeface="Consolas"/>
                <a:cs typeface="Consolas"/>
              </a:rPr>
              <a:t>&lt;E&gt;</a:t>
            </a:r>
            <a:r>
              <a:rPr lang="fr-FR" dirty="0"/>
              <a:t>: </a:t>
            </a:r>
            <a:r>
              <a:rPr lang="fr-FR" dirty="0" err="1"/>
              <a:t>Element</a:t>
            </a:r>
            <a:r>
              <a:rPr lang="fr-FR" dirty="0"/>
              <a:t> (utilisé pour les collections)</a:t>
            </a:r>
          </a:p>
          <a:p>
            <a:r>
              <a:rPr lang="fr-FR" dirty="0">
                <a:solidFill>
                  <a:schemeClr val="accent4"/>
                </a:solidFill>
                <a:latin typeface="Consolas"/>
                <a:cs typeface="Consolas"/>
              </a:rPr>
              <a:t>&lt;K&gt;</a:t>
            </a:r>
            <a:r>
              <a:rPr lang="fr-FR" dirty="0"/>
              <a:t> et </a:t>
            </a:r>
            <a:r>
              <a:rPr lang="fr-FR" dirty="0">
                <a:solidFill>
                  <a:schemeClr val="accent4"/>
                </a:solidFill>
                <a:latin typeface="Consolas"/>
                <a:cs typeface="Consolas"/>
              </a:rPr>
              <a:t>&lt;V&gt;</a:t>
            </a:r>
            <a:r>
              <a:rPr lang="fr-FR" dirty="0"/>
              <a:t>: Key et Value (utilisé pour les ensembles)</a:t>
            </a:r>
          </a:p>
          <a:p>
            <a:r>
              <a:rPr lang="fr-FR" dirty="0">
                <a:solidFill>
                  <a:schemeClr val="accent4"/>
                </a:solidFill>
                <a:latin typeface="Consolas"/>
                <a:cs typeface="Consolas"/>
              </a:rPr>
              <a:t>&lt;N&gt;</a:t>
            </a:r>
            <a:r>
              <a:rPr lang="fr-FR" dirty="0"/>
              <a:t>: </a:t>
            </a:r>
            <a:r>
              <a:rPr lang="fr-FR" dirty="0" err="1"/>
              <a:t>Number</a:t>
            </a:r>
            <a:endParaRPr lang="fr-FR" dirty="0"/>
          </a:p>
          <a:p>
            <a:r>
              <a:rPr lang="fr-FR" dirty="0">
                <a:solidFill>
                  <a:schemeClr val="accent4"/>
                </a:solidFill>
                <a:latin typeface="Consolas"/>
                <a:cs typeface="Consolas"/>
              </a:rPr>
              <a:t>&lt;</a:t>
            </a:r>
            <a:r>
              <a:rPr lang="fr-FR" dirty="0" err="1">
                <a:solidFill>
                  <a:schemeClr val="accent4"/>
                </a:solidFill>
                <a:latin typeface="Consolas"/>
                <a:cs typeface="Consolas"/>
              </a:rPr>
              <a:t>T</a:t>
            </a:r>
            <a:r>
              <a:rPr lang="fr-FR" dirty="0">
                <a:solidFill>
                  <a:schemeClr val="accent4"/>
                </a:solidFill>
                <a:latin typeface="Consolas"/>
                <a:cs typeface="Consolas"/>
              </a:rPr>
              <a:t>&gt;</a:t>
            </a:r>
            <a:r>
              <a:rPr lang="fr-FR" dirty="0"/>
              <a:t>: Type</a:t>
            </a:r>
          </a:p>
          <a:p>
            <a:r>
              <a:rPr lang="fr-FR" dirty="0">
                <a:solidFill>
                  <a:schemeClr val="accent4"/>
                </a:solidFill>
                <a:latin typeface="Consolas"/>
                <a:cs typeface="Consolas"/>
              </a:rPr>
              <a:t>&lt;U&gt;</a:t>
            </a:r>
            <a:r>
              <a:rPr lang="fr-FR" dirty="0"/>
              <a:t>, </a:t>
            </a:r>
            <a:r>
              <a:rPr lang="fr-FR" dirty="0">
                <a:solidFill>
                  <a:schemeClr val="accent4"/>
                </a:solidFill>
                <a:latin typeface="Consolas"/>
                <a:cs typeface="Consolas"/>
              </a:rPr>
              <a:t>&lt;V&gt;</a:t>
            </a:r>
            <a:r>
              <a:rPr lang="fr-FR" dirty="0"/>
              <a:t>...: second type, troisième, etc...</a:t>
            </a:r>
          </a:p>
        </p:txBody>
      </p:sp>
    </p:spTree>
    <p:extLst>
      <p:ext uri="{BB962C8B-B14F-4D97-AF65-F5344CB8AC3E}">
        <p14:creationId xmlns:p14="http://schemas.microsoft.com/office/powerpoint/2010/main" val="3272417894"/>
      </p:ext>
    </p:extLst>
  </p:cSld>
  <p:clrMapOvr>
    <a:masterClrMapping/>
  </p:clrMapOvr>
  <p:transition>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génériques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Le concept de type générique</a:t>
            </a:r>
          </a:p>
          <a:p>
            <a:pPr marL="342900" indent="-342900">
              <a:lnSpc>
                <a:spcPct val="80000"/>
              </a:lnSpc>
              <a:buFont typeface="Arial"/>
              <a:buChar char="•"/>
            </a:pPr>
            <a:r>
              <a:rPr lang="fr-FR" dirty="0"/>
              <a:t>Classe Générique à un seul paramètre</a:t>
            </a:r>
          </a:p>
          <a:p>
            <a:pPr marL="342900" indent="-342900">
              <a:lnSpc>
                <a:spcPct val="80000"/>
              </a:lnSpc>
              <a:buFont typeface="Arial"/>
              <a:buChar char="•"/>
            </a:pPr>
            <a:r>
              <a:rPr lang="fr-FR" dirty="0"/>
              <a:t>Classe Générique à plusieurs paramètres</a:t>
            </a:r>
          </a:p>
          <a:p>
            <a:pPr marL="342900" indent="-342900">
              <a:lnSpc>
                <a:spcPct val="80000"/>
              </a:lnSpc>
              <a:buFont typeface="Arial"/>
              <a:buChar char="•"/>
            </a:pPr>
            <a:r>
              <a:rPr lang="fr-FR" dirty="0">
                <a:solidFill>
                  <a:schemeClr val="accent4"/>
                </a:solidFill>
              </a:rPr>
              <a:t>Compilation des types génériques</a:t>
            </a:r>
          </a:p>
          <a:p>
            <a:pPr marL="342900" indent="-342900">
              <a:lnSpc>
                <a:spcPct val="80000"/>
              </a:lnSpc>
              <a:buFont typeface="Arial"/>
              <a:buChar char="•"/>
            </a:pPr>
            <a:r>
              <a:rPr lang="fr-FR" dirty="0"/>
              <a:t>Méthodes génériques</a:t>
            </a:r>
          </a:p>
          <a:p>
            <a:pPr marL="342900" indent="-342900">
              <a:lnSpc>
                <a:spcPct val="80000"/>
              </a:lnSpc>
              <a:buFont typeface="Arial"/>
              <a:buChar char="•"/>
            </a:pPr>
            <a:r>
              <a:rPr lang="fr-FR" dirty="0"/>
              <a:t>Limitations sur le type</a:t>
            </a:r>
          </a:p>
          <a:p>
            <a:pPr marL="342900" indent="-342900">
              <a:lnSpc>
                <a:spcPct val="80000"/>
              </a:lnSpc>
              <a:buFont typeface="Arial"/>
              <a:buChar char="•"/>
            </a:pPr>
            <a:r>
              <a:rPr lang="fr-FR" dirty="0"/>
              <a:t>Type générique et héritage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Tree>
    <p:extLst>
      <p:ext uri="{BB962C8B-B14F-4D97-AF65-F5344CB8AC3E}">
        <p14:creationId xmlns:p14="http://schemas.microsoft.com/office/powerpoint/2010/main" val="36278027"/>
      </p:ext>
    </p:extLst>
  </p:cSld>
  <p:clrMapOvr>
    <a:masterClrMapping/>
  </p:clrMapOvr>
  <p:transition>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Que se passe-t-il à la compilation?</a:t>
            </a:r>
          </a:p>
        </p:txBody>
      </p:sp>
      <p:sp>
        <p:nvSpPr>
          <p:cNvPr id="5" name="Espace réservé du contenu 4"/>
          <p:cNvSpPr>
            <a:spLocks noGrp="1"/>
          </p:cNvSpPr>
          <p:nvPr>
            <p:ph idx="1"/>
          </p:nvPr>
        </p:nvSpPr>
        <p:spPr/>
        <p:txBody>
          <a:bodyPr>
            <a:normAutofit/>
          </a:bodyPr>
          <a:lstStyle/>
          <a:p>
            <a:pPr marL="0" indent="0">
              <a:buNone/>
            </a:pPr>
            <a:r>
              <a:rPr lang="fr-FR" dirty="0"/>
              <a:t>Lors de la </a:t>
            </a:r>
            <a:r>
              <a:rPr lang="fr-FR" dirty="0">
                <a:solidFill>
                  <a:schemeClr val="accent4"/>
                </a:solidFill>
              </a:rPr>
              <a:t>compilation</a:t>
            </a:r>
            <a:r>
              <a:rPr lang="fr-FR" dirty="0"/>
              <a:t>, essayons maintenant de comprendre ce qu’il se passe…</a:t>
            </a:r>
          </a:p>
          <a:p>
            <a:pPr marL="457200" indent="-457200">
              <a:buAutoNum type="arabicPeriod"/>
            </a:pPr>
            <a:r>
              <a:rPr lang="fr-FR" dirty="0"/>
              <a:t>Du point de vue de la classe générique.</a:t>
            </a:r>
          </a:p>
          <a:p>
            <a:pPr marL="457200" indent="-457200">
              <a:buAutoNum type="arabicPeriod"/>
            </a:pPr>
            <a:r>
              <a:rPr lang="fr-FR" dirty="0"/>
              <a:t>Du point de vue du client (= la classe qui utilise la classe générique).</a:t>
            </a:r>
          </a:p>
        </p:txBody>
      </p:sp>
    </p:spTree>
    <p:extLst>
      <p:ext uri="{BB962C8B-B14F-4D97-AF65-F5344CB8AC3E}">
        <p14:creationId xmlns:p14="http://schemas.microsoft.com/office/powerpoint/2010/main" val="3200870393"/>
      </p:ext>
    </p:extLst>
  </p:cSld>
  <p:clrMapOvr>
    <a:masterClrMapping/>
  </p:clrMapOvr>
  <p:transition>
    <p:push dir="u"/>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Compilation de la classe générique</a:t>
            </a:r>
          </a:p>
        </p:txBody>
      </p:sp>
      <p:sp>
        <p:nvSpPr>
          <p:cNvPr id="5" name="Espace réservé du contenu 4"/>
          <p:cNvSpPr>
            <a:spLocks noGrp="1"/>
          </p:cNvSpPr>
          <p:nvPr>
            <p:ph idx="1"/>
          </p:nvPr>
        </p:nvSpPr>
        <p:spPr>
          <a:xfrm>
            <a:off x="838200" y="1825625"/>
            <a:ext cx="10515600" cy="1603375"/>
          </a:xfrm>
        </p:spPr>
        <p:txBody>
          <a:bodyPr>
            <a:normAutofit/>
          </a:bodyPr>
          <a:lstStyle/>
          <a:p>
            <a:pPr marL="0" indent="0">
              <a:buNone/>
            </a:pPr>
            <a:r>
              <a:rPr lang="fr-FR" sz="1800" dirty="0"/>
              <a:t>Pour le compilateur, le </a:t>
            </a:r>
            <a:r>
              <a:rPr lang="fr-FR" sz="1800" dirty="0">
                <a:solidFill>
                  <a:schemeClr val="accent4"/>
                </a:solidFill>
              </a:rPr>
              <a:t>byte code généré lors de compilation de la classe générique </a:t>
            </a:r>
            <a:r>
              <a:rPr lang="fr-FR" sz="1800" dirty="0"/>
              <a:t>est identique à celui qui serait généré pour la classe suivante:</a:t>
            </a:r>
          </a:p>
          <a:p>
            <a:endParaRPr lang="fr-FR" sz="1800" dirty="0"/>
          </a:p>
          <a:p>
            <a:endParaRPr lang="fr-FR" sz="1800" dirty="0"/>
          </a:p>
          <a:p>
            <a:endParaRPr lang="fr-FR" sz="1800" dirty="0"/>
          </a:p>
        </p:txBody>
      </p:sp>
      <p:sp>
        <p:nvSpPr>
          <p:cNvPr id="7" name="ZoneTexte 6">
            <a:extLst>
              <a:ext uri="{FF2B5EF4-FFF2-40B4-BE49-F238E27FC236}">
                <a16:creationId xmlns:a16="http://schemas.microsoft.com/office/drawing/2014/main" id="{9CB8535D-B0A8-F927-C404-0A9EC4755E3B}"/>
              </a:ext>
            </a:extLst>
          </p:cNvPr>
          <p:cNvSpPr txBox="1"/>
          <p:nvPr/>
        </p:nvSpPr>
        <p:spPr>
          <a:xfrm>
            <a:off x="1793018" y="2480489"/>
            <a:ext cx="7557715" cy="3323987"/>
          </a:xfrm>
          <a:prstGeom prst="rect">
            <a:avLst/>
          </a:prstGeom>
          <a:solidFill>
            <a:srgbClr val="2B2B2B"/>
          </a:solidFill>
        </p:spPr>
        <p:txBody>
          <a:bodyPr wrap="square">
            <a:spAutoFit/>
          </a:bodyPr>
          <a:lstStyle/>
          <a:p>
            <a:r>
              <a:rPr lang="fr-BE" sz="1400" dirty="0">
                <a:solidFill>
                  <a:srgbClr val="CC7832"/>
                </a:solidFill>
                <a:effectLst/>
                <a:latin typeface="Consolas" panose="020B0609020204030204" pitchFamily="49" charset="0"/>
                <a:cs typeface="Consolas" panose="020B0609020204030204" pitchFamily="49" charset="0"/>
              </a:rPr>
              <a:t>public class </a:t>
            </a:r>
            <a:r>
              <a:rPr lang="fr-BE" sz="1400" dirty="0">
                <a:latin typeface="Consolas" panose="020B0609020204030204" pitchFamily="49" charset="0"/>
                <a:cs typeface="Consolas" panose="020B0609020204030204" pitchFamily="49" charset="0"/>
              </a:rPr>
              <a:t>Couple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private</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Object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public </a:t>
            </a:r>
            <a:r>
              <a:rPr lang="fr-BE" sz="1400" dirty="0">
                <a:solidFill>
                  <a:srgbClr val="FFC66D"/>
                </a:solidFill>
                <a:effectLst/>
                <a:latin typeface="Consolas" panose="020B0609020204030204" pitchFamily="49" charset="0"/>
                <a:cs typeface="Consolas" panose="020B0609020204030204" pitchFamily="49" charset="0"/>
              </a:rPr>
              <a:t>Couple</a:t>
            </a:r>
            <a:r>
              <a:rPr lang="fr-BE" sz="1400" dirty="0">
                <a:latin typeface="Consolas" panose="020B0609020204030204" pitchFamily="49" charset="0"/>
                <a:cs typeface="Consolas" panose="020B0609020204030204" pitchFamily="49" charset="0"/>
              </a:rPr>
              <a:t>(Object 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Object second)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 </a:t>
            </a:r>
            <a:r>
              <a:rPr lang="fr-BE" sz="1400" dirty="0">
                <a:latin typeface="Consolas" panose="020B0609020204030204" pitchFamily="49" charset="0"/>
                <a:cs typeface="Consolas" panose="020B0609020204030204" pitchFamily="49" charset="0"/>
              </a:rPr>
              <a:t>= second</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CC7832"/>
                </a:solidFill>
                <a:effectLst/>
                <a:latin typeface="Consolas" panose="020B0609020204030204" pitchFamily="49" charset="0"/>
                <a:cs typeface="Consolas" panose="020B0609020204030204" pitchFamily="49" charset="0"/>
              </a:rPr>
              <a:t>void</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FFC66D"/>
                </a:solidFill>
                <a:effectLst/>
                <a:latin typeface="Consolas" panose="020B0609020204030204" pitchFamily="49" charset="0"/>
                <a:cs typeface="Consolas" panose="020B0609020204030204" pitchFamily="49" charset="0"/>
              </a:rPr>
              <a:t>affiche</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"première : "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a:t>
            </a:r>
            <a:r>
              <a:rPr lang="fr-BE" sz="1400" dirty="0">
                <a:solidFill>
                  <a:srgbClr val="6A8759"/>
                </a:solidFill>
                <a:effectLst/>
                <a:latin typeface="Consolas" panose="020B0609020204030204" pitchFamily="49" charset="0"/>
                <a:cs typeface="Consolas" panose="020B0609020204030204" pitchFamily="49" charset="0"/>
              </a:rPr>
              <a:t>" - deuxième : "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Object </a:t>
            </a:r>
            <a:r>
              <a:rPr lang="fr-BE" sz="1400" dirty="0" err="1">
                <a:solidFill>
                  <a:srgbClr val="FFC66D"/>
                </a:solidFill>
                <a:effectLst/>
                <a:latin typeface="Consolas" panose="020B0609020204030204" pitchFamily="49" charset="0"/>
                <a:cs typeface="Consolas" panose="020B0609020204030204" pitchFamily="49" charset="0"/>
              </a:rPr>
              <a:t>getPremier</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return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sp>
        <p:nvSpPr>
          <p:cNvPr id="9" name="ZoneTexte 8">
            <a:extLst>
              <a:ext uri="{FF2B5EF4-FFF2-40B4-BE49-F238E27FC236}">
                <a16:creationId xmlns:a16="http://schemas.microsoft.com/office/drawing/2014/main" id="{82EBD64E-FC66-240E-A736-B7627428B2B9}"/>
              </a:ext>
            </a:extLst>
          </p:cNvPr>
          <p:cNvSpPr txBox="1"/>
          <p:nvPr/>
        </p:nvSpPr>
        <p:spPr>
          <a:xfrm>
            <a:off x="838200" y="5804476"/>
            <a:ext cx="8162014" cy="369332"/>
          </a:xfrm>
          <a:prstGeom prst="rect">
            <a:avLst/>
          </a:prstGeom>
          <a:noFill/>
        </p:spPr>
        <p:txBody>
          <a:bodyPr wrap="square">
            <a:spAutoFit/>
          </a:bodyPr>
          <a:lstStyle/>
          <a:p>
            <a:r>
              <a:rPr lang="fr-FR" sz="1800" dirty="0"/>
              <a:t>Le type </a:t>
            </a:r>
            <a:r>
              <a:rPr lang="fr-FR" sz="1600" dirty="0">
                <a:solidFill>
                  <a:schemeClr val="accent4"/>
                </a:solidFill>
                <a:latin typeface="Consolas" panose="020B0609020204030204" pitchFamily="49" charset="0"/>
                <a:cs typeface="Consolas" panose="020B0609020204030204" pitchFamily="49" charset="0"/>
              </a:rPr>
              <a:t>Couple&lt;</a:t>
            </a:r>
            <a:r>
              <a:rPr lang="fr-FR" sz="1600" dirty="0" err="1">
                <a:solidFill>
                  <a:schemeClr val="accent4"/>
                </a:solidFill>
                <a:latin typeface="Consolas" panose="020B0609020204030204" pitchFamily="49" charset="0"/>
                <a:cs typeface="Consolas" panose="020B0609020204030204" pitchFamily="49" charset="0"/>
              </a:rPr>
              <a:t>T</a:t>
            </a:r>
            <a:r>
              <a:rPr lang="fr-FR" sz="1600" dirty="0">
                <a:solidFill>
                  <a:schemeClr val="accent4"/>
                </a:solidFill>
                <a:latin typeface="Consolas" panose="020B0609020204030204" pitchFamily="49" charset="0"/>
                <a:cs typeface="Consolas" panose="020B0609020204030204" pitchFamily="49" charset="0"/>
              </a:rPr>
              <a:t>&gt;</a:t>
            </a:r>
            <a:r>
              <a:rPr lang="fr-FR" sz="1800" dirty="0"/>
              <a:t> a été </a:t>
            </a:r>
            <a:r>
              <a:rPr lang="fr-FR" sz="1800" dirty="0">
                <a:solidFill>
                  <a:schemeClr val="accent4"/>
                </a:solidFill>
              </a:rPr>
              <a:t>remplacé par le « type brut »</a:t>
            </a:r>
            <a:r>
              <a:rPr lang="fr-FR" sz="1800" dirty="0"/>
              <a:t> </a:t>
            </a:r>
            <a:r>
              <a:rPr lang="fr-FR" sz="1600" dirty="0">
                <a:solidFill>
                  <a:schemeClr val="accent4"/>
                </a:solidFill>
                <a:latin typeface="Consolas" panose="020B0609020204030204" pitchFamily="49" charset="0"/>
                <a:cs typeface="Consolas" panose="020B0609020204030204" pitchFamily="49" charset="0"/>
              </a:rPr>
              <a:t>Couple</a:t>
            </a:r>
            <a:r>
              <a:rPr lang="fr-FR" sz="1800" dirty="0"/>
              <a:t>.</a:t>
            </a:r>
            <a:endParaRPr lang="fr-FR" sz="1800" dirty="0">
              <a:solidFill>
                <a:srgbClr val="A6082B"/>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227686289"/>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Compilation de la classe client</a:t>
            </a:r>
          </a:p>
        </p:txBody>
      </p:sp>
      <p:sp>
        <p:nvSpPr>
          <p:cNvPr id="5" name="Espace réservé du contenu 4"/>
          <p:cNvSpPr>
            <a:spLocks noGrp="1"/>
          </p:cNvSpPr>
          <p:nvPr>
            <p:ph idx="1"/>
          </p:nvPr>
        </p:nvSpPr>
        <p:spPr>
          <a:xfrm>
            <a:off x="838200" y="1825625"/>
            <a:ext cx="10515600" cy="752964"/>
          </a:xfrm>
        </p:spPr>
        <p:txBody>
          <a:bodyPr>
            <a:normAutofit/>
          </a:bodyPr>
          <a:lstStyle/>
          <a:p>
            <a:pPr marL="0" indent="0">
              <a:buNone/>
            </a:pPr>
            <a:r>
              <a:rPr lang="fr-FR" sz="1800" dirty="0"/>
              <a:t>Pour </a:t>
            </a:r>
            <a:r>
              <a:rPr lang="fr-FR" sz="1800" dirty="0">
                <a:solidFill>
                  <a:schemeClr val="accent4"/>
                </a:solidFill>
              </a:rPr>
              <a:t>la classe client (qui utilise)</a:t>
            </a:r>
            <a:r>
              <a:rPr lang="fr-FR" sz="1800" dirty="0"/>
              <a:t>, si nous avons par exemple déclaré</a:t>
            </a:r>
          </a:p>
        </p:txBody>
      </p:sp>
      <p:sp>
        <p:nvSpPr>
          <p:cNvPr id="7" name="ZoneTexte 6">
            <a:extLst>
              <a:ext uri="{FF2B5EF4-FFF2-40B4-BE49-F238E27FC236}">
                <a16:creationId xmlns:a16="http://schemas.microsoft.com/office/drawing/2014/main" id="{BBA904A4-8517-4E41-20E6-32E93860B13E}"/>
              </a:ext>
            </a:extLst>
          </p:cNvPr>
          <p:cNvSpPr txBox="1"/>
          <p:nvPr/>
        </p:nvSpPr>
        <p:spPr>
          <a:xfrm>
            <a:off x="2842591" y="2292165"/>
            <a:ext cx="6098650" cy="338554"/>
          </a:xfrm>
          <a:prstGeom prst="rect">
            <a:avLst/>
          </a:prstGeom>
          <a:solidFill>
            <a:srgbClr val="2B2B2B"/>
          </a:solidFill>
        </p:spPr>
        <p:txBody>
          <a:bodyPr wrap="square">
            <a:spAutoFit/>
          </a:bodyPr>
          <a:lstStyle/>
          <a:p>
            <a:r>
              <a:rPr lang="fr-BE" sz="1600" dirty="0">
                <a:latin typeface="Consolas" panose="020B0609020204030204" pitchFamily="49" charset="0"/>
                <a:cs typeface="Consolas" panose="020B0609020204030204" pitchFamily="49" charset="0"/>
              </a:rPr>
              <a:t>Couple&lt;Integer&gt; ci</a:t>
            </a:r>
            <a:r>
              <a:rPr lang="fr-BE" sz="1600" dirty="0">
                <a:solidFill>
                  <a:srgbClr val="CC7832"/>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9" name="ZoneTexte 8">
            <a:extLst>
              <a:ext uri="{FF2B5EF4-FFF2-40B4-BE49-F238E27FC236}">
                <a16:creationId xmlns:a16="http://schemas.microsoft.com/office/drawing/2014/main" id="{7CBA92BA-E67B-23D4-B8A8-AF5EC6C2D612}"/>
              </a:ext>
            </a:extLst>
          </p:cNvPr>
          <p:cNvSpPr txBox="1"/>
          <p:nvPr/>
        </p:nvSpPr>
        <p:spPr>
          <a:xfrm>
            <a:off x="2842591" y="3294028"/>
            <a:ext cx="6098650" cy="338554"/>
          </a:xfrm>
          <a:prstGeom prst="rect">
            <a:avLst/>
          </a:prstGeom>
          <a:solidFill>
            <a:srgbClr val="2B2B2B"/>
          </a:solidFill>
        </p:spPr>
        <p:txBody>
          <a:bodyPr wrap="square">
            <a:spAutoFit/>
          </a:bodyPr>
          <a:lstStyle/>
          <a:p>
            <a:r>
              <a:rPr lang="fr-BE" sz="1600" dirty="0" err="1">
                <a:latin typeface="Consolas" panose="020B0609020204030204" pitchFamily="49" charset="0"/>
                <a:cs typeface="Consolas" panose="020B0609020204030204" pitchFamily="49" charset="0"/>
              </a:rPr>
              <a:t>ci.getPremier</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11" name="ZoneTexte 10">
            <a:extLst>
              <a:ext uri="{FF2B5EF4-FFF2-40B4-BE49-F238E27FC236}">
                <a16:creationId xmlns:a16="http://schemas.microsoft.com/office/drawing/2014/main" id="{27F6F1BA-8C82-F6E7-C69B-FFFBB30E8605}"/>
              </a:ext>
            </a:extLst>
          </p:cNvPr>
          <p:cNvSpPr txBox="1"/>
          <p:nvPr/>
        </p:nvSpPr>
        <p:spPr>
          <a:xfrm>
            <a:off x="2842591" y="4126614"/>
            <a:ext cx="6098650" cy="338554"/>
          </a:xfrm>
          <a:prstGeom prst="rect">
            <a:avLst/>
          </a:prstGeom>
          <a:solidFill>
            <a:srgbClr val="2B2B2B"/>
          </a:solidFill>
        </p:spPr>
        <p:txBody>
          <a:bodyPr wrap="square">
            <a:spAutoFit/>
          </a:bodyPr>
          <a:lstStyle/>
          <a:p>
            <a:r>
              <a:rPr lang="fr-BE" sz="1600" dirty="0">
                <a:latin typeface="Consolas" panose="020B0609020204030204" pitchFamily="49" charset="0"/>
                <a:cs typeface="Consolas" panose="020B0609020204030204" pitchFamily="49" charset="0"/>
              </a:rPr>
              <a:t>(Integer) </a:t>
            </a:r>
            <a:r>
              <a:rPr lang="fr-BE" sz="1600" dirty="0" err="1">
                <a:latin typeface="Consolas" panose="020B0609020204030204" pitchFamily="49" charset="0"/>
                <a:cs typeface="Consolas" panose="020B0609020204030204" pitchFamily="49" charset="0"/>
              </a:rPr>
              <a:t>ci.getPremier</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12" name="Espace réservé du contenu 4">
            <a:extLst>
              <a:ext uri="{FF2B5EF4-FFF2-40B4-BE49-F238E27FC236}">
                <a16:creationId xmlns:a16="http://schemas.microsoft.com/office/drawing/2014/main" id="{7716DA85-23FD-3235-D6A0-E6895FFCDEEF}"/>
              </a:ext>
            </a:extLst>
          </p:cNvPr>
          <p:cNvSpPr txBox="1">
            <a:spLocks/>
          </p:cNvSpPr>
          <p:nvPr/>
        </p:nvSpPr>
        <p:spPr>
          <a:xfrm>
            <a:off x="838200" y="2962662"/>
            <a:ext cx="10515600" cy="6204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dirty="0"/>
              <a:t>Lorsque le compilateur rencontre l’instruction</a:t>
            </a:r>
          </a:p>
        </p:txBody>
      </p:sp>
      <p:sp>
        <p:nvSpPr>
          <p:cNvPr id="13" name="Espace réservé du contenu 4">
            <a:extLst>
              <a:ext uri="{FF2B5EF4-FFF2-40B4-BE49-F238E27FC236}">
                <a16:creationId xmlns:a16="http://schemas.microsoft.com/office/drawing/2014/main" id="{DD22A45A-EC36-57E1-4AC0-C3526C52B271}"/>
              </a:ext>
            </a:extLst>
          </p:cNvPr>
          <p:cNvSpPr txBox="1">
            <a:spLocks/>
          </p:cNvSpPr>
          <p:nvPr/>
        </p:nvSpPr>
        <p:spPr>
          <a:xfrm>
            <a:off x="838200" y="3718036"/>
            <a:ext cx="10515600" cy="6204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dirty="0"/>
              <a:t>… il la traduit en insérant une </a:t>
            </a:r>
            <a:r>
              <a:rPr lang="fr-FR" sz="1800" dirty="0">
                <a:solidFill>
                  <a:schemeClr val="accent4"/>
                </a:solidFill>
              </a:rPr>
              <a:t>conversion du type</a:t>
            </a:r>
            <a:r>
              <a:rPr lang="fr-FR" sz="1800" dirty="0">
                <a:solidFill>
                  <a:schemeClr val="accent2"/>
                </a:solidFill>
              </a:rPr>
              <a:t> </a:t>
            </a:r>
            <a:r>
              <a:rPr lang="fr-FR" sz="1600" dirty="0">
                <a:solidFill>
                  <a:schemeClr val="accent4"/>
                </a:solidFill>
                <a:latin typeface="Consolas" panose="020B0609020204030204" pitchFamily="49" charset="0"/>
                <a:cs typeface="Consolas" panose="020B0609020204030204" pitchFamily="49" charset="0"/>
              </a:rPr>
              <a:t>Object</a:t>
            </a:r>
            <a:r>
              <a:rPr lang="fr-FR" sz="1800" dirty="0"/>
              <a:t> en type </a:t>
            </a:r>
            <a:r>
              <a:rPr lang="fr-FR" sz="1600" dirty="0">
                <a:solidFill>
                  <a:schemeClr val="accent4"/>
                </a:solidFill>
                <a:latin typeface="Consolas" panose="020B0609020204030204" pitchFamily="49" charset="0"/>
                <a:cs typeface="Consolas" panose="020B0609020204030204" pitchFamily="49" charset="0"/>
              </a:rPr>
              <a:t>Integer</a:t>
            </a:r>
            <a:r>
              <a:rPr lang="fr-FR" sz="1800" dirty="0"/>
              <a:t>.</a:t>
            </a:r>
          </a:p>
        </p:txBody>
      </p:sp>
      <p:sp>
        <p:nvSpPr>
          <p:cNvPr id="14" name="Espace réservé du contenu 4">
            <a:extLst>
              <a:ext uri="{FF2B5EF4-FFF2-40B4-BE49-F238E27FC236}">
                <a16:creationId xmlns:a16="http://schemas.microsoft.com/office/drawing/2014/main" id="{EC147A02-9187-2740-E3A8-9894CAA616BD}"/>
              </a:ext>
            </a:extLst>
          </p:cNvPr>
          <p:cNvSpPr txBox="1">
            <a:spLocks/>
          </p:cNvSpPr>
          <p:nvPr/>
        </p:nvSpPr>
        <p:spPr>
          <a:xfrm>
            <a:off x="838200" y="4849241"/>
            <a:ext cx="10515600" cy="12414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dirty="0"/>
              <a:t>Le compilateur sait en effet que </a:t>
            </a:r>
            <a:r>
              <a:rPr lang="fr-FR" sz="1600" dirty="0">
                <a:solidFill>
                  <a:schemeClr val="accent4"/>
                </a:solidFill>
                <a:latin typeface="Consolas" panose="020B0609020204030204" pitchFamily="49" charset="0"/>
                <a:cs typeface="Consolas" panose="020B0609020204030204" pitchFamily="49" charset="0"/>
              </a:rPr>
              <a:t>ci</a:t>
            </a:r>
            <a:r>
              <a:rPr lang="fr-FR" sz="1800" dirty="0"/>
              <a:t> est de type </a:t>
            </a:r>
            <a:r>
              <a:rPr lang="fr-FR" sz="1600" dirty="0">
                <a:solidFill>
                  <a:schemeClr val="accent4"/>
                </a:solidFill>
                <a:latin typeface="Consolas" panose="020B0609020204030204" pitchFamily="49" charset="0"/>
                <a:cs typeface="Consolas" panose="020B0609020204030204" pitchFamily="49" charset="0"/>
              </a:rPr>
              <a:t>Couple&lt;Integer&gt;</a:t>
            </a:r>
            <a:r>
              <a:rPr lang="fr-FR" sz="1800" dirty="0"/>
              <a:t>.</a:t>
            </a:r>
          </a:p>
          <a:p>
            <a:pPr marL="0" indent="0">
              <a:buFont typeface="Arial" panose="020B0604020202020204" pitchFamily="34" charset="0"/>
              <a:buNone/>
            </a:pPr>
            <a:endParaRPr lang="fr-FR" sz="1800" dirty="0">
              <a:solidFill>
                <a:srgbClr val="A6082B"/>
              </a:solidFill>
              <a:latin typeface="Consolas" panose="020B0609020204030204" pitchFamily="49" charset="0"/>
              <a:cs typeface="Consolas" panose="020B0609020204030204" pitchFamily="49" charset="0"/>
            </a:endParaRPr>
          </a:p>
          <a:p>
            <a:pPr marL="0" indent="0">
              <a:buFont typeface="Arial" panose="020B0604020202020204" pitchFamily="34" charset="0"/>
              <a:buNone/>
            </a:pPr>
            <a:r>
              <a:rPr lang="fr-FR" sz="1800" dirty="0"/>
              <a:t>C’est la raison pour laquelle </a:t>
            </a:r>
            <a:r>
              <a:rPr lang="fr-FR" sz="1600" dirty="0">
                <a:solidFill>
                  <a:schemeClr val="accent4"/>
                </a:solidFill>
                <a:latin typeface="Consolas" panose="020B0609020204030204" pitchFamily="49" charset="0"/>
                <a:cs typeface="Consolas" panose="020B0609020204030204" pitchFamily="49" charset="0"/>
              </a:rPr>
              <a:t>String s = </a:t>
            </a:r>
            <a:r>
              <a:rPr lang="fr-FR" sz="1600" dirty="0" err="1">
                <a:solidFill>
                  <a:schemeClr val="accent4"/>
                </a:solidFill>
                <a:latin typeface="Consolas" panose="020B0609020204030204" pitchFamily="49" charset="0"/>
                <a:cs typeface="Consolas" panose="020B0609020204030204" pitchFamily="49" charset="0"/>
              </a:rPr>
              <a:t>ci.getPremier</a:t>
            </a:r>
            <a:r>
              <a:rPr lang="fr-FR" sz="1600" dirty="0">
                <a:solidFill>
                  <a:schemeClr val="accent4"/>
                </a:solidFill>
                <a:latin typeface="Consolas" panose="020B0609020204030204" pitchFamily="49" charset="0"/>
                <a:cs typeface="Consolas" panose="020B0609020204030204" pitchFamily="49" charset="0"/>
              </a:rPr>
              <a:t>()</a:t>
            </a:r>
            <a:r>
              <a:rPr lang="fr-FR" sz="1800" dirty="0"/>
              <a:t> sera rejeté.</a:t>
            </a:r>
          </a:p>
        </p:txBody>
      </p:sp>
    </p:spTree>
    <p:extLst>
      <p:ext uri="{BB962C8B-B14F-4D97-AF65-F5344CB8AC3E}">
        <p14:creationId xmlns:p14="http://schemas.microsoft.com/office/powerpoint/2010/main" val="2862355866"/>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2" grpId="0"/>
      <p:bldP spid="13" grpId="0"/>
      <p:bldP spid="1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Quelques limitations des types génériques</a:t>
            </a:r>
          </a:p>
        </p:txBody>
      </p:sp>
      <p:sp>
        <p:nvSpPr>
          <p:cNvPr id="5" name="Espace réservé du contenu 4"/>
          <p:cNvSpPr>
            <a:spLocks noGrp="1"/>
          </p:cNvSpPr>
          <p:nvPr>
            <p:ph idx="1"/>
          </p:nvPr>
        </p:nvSpPr>
        <p:spPr/>
        <p:txBody>
          <a:bodyPr>
            <a:normAutofit/>
          </a:bodyPr>
          <a:lstStyle/>
          <a:p>
            <a:pPr marL="457200" indent="-457200">
              <a:buFont typeface="+mj-lt"/>
              <a:buAutoNum type="arabicPeriod"/>
            </a:pPr>
            <a:r>
              <a:rPr lang="fr-FR" sz="2400" dirty="0"/>
              <a:t>Lors de l'instanciation, le </a:t>
            </a:r>
            <a:r>
              <a:rPr lang="fr-FR" sz="2400" dirty="0">
                <a:solidFill>
                  <a:schemeClr val="accent4"/>
                </a:solidFill>
              </a:rPr>
              <a:t>type doit être de type objet </a:t>
            </a:r>
            <a:r>
              <a:rPr lang="fr-FR" sz="2400" dirty="0"/>
              <a:t>(et ne peut donc pas être un type primitif)</a:t>
            </a:r>
          </a:p>
          <a:p>
            <a:pPr marL="457200" indent="-457200">
              <a:buFont typeface="+mj-lt"/>
              <a:buAutoNum type="arabicPeriod"/>
            </a:pPr>
            <a:endParaRPr lang="fr-FR" sz="2400" dirty="0"/>
          </a:p>
          <a:p>
            <a:pPr marL="457200" indent="-457200">
              <a:buFont typeface="+mj-lt"/>
              <a:buAutoNum type="arabicPeriod"/>
            </a:pPr>
            <a:r>
              <a:rPr lang="fr-FR" sz="2400" dirty="0"/>
              <a:t>A l’exécution, deux objets de type effectifs différents (</a:t>
            </a:r>
            <a:r>
              <a:rPr lang="fr-FR" sz="2000" dirty="0">
                <a:solidFill>
                  <a:schemeClr val="accent4"/>
                </a:solidFill>
                <a:latin typeface="Consolas" panose="020B0609020204030204" pitchFamily="49" charset="0"/>
                <a:cs typeface="Consolas" panose="020B0609020204030204" pitchFamily="49" charset="0"/>
              </a:rPr>
              <a:t>C&lt;String&gt;</a:t>
            </a:r>
            <a:r>
              <a:rPr lang="fr-FR" sz="2400" dirty="0"/>
              <a:t> et </a:t>
            </a:r>
            <a:r>
              <a:rPr lang="fr-FR" sz="2000" dirty="0">
                <a:solidFill>
                  <a:schemeClr val="accent4"/>
                </a:solidFill>
                <a:latin typeface="Consolas" panose="020B0609020204030204" pitchFamily="49" charset="0"/>
                <a:cs typeface="Consolas" panose="020B0609020204030204" pitchFamily="49" charset="0"/>
              </a:rPr>
              <a:t>C&lt;Integer&gt;</a:t>
            </a:r>
            <a:r>
              <a:rPr lang="fr-FR" sz="2400" dirty="0"/>
              <a:t>) sont considérés comme étant de même type (</a:t>
            </a:r>
            <a:r>
              <a:rPr lang="fr-FR" sz="2400" dirty="0">
                <a:solidFill>
                  <a:schemeClr val="accent4"/>
                </a:solidFill>
                <a:latin typeface="Consolas" panose="020B0609020204030204" pitchFamily="49" charset="0"/>
                <a:cs typeface="Consolas" panose="020B0609020204030204" pitchFamily="49" charset="0"/>
              </a:rPr>
              <a:t>C</a:t>
            </a:r>
            <a:r>
              <a:rPr lang="fr-FR" sz="2400" dirty="0"/>
              <a:t>), puisque </a:t>
            </a:r>
            <a:r>
              <a:rPr lang="fr-FR" sz="2400" dirty="0" err="1">
                <a:solidFill>
                  <a:schemeClr val="accent4"/>
                </a:solidFill>
                <a:latin typeface="Consolas" panose="020B0609020204030204" pitchFamily="49" charset="0"/>
                <a:cs typeface="Consolas" panose="020B0609020204030204" pitchFamily="49" charset="0"/>
              </a:rPr>
              <a:t>T</a:t>
            </a:r>
            <a:r>
              <a:rPr lang="fr-FR" sz="2400" dirty="0"/>
              <a:t> est remplacé par le type brut.</a:t>
            </a:r>
          </a:p>
          <a:p>
            <a:pPr marL="457200" indent="-457200">
              <a:buFont typeface="+mj-lt"/>
              <a:buAutoNum type="arabicPeriod"/>
            </a:pPr>
            <a:endParaRPr lang="fr-FR" sz="2400" dirty="0"/>
          </a:p>
          <a:p>
            <a:pPr marL="457200" indent="-457200">
              <a:buFont typeface="+mj-lt"/>
              <a:buAutoNum type="arabicPeriod"/>
            </a:pPr>
            <a:r>
              <a:rPr lang="fr-FR" sz="2400" dirty="0"/>
              <a:t>Un </a:t>
            </a:r>
            <a:r>
              <a:rPr lang="fr-FR" sz="2400" dirty="0">
                <a:solidFill>
                  <a:schemeClr val="accent4"/>
                </a:solidFill>
              </a:rPr>
              <a:t>champ statique </a:t>
            </a:r>
            <a:r>
              <a:rPr lang="fr-FR" sz="2400" dirty="0"/>
              <a:t>défini dans </a:t>
            </a:r>
            <a:r>
              <a:rPr lang="fr-FR" sz="2000" dirty="0">
                <a:solidFill>
                  <a:schemeClr val="accent4"/>
                </a:solidFill>
                <a:latin typeface="Consolas" panose="020B0609020204030204" pitchFamily="49" charset="0"/>
                <a:cs typeface="Consolas" panose="020B0609020204030204" pitchFamily="49" charset="0"/>
              </a:rPr>
              <a:t>Couple&lt;</a:t>
            </a:r>
            <a:r>
              <a:rPr lang="fr-FR" sz="2000" dirty="0" err="1">
                <a:solidFill>
                  <a:schemeClr val="accent4"/>
                </a:solidFill>
                <a:latin typeface="Consolas" panose="020B0609020204030204" pitchFamily="49" charset="0"/>
                <a:cs typeface="Consolas" panose="020B0609020204030204" pitchFamily="49" charset="0"/>
              </a:rPr>
              <a:t>T</a:t>
            </a:r>
            <a:r>
              <a:rPr lang="fr-FR" sz="2000" dirty="0">
                <a:solidFill>
                  <a:schemeClr val="accent4"/>
                </a:solidFill>
                <a:latin typeface="Consolas" panose="020B0609020204030204" pitchFamily="49" charset="0"/>
                <a:cs typeface="Consolas" panose="020B0609020204030204" pitchFamily="49" charset="0"/>
              </a:rPr>
              <a:t>&gt;</a:t>
            </a:r>
            <a:r>
              <a:rPr lang="fr-FR" sz="2400" dirty="0"/>
              <a:t> sera unique pour toutes les classes effectives.</a:t>
            </a:r>
            <a:br>
              <a:rPr lang="fr-FR" sz="2400" dirty="0"/>
            </a:br>
            <a:r>
              <a:rPr lang="fr-FR" sz="2400" dirty="0"/>
              <a:t>Il ne peut pas être de type </a:t>
            </a:r>
            <a:r>
              <a:rPr lang="fr-FR" sz="2400" dirty="0" err="1">
                <a:solidFill>
                  <a:schemeClr val="accent4"/>
                </a:solidFill>
                <a:latin typeface="Consolas" panose="020B0609020204030204" pitchFamily="49" charset="0"/>
                <a:cs typeface="Consolas" panose="020B0609020204030204" pitchFamily="49" charset="0"/>
              </a:rPr>
              <a:t>T</a:t>
            </a:r>
            <a:r>
              <a:rPr lang="fr-FR" sz="2400" dirty="0"/>
              <a:t>… (puisque potentiellement il y aura différents types </a:t>
            </a:r>
            <a:r>
              <a:rPr lang="fr-FR" sz="2400" dirty="0" err="1">
                <a:solidFill>
                  <a:schemeClr val="accent4"/>
                </a:solidFill>
                <a:latin typeface="Consolas" panose="020B0609020204030204" pitchFamily="49" charset="0"/>
                <a:cs typeface="Consolas" panose="020B0609020204030204" pitchFamily="49" charset="0"/>
              </a:rPr>
              <a:t>T</a:t>
            </a:r>
            <a:r>
              <a:rPr lang="fr-FR" sz="2400" dirty="0"/>
              <a:t>). </a:t>
            </a:r>
          </a:p>
        </p:txBody>
      </p:sp>
    </p:spTree>
    <p:extLst>
      <p:ext uri="{BB962C8B-B14F-4D97-AF65-F5344CB8AC3E}">
        <p14:creationId xmlns:p14="http://schemas.microsoft.com/office/powerpoint/2010/main" val="3289434117"/>
      </p:ext>
    </p:extLst>
  </p:cSld>
  <p:clrMapOvr>
    <a:masterClrMapping/>
  </p:clrMapOvr>
  <p:transition>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Quelques limitations des types génériques</a:t>
            </a:r>
          </a:p>
        </p:txBody>
      </p:sp>
      <p:sp>
        <p:nvSpPr>
          <p:cNvPr id="5" name="Espace réservé du contenu 4"/>
          <p:cNvSpPr>
            <a:spLocks noGrp="1"/>
          </p:cNvSpPr>
          <p:nvPr>
            <p:ph idx="1"/>
          </p:nvPr>
        </p:nvSpPr>
        <p:spPr/>
        <p:txBody>
          <a:bodyPr>
            <a:normAutofit/>
          </a:bodyPr>
          <a:lstStyle/>
          <a:p>
            <a:pPr marL="457200" indent="-457200">
              <a:buFont typeface="+mj-lt"/>
              <a:buAutoNum type="arabicPeriod" startAt="4"/>
            </a:pPr>
            <a:r>
              <a:rPr lang="fr-FR" sz="2400" dirty="0"/>
              <a:t>On ne peut pas instancier un objet du type paramétré dans la classe: pas de </a:t>
            </a:r>
            <a:r>
              <a:rPr lang="fr-FR" sz="2000" dirty="0">
                <a:solidFill>
                  <a:schemeClr val="accent4"/>
                </a:solidFill>
                <a:latin typeface="Consolas" panose="020B0609020204030204" pitchFamily="49" charset="0"/>
                <a:cs typeface="Consolas" panose="020B0609020204030204" pitchFamily="49" charset="0"/>
              </a:rPr>
              <a:t>new </a:t>
            </a:r>
            <a:r>
              <a:rPr lang="fr-FR" sz="2000" dirty="0" err="1">
                <a:solidFill>
                  <a:schemeClr val="accent4"/>
                </a:solidFill>
                <a:latin typeface="Consolas" panose="020B0609020204030204" pitchFamily="49" charset="0"/>
                <a:cs typeface="Consolas" panose="020B0609020204030204" pitchFamily="49" charset="0"/>
              </a:rPr>
              <a:t>T</a:t>
            </a:r>
            <a:r>
              <a:rPr lang="fr-FR" sz="2000" dirty="0">
                <a:solidFill>
                  <a:schemeClr val="accent4"/>
                </a:solidFill>
                <a:latin typeface="Consolas" panose="020B0609020204030204" pitchFamily="49" charset="0"/>
                <a:cs typeface="Consolas" panose="020B0609020204030204" pitchFamily="49" charset="0"/>
              </a:rPr>
              <a:t>()</a:t>
            </a:r>
            <a:r>
              <a:rPr lang="fr-FR" sz="2400" dirty="0"/>
              <a:t> dans la classe </a:t>
            </a:r>
            <a:r>
              <a:rPr lang="fr-FR" sz="2000" dirty="0">
                <a:solidFill>
                  <a:schemeClr val="accent4"/>
                </a:solidFill>
                <a:latin typeface="Consolas" panose="020B0609020204030204" pitchFamily="49" charset="0"/>
                <a:cs typeface="Consolas" panose="020B0609020204030204" pitchFamily="49" charset="0"/>
              </a:rPr>
              <a:t>Class&lt;</a:t>
            </a:r>
            <a:r>
              <a:rPr lang="fr-FR" sz="2000" dirty="0" err="1">
                <a:solidFill>
                  <a:schemeClr val="accent4"/>
                </a:solidFill>
                <a:latin typeface="Consolas" panose="020B0609020204030204" pitchFamily="49" charset="0"/>
                <a:cs typeface="Consolas" panose="020B0609020204030204" pitchFamily="49" charset="0"/>
              </a:rPr>
              <a:t>T</a:t>
            </a:r>
            <a:r>
              <a:rPr lang="fr-FR" sz="2000" dirty="0">
                <a:solidFill>
                  <a:schemeClr val="accent4"/>
                </a:solidFill>
                <a:latin typeface="Consolas" panose="020B0609020204030204" pitchFamily="49" charset="0"/>
                <a:cs typeface="Consolas" panose="020B0609020204030204" pitchFamily="49" charset="0"/>
              </a:rPr>
              <a:t>&gt;</a:t>
            </a:r>
            <a:r>
              <a:rPr lang="fr-FR" sz="2400" dirty="0"/>
              <a:t>, puisque le type a disparu à la compilation.</a:t>
            </a:r>
          </a:p>
          <a:p>
            <a:pPr marL="457200" indent="-457200">
              <a:buFont typeface="+mj-lt"/>
              <a:buAutoNum type="arabicPeriod" startAt="4"/>
            </a:pPr>
            <a:endParaRPr lang="fr-FR" sz="2400" dirty="0"/>
          </a:p>
          <a:p>
            <a:pPr marL="457200" indent="-457200">
              <a:buFont typeface="+mj-lt"/>
              <a:buAutoNum type="arabicPeriod" startAt="4"/>
            </a:pPr>
            <a:r>
              <a:rPr lang="fr-FR" sz="2400" dirty="0"/>
              <a:t>Il n'est pas possible d'instancier de </a:t>
            </a:r>
            <a:r>
              <a:rPr lang="fr-FR" sz="2400" dirty="0">
                <a:solidFill>
                  <a:schemeClr val="accent4"/>
                </a:solidFill>
              </a:rPr>
              <a:t>tableaux de types </a:t>
            </a:r>
            <a:r>
              <a:rPr lang="fr-FR" sz="2400" dirty="0"/>
              <a:t>génériques: pas de </a:t>
            </a:r>
            <a:r>
              <a:rPr lang="fr-FR" sz="2000" dirty="0">
                <a:solidFill>
                  <a:schemeClr val="accent4"/>
                </a:solidFill>
                <a:latin typeface="Consolas" panose="020B0609020204030204" pitchFamily="49" charset="0"/>
                <a:cs typeface="Consolas" panose="020B0609020204030204" pitchFamily="49" charset="0"/>
              </a:rPr>
              <a:t>new Famille&lt;String&gt;[5]</a:t>
            </a:r>
            <a:r>
              <a:rPr lang="fr-FR" sz="2000" dirty="0">
                <a:solidFill>
                  <a:schemeClr val="accent4"/>
                </a:solidFill>
              </a:rPr>
              <a:t>.</a:t>
            </a:r>
            <a:r>
              <a:rPr lang="fr-FR" sz="2400" dirty="0"/>
              <a:t>..</a:t>
            </a:r>
            <a:br>
              <a:rPr lang="fr-FR" sz="2400" dirty="0"/>
            </a:br>
            <a:r>
              <a:rPr lang="fr-FR" sz="2400" dirty="0"/>
              <a:t>Ni dans la classe générique, ni dans les classes utilisant des génériques.</a:t>
            </a:r>
            <a:br>
              <a:rPr lang="fr-FR" sz="2400" dirty="0"/>
            </a:br>
            <a:r>
              <a:rPr lang="fr-FR" sz="2400" dirty="0"/>
              <a:t>On verra cependant que les Collections parent à ce souci.</a:t>
            </a:r>
          </a:p>
          <a:p>
            <a:pPr marL="457200" indent="-457200">
              <a:buFont typeface="+mj-lt"/>
              <a:buAutoNum type="arabicPeriod" startAt="4"/>
            </a:pPr>
            <a:endParaRPr lang="fr-FR" sz="2400" dirty="0"/>
          </a:p>
          <a:p>
            <a:pPr marL="457200" indent="-457200">
              <a:buFont typeface="+mj-lt"/>
              <a:buAutoNum type="arabicPeriod" startAt="4"/>
            </a:pPr>
            <a:r>
              <a:rPr lang="fr-FR" sz="2400" dirty="0"/>
              <a:t>On ne peut pas lever ou catcher d'instances de classes génériques: pas de </a:t>
            </a:r>
            <a:r>
              <a:rPr lang="fr-FR" sz="2400" dirty="0">
                <a:solidFill>
                  <a:schemeClr val="accent4"/>
                </a:solidFill>
                <a:latin typeface="Consolas" panose="020B0609020204030204" pitchFamily="49" charset="0"/>
                <a:cs typeface="Consolas" panose="020B0609020204030204" pitchFamily="49" charset="0"/>
              </a:rPr>
              <a:t>catch(</a:t>
            </a:r>
            <a:r>
              <a:rPr lang="fr-FR" sz="2400" dirty="0" err="1">
                <a:solidFill>
                  <a:schemeClr val="accent4"/>
                </a:solidFill>
                <a:latin typeface="Consolas" panose="020B0609020204030204" pitchFamily="49" charset="0"/>
                <a:cs typeface="Consolas" panose="020B0609020204030204" pitchFamily="49" charset="0"/>
              </a:rPr>
              <a:t>T</a:t>
            </a:r>
            <a:r>
              <a:rPr lang="fr-FR" sz="2400" dirty="0">
                <a:solidFill>
                  <a:schemeClr val="accent4"/>
                </a:solidFill>
                <a:latin typeface="Consolas" panose="020B0609020204030204" pitchFamily="49" charset="0"/>
                <a:cs typeface="Consolas" panose="020B0609020204030204" pitchFamily="49" charset="0"/>
              </a:rPr>
              <a:t> e)</a:t>
            </a:r>
          </a:p>
        </p:txBody>
      </p:sp>
    </p:spTree>
    <p:extLst>
      <p:ext uri="{BB962C8B-B14F-4D97-AF65-F5344CB8AC3E}">
        <p14:creationId xmlns:p14="http://schemas.microsoft.com/office/powerpoint/2010/main" val="672768939"/>
      </p:ext>
    </p:extLst>
  </p:cSld>
  <p:clrMapOvr>
    <a:masterClrMapping/>
  </p:clrMapOvr>
  <p:transition>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génériques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Le concept de type générique</a:t>
            </a:r>
          </a:p>
          <a:p>
            <a:pPr marL="342900" indent="-342900">
              <a:lnSpc>
                <a:spcPct val="80000"/>
              </a:lnSpc>
              <a:buFont typeface="Arial"/>
              <a:buChar char="•"/>
            </a:pPr>
            <a:r>
              <a:rPr lang="fr-FR" dirty="0"/>
              <a:t>Classe Générique à un seul paramètre</a:t>
            </a:r>
          </a:p>
          <a:p>
            <a:pPr marL="342900" indent="-342900">
              <a:lnSpc>
                <a:spcPct val="80000"/>
              </a:lnSpc>
              <a:buFont typeface="Arial"/>
              <a:buChar char="•"/>
            </a:pPr>
            <a:r>
              <a:rPr lang="fr-FR" dirty="0"/>
              <a:t>Classe Générique à plusieurs paramètres</a:t>
            </a:r>
          </a:p>
          <a:p>
            <a:pPr marL="342900" indent="-342900">
              <a:lnSpc>
                <a:spcPct val="80000"/>
              </a:lnSpc>
              <a:buFont typeface="Arial"/>
              <a:buChar char="•"/>
            </a:pPr>
            <a:r>
              <a:rPr lang="fr-FR" dirty="0"/>
              <a:t>Compilation des types génériques</a:t>
            </a:r>
          </a:p>
          <a:p>
            <a:pPr marL="342900" indent="-342900">
              <a:lnSpc>
                <a:spcPct val="80000"/>
              </a:lnSpc>
              <a:buFont typeface="Arial"/>
              <a:buChar char="•"/>
            </a:pPr>
            <a:r>
              <a:rPr lang="fr-FR" dirty="0">
                <a:solidFill>
                  <a:schemeClr val="accent4"/>
                </a:solidFill>
              </a:rPr>
              <a:t>Méthodes génériques</a:t>
            </a:r>
          </a:p>
          <a:p>
            <a:pPr marL="342900" indent="-342900">
              <a:lnSpc>
                <a:spcPct val="80000"/>
              </a:lnSpc>
              <a:buFont typeface="Arial"/>
              <a:buChar char="•"/>
            </a:pPr>
            <a:r>
              <a:rPr lang="fr-FR" dirty="0"/>
              <a:t>Limitations sur le type</a:t>
            </a:r>
          </a:p>
          <a:p>
            <a:pPr marL="342900" indent="-342900">
              <a:lnSpc>
                <a:spcPct val="80000"/>
              </a:lnSpc>
              <a:buFont typeface="Arial"/>
              <a:buChar char="•"/>
            </a:pPr>
            <a:r>
              <a:rPr lang="fr-FR" dirty="0"/>
              <a:t>Type générique et héritage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Tree>
    <p:extLst>
      <p:ext uri="{BB962C8B-B14F-4D97-AF65-F5344CB8AC3E}">
        <p14:creationId xmlns:p14="http://schemas.microsoft.com/office/powerpoint/2010/main" val="2101583092"/>
      </p:ext>
    </p:extLst>
  </p:cSld>
  <p:clrMapOvr>
    <a:masterClrMapping/>
  </p:clrMapOvr>
  <p:transition>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424FA-B311-AE48-8395-71D7C77A64C5}"/>
              </a:ext>
            </a:extLst>
          </p:cNvPr>
          <p:cNvSpPr>
            <a:spLocks noGrp="1"/>
          </p:cNvSpPr>
          <p:nvPr>
            <p:ph type="title"/>
          </p:nvPr>
        </p:nvSpPr>
        <p:spPr/>
        <p:txBody>
          <a:bodyPr>
            <a:normAutofit/>
          </a:bodyPr>
          <a:lstStyle/>
          <a:p>
            <a:r>
              <a:rPr lang="fr-FR" dirty="0"/>
              <a:t>Méthodes génériques</a:t>
            </a:r>
          </a:p>
        </p:txBody>
      </p:sp>
      <p:sp>
        <p:nvSpPr>
          <p:cNvPr id="3" name="Espace réservé du contenu 2">
            <a:extLst>
              <a:ext uri="{FF2B5EF4-FFF2-40B4-BE49-F238E27FC236}">
                <a16:creationId xmlns:a16="http://schemas.microsoft.com/office/drawing/2014/main" id="{4F37A94A-1BDE-5A41-925A-D9D3336EF459}"/>
              </a:ext>
            </a:extLst>
          </p:cNvPr>
          <p:cNvSpPr>
            <a:spLocks noGrp="1"/>
          </p:cNvSpPr>
          <p:nvPr>
            <p:ph idx="1"/>
          </p:nvPr>
        </p:nvSpPr>
        <p:spPr/>
        <p:txBody>
          <a:bodyPr>
            <a:normAutofit/>
          </a:bodyPr>
          <a:lstStyle/>
          <a:p>
            <a:pPr marL="0" indent="0">
              <a:buNone/>
            </a:pPr>
            <a:r>
              <a:rPr lang="fr-FR" sz="2000" dirty="0"/>
              <a:t>La même démarche peut s’appliquer à une méthode, de manière à ce qu’une </a:t>
            </a:r>
            <a:r>
              <a:rPr lang="fr-FR" sz="2000" dirty="0">
                <a:solidFill>
                  <a:schemeClr val="accent4"/>
                </a:solidFill>
              </a:rPr>
              <a:t>méthode fonctionne quel que soit le type de ses arguments</a:t>
            </a:r>
            <a:r>
              <a:rPr lang="fr-FR" sz="2000" dirty="0"/>
              <a:t>.</a:t>
            </a:r>
          </a:p>
          <a:p>
            <a:pPr marL="0" indent="0">
              <a:buNone/>
            </a:pPr>
            <a:endParaRPr lang="fr-FR" sz="2000" dirty="0"/>
          </a:p>
          <a:p>
            <a:pPr marL="0" indent="0">
              <a:buNone/>
            </a:pPr>
            <a:r>
              <a:rPr lang="fr-FR" sz="2000" dirty="0"/>
              <a:t>Supposons par exemple que nous ayons besoin d’une méthode qui retourne un élément choisi au hasard d’un tableau d’éléments fourni en entrée.</a:t>
            </a:r>
          </a:p>
          <a:p>
            <a:pPr marL="0" indent="0">
              <a:buNone/>
            </a:pPr>
            <a:r>
              <a:rPr lang="fr-FR" sz="2000" dirty="0"/>
              <a:t>Cette méthode doit pouvoir fonctionner autant pour un tableau de valeurs de type </a:t>
            </a:r>
            <a:r>
              <a:rPr lang="fr-FR" sz="1800" dirty="0">
                <a:solidFill>
                  <a:schemeClr val="accent4"/>
                </a:solidFill>
                <a:latin typeface="Consolas" panose="020B0609020204030204" pitchFamily="49" charset="0"/>
                <a:cs typeface="Consolas" panose="020B0609020204030204" pitchFamily="49" charset="0"/>
              </a:rPr>
              <a:t>Integer</a:t>
            </a:r>
            <a:r>
              <a:rPr lang="fr-FR" sz="2000" dirty="0"/>
              <a:t> que pour un tableau de </a:t>
            </a:r>
            <a:r>
              <a:rPr lang="fr-FR" sz="1800" dirty="0">
                <a:solidFill>
                  <a:schemeClr val="accent4"/>
                </a:solidFill>
                <a:latin typeface="Consolas" panose="020B0609020204030204" pitchFamily="49" charset="0"/>
                <a:cs typeface="Consolas" panose="020B0609020204030204" pitchFamily="49" charset="0"/>
              </a:rPr>
              <a:t>String</a:t>
            </a:r>
            <a:r>
              <a:rPr lang="fr-FR" sz="2000" dirty="0"/>
              <a:t> ou de </a:t>
            </a:r>
            <a:r>
              <a:rPr lang="fr-FR" sz="1800" dirty="0">
                <a:solidFill>
                  <a:schemeClr val="accent4"/>
                </a:solidFill>
                <a:latin typeface="Consolas" panose="020B0609020204030204" pitchFamily="49" charset="0"/>
                <a:cs typeface="Consolas" panose="020B0609020204030204" pitchFamily="49" charset="0"/>
              </a:rPr>
              <a:t>Double</a:t>
            </a:r>
            <a:r>
              <a:rPr lang="fr-FR" sz="2000" dirty="0"/>
              <a:t>…  </a:t>
            </a:r>
          </a:p>
          <a:p>
            <a:pPr marL="0" indent="0">
              <a:buNone/>
            </a:pPr>
            <a:r>
              <a:rPr lang="fr-FR" sz="2000" dirty="0"/>
              <a:t>On veut donc pouvoir faire:</a:t>
            </a:r>
          </a:p>
          <a:p>
            <a:pPr marL="0" indent="0">
              <a:buNone/>
            </a:pPr>
            <a:endParaRPr lang="fr-FR" sz="2000" dirty="0"/>
          </a:p>
        </p:txBody>
      </p:sp>
      <p:sp>
        <p:nvSpPr>
          <p:cNvPr id="7" name="ZoneTexte 6">
            <a:extLst>
              <a:ext uri="{FF2B5EF4-FFF2-40B4-BE49-F238E27FC236}">
                <a16:creationId xmlns:a16="http://schemas.microsoft.com/office/drawing/2014/main" id="{061F90E5-BC4D-6F41-29DC-814850897AC5}"/>
              </a:ext>
            </a:extLst>
          </p:cNvPr>
          <p:cNvSpPr txBox="1"/>
          <p:nvPr/>
        </p:nvSpPr>
        <p:spPr>
          <a:xfrm>
            <a:off x="3046675" y="4762990"/>
            <a:ext cx="6098650" cy="1200329"/>
          </a:xfrm>
          <a:prstGeom prst="rect">
            <a:avLst/>
          </a:prstGeom>
          <a:solidFill>
            <a:srgbClr val="2B2B2B"/>
          </a:solidFill>
        </p:spPr>
        <p:txBody>
          <a:bodyPr wrap="square">
            <a:spAutoFit/>
          </a:bodyPr>
          <a:lstStyle/>
          <a:p>
            <a:r>
              <a:rPr lang="fr-BE" dirty="0">
                <a:latin typeface="Consolas" panose="020B0609020204030204" pitchFamily="49" charset="0"/>
                <a:cs typeface="Consolas" panose="020B0609020204030204" pitchFamily="49" charset="0"/>
              </a:rPr>
              <a:t>Integer[] tabi = {</a:t>
            </a:r>
            <a:r>
              <a:rPr lang="fr-BE" dirty="0">
                <a:solidFill>
                  <a:srgbClr val="6897BB"/>
                </a:solidFill>
                <a:effectLst/>
                <a:latin typeface="Consolas" panose="020B0609020204030204" pitchFamily="49" charset="0"/>
                <a:cs typeface="Consolas" panose="020B0609020204030204" pitchFamily="49" charset="0"/>
              </a:rPr>
              <a:t>1</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6897BB"/>
                </a:solidFill>
                <a:effectLst/>
                <a:latin typeface="Consolas" panose="020B0609020204030204" pitchFamily="49" charset="0"/>
                <a:cs typeface="Consolas" panose="020B0609020204030204" pitchFamily="49" charset="0"/>
              </a:rPr>
              <a:t>5</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6897BB"/>
                </a:solidFill>
                <a:effectLst/>
                <a:latin typeface="Consolas" panose="020B0609020204030204" pitchFamily="49" charset="0"/>
                <a:cs typeface="Consolas" panose="020B0609020204030204" pitchFamily="49" charset="0"/>
              </a:rPr>
              <a:t>8</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6897BB"/>
                </a:solidFill>
                <a:effectLst/>
                <a:latin typeface="Consolas" panose="020B0609020204030204" pitchFamily="49" charset="0"/>
                <a:cs typeface="Consolas" panose="020B0609020204030204" pitchFamily="49" charset="0"/>
              </a:rPr>
              <a:t>4</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6897BB"/>
                </a:solidFill>
                <a:effectLst/>
                <a:latin typeface="Consolas" panose="020B0609020204030204" pitchFamily="49" charset="0"/>
                <a:cs typeface="Consolas" panose="020B0609020204030204" pitchFamily="49" charset="0"/>
              </a:rPr>
              <a:t>9</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String[] </a:t>
            </a:r>
            <a:r>
              <a:rPr lang="fr-BE" dirty="0" err="1">
                <a:latin typeface="Consolas" panose="020B0609020204030204" pitchFamily="49" charset="0"/>
                <a:cs typeface="Consolas" panose="020B0609020204030204" pitchFamily="49" charset="0"/>
              </a:rPr>
              <a:t>tabs</a:t>
            </a:r>
            <a:r>
              <a:rPr lang="fr-BE" dirty="0">
                <a:latin typeface="Consolas" panose="020B0609020204030204" pitchFamily="49" charset="0"/>
                <a:cs typeface="Consolas" panose="020B0609020204030204" pitchFamily="49" charset="0"/>
              </a:rPr>
              <a:t> = { </a:t>
            </a:r>
            <a:r>
              <a:rPr lang="fr-BE" dirty="0">
                <a:solidFill>
                  <a:srgbClr val="6A8759"/>
                </a:solidFill>
                <a:effectLst/>
                <a:latin typeface="Consolas" panose="020B0609020204030204" pitchFamily="49" charset="0"/>
                <a:cs typeface="Consolas" panose="020B0609020204030204" pitchFamily="49" charset="0"/>
              </a:rPr>
              <a:t>"alpha"</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"bravo"</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charlie</a:t>
            </a:r>
            <a:r>
              <a:rPr lang="fr-BE" dirty="0">
                <a:solidFill>
                  <a:srgbClr val="6A8759"/>
                </a:solidFill>
                <a:effectLst/>
                <a:latin typeface="Consolas" panose="020B0609020204030204" pitchFamily="49" charset="0"/>
                <a:cs typeface="Consolas" panose="020B0609020204030204" pitchFamily="49" charset="0"/>
              </a:rPr>
              <a:t>"</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Integer n = </a:t>
            </a:r>
            <a:r>
              <a:rPr lang="fr-BE" i="1" dirty="0" err="1">
                <a:effectLst/>
                <a:latin typeface="Consolas" panose="020B0609020204030204" pitchFamily="49" charset="0"/>
                <a:cs typeface="Consolas" panose="020B0609020204030204" pitchFamily="49" charset="0"/>
              </a:rPr>
              <a:t>getRandomValue</a:t>
            </a:r>
            <a:r>
              <a:rPr lang="fr-BE" dirty="0">
                <a:latin typeface="Consolas" panose="020B0609020204030204" pitchFamily="49" charset="0"/>
                <a:cs typeface="Consolas" panose="020B0609020204030204" pitchFamily="49" charset="0"/>
              </a:rPr>
              <a:t>(tabi)</a:t>
            </a:r>
            <a:r>
              <a:rPr lang="fr-BE" dirty="0">
                <a:solidFill>
                  <a:srgbClr val="CC7832"/>
                </a:solidFill>
                <a:effectLst/>
                <a:latin typeface="Consolas" panose="020B0609020204030204" pitchFamily="49" charset="0"/>
                <a:cs typeface="Consolas" panose="020B0609020204030204" pitchFamily="49" charset="0"/>
              </a:rPr>
              <a:t>;   </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String s = </a:t>
            </a:r>
            <a:r>
              <a:rPr lang="fr-BE" i="1" dirty="0" err="1">
                <a:latin typeface="Consolas" panose="020B0609020204030204" pitchFamily="49" charset="0"/>
                <a:cs typeface="Consolas" panose="020B0609020204030204" pitchFamily="49" charset="0"/>
              </a:rPr>
              <a:t>getRandomValue</a:t>
            </a:r>
            <a:r>
              <a:rPr lang="fr-BE" dirty="0">
                <a:latin typeface="Consolas" panose="020B0609020204030204" pitchFamily="49" charset="0"/>
                <a:cs typeface="Consolas" panose="020B0609020204030204" pitchFamily="49" charset="0"/>
              </a:rPr>
              <a:t>(</a:t>
            </a:r>
            <a:r>
              <a:rPr lang="fr-BE" dirty="0" err="1">
                <a:latin typeface="Consolas" panose="020B0609020204030204" pitchFamily="49" charset="0"/>
                <a:cs typeface="Consolas" panose="020B0609020204030204" pitchFamily="49" charset="0"/>
              </a:rPr>
              <a:t>tabs</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051966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424FA-B311-AE48-8395-71D7C77A64C5}"/>
              </a:ext>
            </a:extLst>
          </p:cNvPr>
          <p:cNvSpPr>
            <a:spLocks noGrp="1"/>
          </p:cNvSpPr>
          <p:nvPr>
            <p:ph type="title"/>
          </p:nvPr>
        </p:nvSpPr>
        <p:spPr/>
        <p:txBody>
          <a:bodyPr>
            <a:normAutofit/>
          </a:bodyPr>
          <a:lstStyle/>
          <a:p>
            <a:r>
              <a:rPr lang="fr-FR" dirty="0"/>
              <a:t>Méthodes génériques</a:t>
            </a:r>
          </a:p>
        </p:txBody>
      </p:sp>
      <p:sp>
        <p:nvSpPr>
          <p:cNvPr id="3" name="Espace réservé du contenu 2">
            <a:extLst>
              <a:ext uri="{FF2B5EF4-FFF2-40B4-BE49-F238E27FC236}">
                <a16:creationId xmlns:a16="http://schemas.microsoft.com/office/drawing/2014/main" id="{4F37A94A-1BDE-5A41-925A-D9D3336EF459}"/>
              </a:ext>
            </a:extLst>
          </p:cNvPr>
          <p:cNvSpPr>
            <a:spLocks noGrp="1"/>
          </p:cNvSpPr>
          <p:nvPr>
            <p:ph idx="1"/>
          </p:nvPr>
        </p:nvSpPr>
        <p:spPr>
          <a:xfrm>
            <a:off x="838200" y="1825625"/>
            <a:ext cx="10515600" cy="663133"/>
          </a:xfrm>
        </p:spPr>
        <p:txBody>
          <a:bodyPr>
            <a:normAutofit/>
          </a:bodyPr>
          <a:lstStyle/>
          <a:p>
            <a:pPr marL="0" indent="0">
              <a:buNone/>
            </a:pPr>
            <a:r>
              <a:rPr lang="fr-FR" sz="2200" dirty="0"/>
              <a:t>Voici la syntaxe:</a:t>
            </a:r>
          </a:p>
        </p:txBody>
      </p:sp>
      <p:sp>
        <p:nvSpPr>
          <p:cNvPr id="9" name="ZoneTexte 8">
            <a:extLst>
              <a:ext uri="{FF2B5EF4-FFF2-40B4-BE49-F238E27FC236}">
                <a16:creationId xmlns:a16="http://schemas.microsoft.com/office/drawing/2014/main" id="{C6C81B10-6CFC-C9A3-E1E4-C53F20979E3B}"/>
              </a:ext>
            </a:extLst>
          </p:cNvPr>
          <p:cNvSpPr txBox="1"/>
          <p:nvPr/>
        </p:nvSpPr>
        <p:spPr>
          <a:xfrm>
            <a:off x="838200" y="4500597"/>
            <a:ext cx="10515600" cy="1107996"/>
          </a:xfrm>
          <a:prstGeom prst="rect">
            <a:avLst/>
          </a:prstGeom>
          <a:noFill/>
        </p:spPr>
        <p:txBody>
          <a:bodyPr wrap="square">
            <a:spAutoFit/>
          </a:bodyPr>
          <a:lstStyle/>
          <a:p>
            <a:r>
              <a:rPr lang="fr-FR" sz="2200" dirty="0"/>
              <a:t>Remarquez </a:t>
            </a:r>
          </a:p>
          <a:p>
            <a:pPr marL="342900" indent="-342900">
              <a:buFont typeface="Arial" panose="020B0604020202020204" pitchFamily="34" charset="0"/>
              <a:buChar char="•"/>
            </a:pPr>
            <a:r>
              <a:rPr lang="fr-FR" sz="2200" dirty="0"/>
              <a:t>La méthode peut recevoir un </a:t>
            </a:r>
            <a:r>
              <a:rPr lang="fr-FR" sz="2200" dirty="0">
                <a:solidFill>
                  <a:schemeClr val="accent4"/>
                </a:solidFill>
              </a:rPr>
              <a:t>tableau du type générique </a:t>
            </a:r>
            <a:r>
              <a:rPr lang="fr-FR" sz="2200" dirty="0"/>
              <a:t>(instancié en type spécifique).</a:t>
            </a:r>
          </a:p>
          <a:p>
            <a:pPr marL="342900" indent="-342900">
              <a:buFont typeface="Arial" panose="020B0604020202020204" pitchFamily="34" charset="0"/>
              <a:buChar char="•"/>
            </a:pPr>
            <a:r>
              <a:rPr lang="fr-FR" sz="2200" dirty="0"/>
              <a:t>La méthode ne doit pas nécessairement être statique.</a:t>
            </a:r>
          </a:p>
        </p:txBody>
      </p:sp>
      <p:sp>
        <p:nvSpPr>
          <p:cNvPr id="11" name="ZoneTexte 10">
            <a:extLst>
              <a:ext uri="{FF2B5EF4-FFF2-40B4-BE49-F238E27FC236}">
                <a16:creationId xmlns:a16="http://schemas.microsoft.com/office/drawing/2014/main" id="{5F08CD89-9877-7D24-BE13-B2E7212BF7CD}"/>
              </a:ext>
            </a:extLst>
          </p:cNvPr>
          <p:cNvSpPr txBox="1"/>
          <p:nvPr/>
        </p:nvSpPr>
        <p:spPr>
          <a:xfrm>
            <a:off x="2142875" y="2565102"/>
            <a:ext cx="6675121" cy="1477328"/>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public </a:t>
            </a:r>
            <a:r>
              <a:rPr lang="fr-BE" dirty="0" err="1">
                <a:solidFill>
                  <a:srgbClr val="CC7832"/>
                </a:solidFill>
                <a:effectLst/>
                <a:latin typeface="Consolas" panose="020B0609020204030204" pitchFamily="49" charset="0"/>
                <a:cs typeface="Consolas" panose="020B0609020204030204" pitchFamily="49" charset="0"/>
              </a:rPr>
              <a:t>static</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&lt;</a:t>
            </a:r>
            <a:r>
              <a:rPr lang="fr-BE" dirty="0" err="1">
                <a:solidFill>
                  <a:srgbClr val="507874"/>
                </a:solidFill>
                <a:effectLst/>
                <a:latin typeface="Consolas" panose="020B0609020204030204" pitchFamily="49" charset="0"/>
                <a:cs typeface="Consolas" panose="020B0609020204030204" pitchFamily="49" charset="0"/>
              </a:rPr>
              <a:t>T</a:t>
            </a:r>
            <a:r>
              <a:rPr lang="fr-BE" dirty="0">
                <a:latin typeface="Consolas" panose="020B0609020204030204" pitchFamily="49" charset="0"/>
                <a:cs typeface="Consolas" panose="020B0609020204030204" pitchFamily="49" charset="0"/>
              </a:rPr>
              <a:t>&gt; </a:t>
            </a:r>
            <a:r>
              <a:rPr lang="fr-BE" dirty="0" err="1">
                <a:solidFill>
                  <a:srgbClr val="507874"/>
                </a:solidFill>
                <a:effectLst/>
                <a:latin typeface="Consolas" panose="020B0609020204030204" pitchFamily="49" charset="0"/>
                <a:cs typeface="Consolas" panose="020B0609020204030204" pitchFamily="49" charset="0"/>
              </a:rPr>
              <a:t>T</a:t>
            </a:r>
            <a:r>
              <a:rPr lang="fr-BE" dirty="0">
                <a:solidFill>
                  <a:srgbClr val="507874"/>
                </a:solidFill>
                <a:effectLst/>
                <a:latin typeface="Consolas" panose="020B0609020204030204" pitchFamily="49" charset="0"/>
                <a:cs typeface="Consolas" panose="020B0609020204030204" pitchFamily="49" charset="0"/>
              </a:rPr>
              <a:t> </a:t>
            </a:r>
            <a:r>
              <a:rPr lang="fr-BE" dirty="0" err="1">
                <a:solidFill>
                  <a:srgbClr val="FFC66D"/>
                </a:solidFill>
                <a:effectLst/>
                <a:latin typeface="Consolas" panose="020B0609020204030204" pitchFamily="49" charset="0"/>
                <a:cs typeface="Consolas" panose="020B0609020204030204" pitchFamily="49" charset="0"/>
              </a:rPr>
              <a:t>getRandomValue</a:t>
            </a:r>
            <a:r>
              <a:rPr lang="fr-BE" dirty="0">
                <a:latin typeface="Consolas" panose="020B0609020204030204" pitchFamily="49" charset="0"/>
                <a:cs typeface="Consolas" panose="020B0609020204030204" pitchFamily="49" charset="0"/>
              </a:rPr>
              <a:t>(</a:t>
            </a:r>
            <a:r>
              <a:rPr lang="fr-BE" dirty="0" err="1">
                <a:solidFill>
                  <a:srgbClr val="507874"/>
                </a:solidFill>
                <a:effectLst/>
                <a:latin typeface="Consolas" panose="020B0609020204030204" pitchFamily="49" charset="0"/>
                <a:cs typeface="Consolas" panose="020B0609020204030204" pitchFamily="49" charset="0"/>
              </a:rPr>
              <a:t>T</a:t>
            </a:r>
            <a:r>
              <a:rPr lang="fr-BE" dirty="0">
                <a:latin typeface="Consolas" panose="020B0609020204030204" pitchFamily="49" charset="0"/>
                <a:cs typeface="Consolas" panose="020B0609020204030204" pitchFamily="49" charset="0"/>
              </a:rPr>
              <a:t>[] values)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int</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n = </a:t>
            </a:r>
            <a:r>
              <a:rPr lang="fr-BE" dirty="0" err="1">
                <a:latin typeface="Consolas" panose="020B0609020204030204" pitchFamily="49" charset="0"/>
                <a:cs typeface="Consolas" panose="020B0609020204030204" pitchFamily="49" charset="0"/>
              </a:rPr>
              <a:t>values.</a:t>
            </a:r>
            <a:r>
              <a:rPr lang="fr-BE" dirty="0" err="1">
                <a:solidFill>
                  <a:srgbClr val="9876AA"/>
                </a:solidFill>
                <a:effectLst/>
                <a:latin typeface="Consolas" panose="020B0609020204030204" pitchFamily="49" charset="0"/>
                <a:cs typeface="Consolas" panose="020B0609020204030204" pitchFamily="49" charset="0"/>
              </a:rPr>
              <a:t>length</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if </a:t>
            </a:r>
            <a:r>
              <a:rPr lang="fr-BE" dirty="0">
                <a:latin typeface="Consolas" panose="020B0609020204030204" pitchFamily="49" charset="0"/>
                <a:cs typeface="Consolas" panose="020B0609020204030204" pitchFamily="49" charset="0"/>
              </a:rPr>
              <a:t>(n==</a:t>
            </a:r>
            <a:r>
              <a:rPr lang="fr-BE" dirty="0">
                <a:solidFill>
                  <a:srgbClr val="6897BB"/>
                </a:solidFill>
                <a:effectLst/>
                <a:latin typeface="Consolas" panose="020B0609020204030204" pitchFamily="49" charset="0"/>
                <a:cs typeface="Consolas" panose="020B0609020204030204" pitchFamily="49" charset="0"/>
              </a:rPr>
              <a:t>0</a:t>
            </a: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return </a:t>
            </a:r>
            <a:r>
              <a:rPr lang="fr-BE" dirty="0" err="1">
                <a:solidFill>
                  <a:srgbClr val="CC7832"/>
                </a:solidFill>
                <a:effectLst/>
                <a:latin typeface="Consolas" panose="020B0609020204030204" pitchFamily="49" charset="0"/>
                <a:cs typeface="Consolas" panose="020B0609020204030204" pitchFamily="49" charset="0"/>
              </a:rPr>
              <a:t>null</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return </a:t>
            </a:r>
            <a:r>
              <a:rPr lang="fr-BE" dirty="0">
                <a:latin typeface="Consolas" panose="020B0609020204030204" pitchFamily="49" charset="0"/>
                <a:cs typeface="Consolas" panose="020B0609020204030204" pitchFamily="49" charset="0"/>
              </a:rPr>
              <a:t>values[(</a:t>
            </a:r>
            <a:r>
              <a:rPr lang="fr-BE" dirty="0" err="1">
                <a:solidFill>
                  <a:srgbClr val="CC7832"/>
                </a:solidFill>
                <a:effectLst/>
                <a:latin typeface="Consolas" panose="020B0609020204030204" pitchFamily="49" charset="0"/>
                <a:cs typeface="Consolas" panose="020B0609020204030204" pitchFamily="49" charset="0"/>
              </a:rPr>
              <a:t>int</a:t>
            </a:r>
            <a:r>
              <a:rPr lang="fr-BE" dirty="0">
                <a:latin typeface="Consolas" panose="020B0609020204030204" pitchFamily="49" charset="0"/>
                <a:cs typeface="Consolas" panose="020B0609020204030204" pitchFamily="49" charset="0"/>
              </a:rPr>
              <a:t>)(n * </a:t>
            </a:r>
            <a:r>
              <a:rPr lang="fr-BE" dirty="0" err="1">
                <a:latin typeface="Consolas" panose="020B0609020204030204" pitchFamily="49" charset="0"/>
                <a:cs typeface="Consolas" panose="020B0609020204030204" pitchFamily="49" charset="0"/>
              </a:rPr>
              <a:t>Math.</a:t>
            </a:r>
            <a:r>
              <a:rPr lang="fr-BE" i="1" dirty="0" err="1">
                <a:effectLst/>
                <a:latin typeface="Consolas" panose="020B0609020204030204" pitchFamily="49" charset="0"/>
                <a:cs typeface="Consolas" panose="020B0609020204030204" pitchFamily="49" charset="0"/>
              </a:rPr>
              <a:t>random</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076643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génériques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Le concept de type générique</a:t>
            </a:r>
          </a:p>
          <a:p>
            <a:pPr marL="342900" indent="-342900">
              <a:lnSpc>
                <a:spcPct val="80000"/>
              </a:lnSpc>
              <a:buFont typeface="Arial"/>
              <a:buChar char="•"/>
            </a:pPr>
            <a:r>
              <a:rPr lang="fr-FR" dirty="0"/>
              <a:t>Classe Générique à un seul paramètre</a:t>
            </a:r>
          </a:p>
          <a:p>
            <a:pPr marL="342900" indent="-342900">
              <a:lnSpc>
                <a:spcPct val="80000"/>
              </a:lnSpc>
              <a:buFont typeface="Arial"/>
              <a:buChar char="•"/>
            </a:pPr>
            <a:r>
              <a:rPr lang="fr-FR" dirty="0"/>
              <a:t>Classe Générique à plusieurs paramètres</a:t>
            </a:r>
          </a:p>
          <a:p>
            <a:pPr marL="342900" indent="-342900">
              <a:lnSpc>
                <a:spcPct val="80000"/>
              </a:lnSpc>
              <a:buFont typeface="Arial"/>
              <a:buChar char="•"/>
            </a:pPr>
            <a:r>
              <a:rPr lang="fr-FR" dirty="0"/>
              <a:t>Compilation des types génériques</a:t>
            </a:r>
          </a:p>
          <a:p>
            <a:pPr marL="342900" indent="-342900">
              <a:lnSpc>
                <a:spcPct val="80000"/>
              </a:lnSpc>
              <a:buFont typeface="Arial"/>
              <a:buChar char="•"/>
            </a:pPr>
            <a:r>
              <a:rPr lang="fr-FR" dirty="0"/>
              <a:t>Méthodes génériques</a:t>
            </a:r>
          </a:p>
          <a:p>
            <a:pPr marL="342900" indent="-342900">
              <a:lnSpc>
                <a:spcPct val="80000"/>
              </a:lnSpc>
              <a:buFont typeface="Arial"/>
              <a:buChar char="•"/>
            </a:pPr>
            <a:r>
              <a:rPr lang="fr-FR" dirty="0">
                <a:solidFill>
                  <a:schemeClr val="accent4"/>
                </a:solidFill>
              </a:rPr>
              <a:t>Limitations sur le type</a:t>
            </a:r>
          </a:p>
          <a:p>
            <a:pPr marL="342900" indent="-342900">
              <a:lnSpc>
                <a:spcPct val="80000"/>
              </a:lnSpc>
              <a:buFont typeface="Arial"/>
              <a:buChar char="•"/>
            </a:pPr>
            <a:r>
              <a:rPr lang="fr-FR" dirty="0"/>
              <a:t>Type générique et héritage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Tree>
    <p:extLst>
      <p:ext uri="{BB962C8B-B14F-4D97-AF65-F5344CB8AC3E}">
        <p14:creationId xmlns:p14="http://schemas.microsoft.com/office/powerpoint/2010/main" val="2259394784"/>
      </p:ext>
    </p:extLst>
  </p:cSld>
  <p:clrMapOvr>
    <a:masterClrMapping/>
  </p:clrMapOvr>
  <p:transition>
    <p:push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424FA-B311-AE48-8395-71D7C77A64C5}"/>
              </a:ext>
            </a:extLst>
          </p:cNvPr>
          <p:cNvSpPr>
            <a:spLocks noGrp="1"/>
          </p:cNvSpPr>
          <p:nvPr>
            <p:ph type="title"/>
          </p:nvPr>
        </p:nvSpPr>
        <p:spPr/>
        <p:txBody>
          <a:bodyPr>
            <a:normAutofit/>
          </a:bodyPr>
          <a:lstStyle/>
          <a:p>
            <a:r>
              <a:rPr lang="fr-FR" dirty="0"/>
              <a:t>Limitations sur le type &lt;</a:t>
            </a:r>
            <a:r>
              <a:rPr lang="fr-FR" dirty="0" err="1"/>
              <a:t>T</a:t>
            </a:r>
            <a:r>
              <a:rPr lang="fr-FR" dirty="0"/>
              <a:t>&gt;…</a:t>
            </a:r>
          </a:p>
        </p:txBody>
      </p:sp>
      <p:sp>
        <p:nvSpPr>
          <p:cNvPr id="3" name="Espace réservé du contenu 2">
            <a:extLst>
              <a:ext uri="{FF2B5EF4-FFF2-40B4-BE49-F238E27FC236}">
                <a16:creationId xmlns:a16="http://schemas.microsoft.com/office/drawing/2014/main" id="{4F37A94A-1BDE-5A41-925A-D9D3336EF459}"/>
              </a:ext>
            </a:extLst>
          </p:cNvPr>
          <p:cNvSpPr>
            <a:spLocks noGrp="1"/>
          </p:cNvSpPr>
          <p:nvPr>
            <p:ph idx="1"/>
          </p:nvPr>
        </p:nvSpPr>
        <p:spPr>
          <a:xfrm>
            <a:off x="838200" y="1825624"/>
            <a:ext cx="10515600" cy="3064427"/>
          </a:xfrm>
        </p:spPr>
        <p:txBody>
          <a:bodyPr>
            <a:normAutofit/>
          </a:bodyPr>
          <a:lstStyle/>
          <a:p>
            <a:pPr marL="0" indent="0">
              <a:buNone/>
            </a:pPr>
            <a:r>
              <a:rPr lang="fr-FR" sz="2400" dirty="0"/>
              <a:t>Nous verrons maintenant qu’il est possible </a:t>
            </a:r>
            <a:r>
              <a:rPr lang="fr-FR" sz="2400" dirty="0">
                <a:solidFill>
                  <a:schemeClr val="accent4"/>
                </a:solidFill>
              </a:rPr>
              <a:t>d’indiquer des contraintes sur notre type générique </a:t>
            </a:r>
            <a:r>
              <a:rPr lang="fr-FR" sz="2200" dirty="0" err="1">
                <a:solidFill>
                  <a:schemeClr val="accent4"/>
                </a:solidFill>
                <a:latin typeface="Consolas" panose="020B0609020204030204" pitchFamily="49" charset="0"/>
                <a:cs typeface="Consolas" panose="020B0609020204030204" pitchFamily="49" charset="0"/>
              </a:rPr>
              <a:t>T</a:t>
            </a:r>
            <a:r>
              <a:rPr lang="fr-FR" sz="2400" dirty="0"/>
              <a:t>.</a:t>
            </a:r>
          </a:p>
          <a:p>
            <a:r>
              <a:rPr lang="fr-FR" sz="2400" dirty="0"/>
              <a:t>Le type </a:t>
            </a:r>
            <a:r>
              <a:rPr lang="fr-FR" sz="2400" dirty="0" err="1">
                <a:solidFill>
                  <a:schemeClr val="accent4"/>
                </a:solidFill>
                <a:latin typeface="Consolas" panose="020B0609020204030204" pitchFamily="49" charset="0"/>
                <a:cs typeface="Consolas" panose="020B0609020204030204" pitchFamily="49" charset="0"/>
              </a:rPr>
              <a:t>T</a:t>
            </a:r>
            <a:r>
              <a:rPr lang="fr-FR" sz="2400" dirty="0"/>
              <a:t> de notre </a:t>
            </a:r>
            <a:r>
              <a:rPr lang="fr-FR" sz="2400" dirty="0">
                <a:solidFill>
                  <a:schemeClr val="accent4"/>
                </a:solidFill>
              </a:rPr>
              <a:t>classe</a:t>
            </a:r>
            <a:r>
              <a:rPr lang="fr-FR" sz="2400" dirty="0"/>
              <a:t> générique doit hériter d’une certaine classe</a:t>
            </a:r>
          </a:p>
          <a:p>
            <a:r>
              <a:rPr lang="fr-FR" sz="2400" dirty="0"/>
              <a:t>Le type </a:t>
            </a:r>
            <a:r>
              <a:rPr lang="fr-FR" sz="2400" dirty="0" err="1">
                <a:solidFill>
                  <a:schemeClr val="accent4"/>
                </a:solidFill>
                <a:latin typeface="Consolas" panose="020B0609020204030204" pitchFamily="49" charset="0"/>
                <a:cs typeface="Consolas" panose="020B0609020204030204" pitchFamily="49" charset="0"/>
              </a:rPr>
              <a:t>T</a:t>
            </a:r>
            <a:r>
              <a:rPr lang="fr-FR" sz="2400" dirty="0"/>
              <a:t> de notre </a:t>
            </a:r>
            <a:r>
              <a:rPr lang="fr-FR" sz="2400" dirty="0">
                <a:solidFill>
                  <a:schemeClr val="accent4"/>
                </a:solidFill>
              </a:rPr>
              <a:t>méthode</a:t>
            </a:r>
            <a:r>
              <a:rPr lang="fr-FR" sz="2400" dirty="0"/>
              <a:t> générique doit hériter d’une certaine classe</a:t>
            </a:r>
          </a:p>
          <a:p>
            <a:r>
              <a:rPr lang="fr-FR" sz="2400" dirty="0"/>
              <a:t>Le type </a:t>
            </a:r>
            <a:r>
              <a:rPr lang="fr-FR" sz="2400" dirty="0" err="1">
                <a:solidFill>
                  <a:schemeClr val="accent4"/>
                </a:solidFill>
                <a:latin typeface="Consolas" panose="020B0609020204030204" pitchFamily="49" charset="0"/>
                <a:cs typeface="Consolas" panose="020B0609020204030204" pitchFamily="49" charset="0"/>
              </a:rPr>
              <a:t>T</a:t>
            </a:r>
            <a:r>
              <a:rPr lang="fr-FR" sz="2400" dirty="0"/>
              <a:t> doit implémenter une ou plusieurs </a:t>
            </a:r>
            <a:r>
              <a:rPr lang="fr-FR" sz="2400" dirty="0">
                <a:solidFill>
                  <a:schemeClr val="accent4"/>
                </a:solidFill>
              </a:rPr>
              <a:t>interfaces</a:t>
            </a:r>
          </a:p>
          <a:p>
            <a:pPr marL="0" indent="0">
              <a:buNone/>
            </a:pPr>
            <a:endParaRPr lang="fr-FR" sz="2400" dirty="0"/>
          </a:p>
          <a:p>
            <a:endParaRPr lang="fr-FR" sz="2400" dirty="0"/>
          </a:p>
        </p:txBody>
      </p:sp>
    </p:spTree>
    <p:extLst>
      <p:ext uri="{BB962C8B-B14F-4D97-AF65-F5344CB8AC3E}">
        <p14:creationId xmlns:p14="http://schemas.microsoft.com/office/powerpoint/2010/main" val="17605054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424FA-B311-AE48-8395-71D7C77A64C5}"/>
              </a:ext>
            </a:extLst>
          </p:cNvPr>
          <p:cNvSpPr>
            <a:spLocks noGrp="1"/>
          </p:cNvSpPr>
          <p:nvPr>
            <p:ph type="title"/>
          </p:nvPr>
        </p:nvSpPr>
        <p:spPr/>
        <p:txBody>
          <a:bodyPr>
            <a:normAutofit/>
          </a:bodyPr>
          <a:lstStyle/>
          <a:p>
            <a:r>
              <a:rPr lang="fr-FR" dirty="0"/>
              <a:t>Limitations sur le type &lt;</a:t>
            </a:r>
            <a:r>
              <a:rPr lang="fr-FR" dirty="0" err="1"/>
              <a:t>T</a:t>
            </a:r>
            <a:r>
              <a:rPr lang="fr-FR" dirty="0"/>
              <a:t>&gt; d’une classe</a:t>
            </a:r>
          </a:p>
        </p:txBody>
      </p:sp>
      <p:sp>
        <p:nvSpPr>
          <p:cNvPr id="3" name="Espace réservé du contenu 2">
            <a:extLst>
              <a:ext uri="{FF2B5EF4-FFF2-40B4-BE49-F238E27FC236}">
                <a16:creationId xmlns:a16="http://schemas.microsoft.com/office/drawing/2014/main" id="{4F37A94A-1BDE-5A41-925A-D9D3336EF459}"/>
              </a:ext>
            </a:extLst>
          </p:cNvPr>
          <p:cNvSpPr>
            <a:spLocks noGrp="1"/>
          </p:cNvSpPr>
          <p:nvPr>
            <p:ph idx="1"/>
          </p:nvPr>
        </p:nvSpPr>
        <p:spPr>
          <a:xfrm>
            <a:off x="838200" y="1825625"/>
            <a:ext cx="10515600" cy="2205686"/>
          </a:xfrm>
        </p:spPr>
        <p:txBody>
          <a:bodyPr>
            <a:normAutofit/>
          </a:bodyPr>
          <a:lstStyle/>
          <a:p>
            <a:pPr marL="0" indent="0">
              <a:buNone/>
            </a:pPr>
            <a:r>
              <a:rPr lang="fr-FR" sz="2400" dirty="0"/>
              <a:t>On peut, par exemple, vouloir modéliser un couple de nombres (</a:t>
            </a:r>
            <a:r>
              <a:rPr lang="fr-FR" sz="2000" dirty="0" err="1">
                <a:solidFill>
                  <a:schemeClr val="accent4"/>
                </a:solidFill>
                <a:latin typeface="Consolas" panose="020B0609020204030204" pitchFamily="49" charset="0"/>
                <a:cs typeface="Consolas" panose="020B0609020204030204" pitchFamily="49" charset="0"/>
              </a:rPr>
              <a:t>Number</a:t>
            </a:r>
            <a:r>
              <a:rPr lang="fr-FR" sz="2400" dirty="0"/>
              <a:t>), pour empêcher de créer des couples de </a:t>
            </a:r>
            <a:r>
              <a:rPr lang="fr-FR" sz="2000" dirty="0">
                <a:solidFill>
                  <a:schemeClr val="accent4"/>
                </a:solidFill>
                <a:latin typeface="Consolas" panose="020B0609020204030204" pitchFamily="49" charset="0"/>
                <a:cs typeface="Consolas" panose="020B0609020204030204" pitchFamily="49" charset="0"/>
              </a:rPr>
              <a:t>String</a:t>
            </a:r>
            <a:r>
              <a:rPr lang="fr-FR" sz="2400" dirty="0"/>
              <a:t> ou </a:t>
            </a:r>
            <a:r>
              <a:rPr lang="fr-FR" sz="2000" dirty="0">
                <a:solidFill>
                  <a:schemeClr val="accent4"/>
                </a:solidFill>
                <a:latin typeface="Consolas" panose="020B0609020204030204" pitchFamily="49" charset="0"/>
                <a:cs typeface="Consolas" panose="020B0609020204030204" pitchFamily="49" charset="0"/>
              </a:rPr>
              <a:t>d’Etudiant</a:t>
            </a:r>
            <a:r>
              <a:rPr lang="fr-FR" sz="2400" dirty="0"/>
              <a:t> mais permettre de créer des couples </a:t>
            </a:r>
            <a:r>
              <a:rPr lang="fr-FR" sz="2000" dirty="0">
                <a:solidFill>
                  <a:schemeClr val="accent4"/>
                </a:solidFill>
                <a:latin typeface="Consolas" panose="020B0609020204030204" pitchFamily="49" charset="0"/>
                <a:cs typeface="Consolas" panose="020B0609020204030204" pitchFamily="49" charset="0"/>
              </a:rPr>
              <a:t>d’Integer</a:t>
            </a:r>
            <a:r>
              <a:rPr lang="fr-FR" sz="2400" dirty="0"/>
              <a:t> ou de </a:t>
            </a:r>
            <a:r>
              <a:rPr lang="fr-FR" sz="2000" dirty="0">
                <a:solidFill>
                  <a:schemeClr val="accent4"/>
                </a:solidFill>
                <a:latin typeface="Consolas" panose="020B0609020204030204" pitchFamily="49" charset="0"/>
                <a:cs typeface="Consolas" panose="020B0609020204030204" pitchFamily="49" charset="0"/>
              </a:rPr>
              <a:t>Double</a:t>
            </a:r>
            <a:r>
              <a:rPr lang="fr-FR" sz="2400" dirty="0"/>
              <a:t>.</a:t>
            </a:r>
          </a:p>
          <a:p>
            <a:pPr marL="0" indent="0">
              <a:buNone/>
            </a:pPr>
            <a:endParaRPr lang="fr-FR" sz="2400" dirty="0"/>
          </a:p>
        </p:txBody>
      </p:sp>
      <p:sp>
        <p:nvSpPr>
          <p:cNvPr id="7" name="ZoneTexte 6">
            <a:extLst>
              <a:ext uri="{FF2B5EF4-FFF2-40B4-BE49-F238E27FC236}">
                <a16:creationId xmlns:a16="http://schemas.microsoft.com/office/drawing/2014/main" id="{11E414F7-CDBE-B80C-96B6-90FA444EDF9A}"/>
              </a:ext>
            </a:extLst>
          </p:cNvPr>
          <p:cNvSpPr txBox="1"/>
          <p:nvPr/>
        </p:nvSpPr>
        <p:spPr>
          <a:xfrm>
            <a:off x="1086678" y="3329812"/>
            <a:ext cx="10018644" cy="430887"/>
          </a:xfrm>
          <a:prstGeom prst="rect">
            <a:avLst/>
          </a:prstGeom>
          <a:solidFill>
            <a:srgbClr val="2B2B2B"/>
          </a:solidFill>
        </p:spPr>
        <p:txBody>
          <a:bodyPr wrap="square">
            <a:spAutoFit/>
          </a:bodyPr>
          <a:lstStyle/>
          <a:p>
            <a:r>
              <a:rPr lang="fr-BE" sz="2200" dirty="0">
                <a:solidFill>
                  <a:srgbClr val="CC7832"/>
                </a:solidFill>
                <a:effectLst/>
                <a:latin typeface="Consolas" panose="020B0609020204030204" pitchFamily="49" charset="0"/>
                <a:cs typeface="Consolas" panose="020B0609020204030204" pitchFamily="49" charset="0"/>
              </a:rPr>
              <a:t>class </a:t>
            </a:r>
            <a:r>
              <a:rPr lang="fr-BE" sz="2200" dirty="0">
                <a:latin typeface="Consolas" panose="020B0609020204030204" pitchFamily="49" charset="0"/>
                <a:cs typeface="Consolas" panose="020B0609020204030204" pitchFamily="49" charset="0"/>
              </a:rPr>
              <a:t>Couple&lt;</a:t>
            </a:r>
            <a:r>
              <a:rPr lang="fr-BE" sz="2200" dirty="0" err="1">
                <a:solidFill>
                  <a:srgbClr val="507874"/>
                </a:solidFill>
                <a:effectLst/>
                <a:latin typeface="Consolas" panose="020B0609020204030204" pitchFamily="49" charset="0"/>
                <a:cs typeface="Consolas" panose="020B0609020204030204" pitchFamily="49" charset="0"/>
              </a:rPr>
              <a:t>T</a:t>
            </a:r>
            <a:r>
              <a:rPr lang="fr-BE" sz="2200" dirty="0">
                <a:solidFill>
                  <a:srgbClr val="507874"/>
                </a:solidFill>
                <a:effectLst/>
                <a:latin typeface="Consolas" panose="020B0609020204030204" pitchFamily="49" charset="0"/>
                <a:cs typeface="Consolas" panose="020B0609020204030204" pitchFamily="49" charset="0"/>
              </a:rPr>
              <a:t> </a:t>
            </a:r>
            <a:r>
              <a:rPr lang="fr-BE" sz="2200" dirty="0" err="1">
                <a:solidFill>
                  <a:srgbClr val="CC7832"/>
                </a:solidFill>
                <a:effectLst/>
                <a:latin typeface="Consolas" panose="020B0609020204030204" pitchFamily="49" charset="0"/>
                <a:cs typeface="Consolas" panose="020B0609020204030204" pitchFamily="49" charset="0"/>
              </a:rPr>
              <a:t>extends</a:t>
            </a:r>
            <a:r>
              <a:rPr lang="fr-BE" sz="2200" dirty="0">
                <a:solidFill>
                  <a:srgbClr val="CC7832"/>
                </a:solidFill>
                <a:effectLst/>
                <a:latin typeface="Consolas" panose="020B0609020204030204" pitchFamily="49" charset="0"/>
                <a:cs typeface="Consolas" panose="020B0609020204030204" pitchFamily="49" charset="0"/>
              </a:rPr>
              <a:t> </a:t>
            </a:r>
            <a:r>
              <a:rPr lang="fr-BE" sz="2200" dirty="0" err="1">
                <a:latin typeface="Consolas" panose="020B0609020204030204" pitchFamily="49" charset="0"/>
                <a:cs typeface="Consolas" panose="020B0609020204030204" pitchFamily="49" charset="0"/>
              </a:rPr>
              <a:t>Number</a:t>
            </a:r>
            <a:r>
              <a:rPr lang="fr-BE" sz="2200" dirty="0">
                <a:latin typeface="Consolas" panose="020B0609020204030204" pitchFamily="49" charset="0"/>
                <a:cs typeface="Consolas" panose="020B0609020204030204" pitchFamily="49" charset="0"/>
              </a:rPr>
              <a:t>&gt; { </a:t>
            </a:r>
            <a:r>
              <a:rPr lang="fr-BE" sz="2200" dirty="0">
                <a:solidFill>
                  <a:srgbClr val="808080"/>
                </a:solidFill>
                <a:effectLst/>
                <a:latin typeface="Consolas" panose="020B0609020204030204" pitchFamily="49" charset="0"/>
                <a:cs typeface="Consolas" panose="020B0609020204030204" pitchFamily="49" charset="0"/>
              </a:rPr>
              <a:t>/* le reste est identique */ </a:t>
            </a:r>
            <a:r>
              <a:rPr lang="fr-BE" sz="2200" dirty="0">
                <a:latin typeface="Consolas" panose="020B0609020204030204" pitchFamily="49" charset="0"/>
                <a:cs typeface="Consolas" panose="020B0609020204030204" pitchFamily="49" charset="0"/>
              </a:rPr>
              <a:t>}</a:t>
            </a:r>
            <a:endParaRPr lang="fr-FR" sz="2200" dirty="0">
              <a:latin typeface="Consolas" panose="020B0609020204030204" pitchFamily="49" charset="0"/>
              <a:cs typeface="Consolas" panose="020B0609020204030204" pitchFamily="49" charset="0"/>
            </a:endParaRPr>
          </a:p>
        </p:txBody>
      </p:sp>
      <p:sp>
        <p:nvSpPr>
          <p:cNvPr id="9" name="ZoneTexte 8">
            <a:extLst>
              <a:ext uri="{FF2B5EF4-FFF2-40B4-BE49-F238E27FC236}">
                <a16:creationId xmlns:a16="http://schemas.microsoft.com/office/drawing/2014/main" id="{5839F848-F85B-6BCB-77B1-C1EF6BA439C5}"/>
              </a:ext>
            </a:extLst>
          </p:cNvPr>
          <p:cNvSpPr txBox="1"/>
          <p:nvPr/>
        </p:nvSpPr>
        <p:spPr>
          <a:xfrm>
            <a:off x="838200" y="4014270"/>
            <a:ext cx="10515600" cy="830997"/>
          </a:xfrm>
          <a:prstGeom prst="rect">
            <a:avLst/>
          </a:prstGeom>
          <a:noFill/>
        </p:spPr>
        <p:txBody>
          <a:bodyPr wrap="square">
            <a:spAutoFit/>
          </a:bodyPr>
          <a:lstStyle/>
          <a:p>
            <a:pPr marL="0" indent="0">
              <a:buNone/>
            </a:pPr>
            <a:r>
              <a:rPr lang="fr-FR" sz="2400" dirty="0"/>
              <a:t>À la compilation, le mécanisme d’effacement remplacera </a:t>
            </a:r>
            <a:r>
              <a:rPr lang="fr-FR" sz="2000" dirty="0" err="1">
                <a:solidFill>
                  <a:schemeClr val="accent4"/>
                </a:solidFill>
                <a:latin typeface="Consolas" panose="020B0609020204030204" pitchFamily="49" charset="0"/>
                <a:cs typeface="Consolas" panose="020B0609020204030204" pitchFamily="49" charset="0"/>
              </a:rPr>
              <a:t>T</a:t>
            </a:r>
            <a:r>
              <a:rPr lang="fr-FR" sz="2400" dirty="0"/>
              <a:t> par </a:t>
            </a:r>
            <a:r>
              <a:rPr lang="fr-FR" sz="2000" dirty="0" err="1">
                <a:solidFill>
                  <a:schemeClr val="accent4"/>
                </a:solidFill>
                <a:latin typeface="Consolas" panose="020B0609020204030204" pitchFamily="49" charset="0"/>
                <a:cs typeface="Consolas" panose="020B0609020204030204" pitchFamily="49" charset="0"/>
              </a:rPr>
              <a:t>Number</a:t>
            </a:r>
            <a:r>
              <a:rPr lang="fr-FR" sz="2400" dirty="0"/>
              <a:t>, et plus par </a:t>
            </a:r>
            <a:r>
              <a:rPr lang="fr-FR" sz="2000" dirty="0">
                <a:solidFill>
                  <a:schemeClr val="accent4"/>
                </a:solidFill>
                <a:latin typeface="Consolas" panose="020B0609020204030204" pitchFamily="49" charset="0"/>
                <a:cs typeface="Consolas" panose="020B0609020204030204" pitchFamily="49" charset="0"/>
              </a:rPr>
              <a:t>Object</a:t>
            </a:r>
            <a:r>
              <a:rPr lang="fr-FR" sz="2400" dirty="0"/>
              <a:t> comme dans le cas général.</a:t>
            </a:r>
          </a:p>
        </p:txBody>
      </p:sp>
    </p:spTree>
    <p:extLst>
      <p:ext uri="{BB962C8B-B14F-4D97-AF65-F5344CB8AC3E}">
        <p14:creationId xmlns:p14="http://schemas.microsoft.com/office/powerpoint/2010/main" val="3506692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424FA-B311-AE48-8395-71D7C77A64C5}"/>
              </a:ext>
            </a:extLst>
          </p:cNvPr>
          <p:cNvSpPr>
            <a:spLocks noGrp="1"/>
          </p:cNvSpPr>
          <p:nvPr>
            <p:ph type="title"/>
          </p:nvPr>
        </p:nvSpPr>
        <p:spPr/>
        <p:txBody>
          <a:bodyPr>
            <a:normAutofit fontScale="90000"/>
          </a:bodyPr>
          <a:lstStyle/>
          <a:p>
            <a:r>
              <a:rPr lang="fr-FR" dirty="0"/>
              <a:t>Limitations sur le type &lt;</a:t>
            </a:r>
            <a:r>
              <a:rPr lang="fr-FR" dirty="0" err="1"/>
              <a:t>T</a:t>
            </a:r>
            <a:r>
              <a:rPr lang="fr-FR" dirty="0"/>
              <a:t>&gt; d’une méthode</a:t>
            </a:r>
          </a:p>
        </p:txBody>
      </p:sp>
      <p:sp>
        <p:nvSpPr>
          <p:cNvPr id="3" name="Espace réservé du contenu 2">
            <a:extLst>
              <a:ext uri="{FF2B5EF4-FFF2-40B4-BE49-F238E27FC236}">
                <a16:creationId xmlns:a16="http://schemas.microsoft.com/office/drawing/2014/main" id="{4F37A94A-1BDE-5A41-925A-D9D3336EF459}"/>
              </a:ext>
            </a:extLst>
          </p:cNvPr>
          <p:cNvSpPr>
            <a:spLocks noGrp="1"/>
          </p:cNvSpPr>
          <p:nvPr>
            <p:ph idx="1"/>
          </p:nvPr>
        </p:nvSpPr>
        <p:spPr/>
        <p:txBody>
          <a:bodyPr>
            <a:noAutofit/>
          </a:bodyPr>
          <a:lstStyle/>
          <a:p>
            <a:pPr marL="0" indent="0">
              <a:buNone/>
            </a:pPr>
            <a:r>
              <a:rPr lang="fr-FR" sz="2400" dirty="0"/>
              <a:t>C’est </a:t>
            </a:r>
            <a:r>
              <a:rPr lang="fr-FR" sz="2400" dirty="0">
                <a:solidFill>
                  <a:schemeClr val="accent4"/>
                </a:solidFill>
              </a:rPr>
              <a:t>aussi valable pour les méthodes </a:t>
            </a:r>
            <a:r>
              <a:rPr lang="fr-FR" sz="2400" dirty="0"/>
              <a:t>génériques.</a:t>
            </a:r>
          </a:p>
        </p:txBody>
      </p:sp>
      <p:sp>
        <p:nvSpPr>
          <p:cNvPr id="7" name="ZoneTexte 6">
            <a:extLst>
              <a:ext uri="{FF2B5EF4-FFF2-40B4-BE49-F238E27FC236}">
                <a16:creationId xmlns:a16="http://schemas.microsoft.com/office/drawing/2014/main" id="{E16CE5A9-47C3-F397-4C40-92F56480C88C}"/>
              </a:ext>
            </a:extLst>
          </p:cNvPr>
          <p:cNvSpPr txBox="1"/>
          <p:nvPr/>
        </p:nvSpPr>
        <p:spPr>
          <a:xfrm>
            <a:off x="1622065" y="2321004"/>
            <a:ext cx="8953170" cy="1107996"/>
          </a:xfrm>
          <a:prstGeom prst="rect">
            <a:avLst/>
          </a:prstGeom>
          <a:solidFill>
            <a:srgbClr val="2B2B2B"/>
          </a:solidFill>
        </p:spPr>
        <p:txBody>
          <a:bodyPr wrap="square">
            <a:spAutoFit/>
          </a:bodyPr>
          <a:lstStyle/>
          <a:p>
            <a:r>
              <a:rPr lang="fr-BE" sz="2200" dirty="0">
                <a:solidFill>
                  <a:srgbClr val="CC7832"/>
                </a:solidFill>
                <a:effectLst/>
                <a:latin typeface="Consolas" panose="020B0609020204030204" pitchFamily="49" charset="0"/>
                <a:cs typeface="Consolas" panose="020B0609020204030204" pitchFamily="49" charset="0"/>
              </a:rPr>
              <a:t>public </a:t>
            </a:r>
            <a:r>
              <a:rPr lang="fr-BE" sz="2200" dirty="0" err="1">
                <a:solidFill>
                  <a:srgbClr val="CC7832"/>
                </a:solidFill>
                <a:effectLst/>
                <a:latin typeface="Consolas" panose="020B0609020204030204" pitchFamily="49" charset="0"/>
                <a:cs typeface="Consolas" panose="020B0609020204030204" pitchFamily="49" charset="0"/>
              </a:rPr>
              <a:t>static</a:t>
            </a:r>
            <a:r>
              <a:rPr lang="fr-BE" sz="2200" dirty="0">
                <a:solidFill>
                  <a:srgbClr val="CC7832"/>
                </a:solidFill>
                <a:effectLst/>
                <a:latin typeface="Consolas" panose="020B0609020204030204" pitchFamily="49" charset="0"/>
                <a:cs typeface="Consolas" panose="020B0609020204030204" pitchFamily="49" charset="0"/>
              </a:rPr>
              <a:t> </a:t>
            </a:r>
            <a:r>
              <a:rPr lang="fr-BE" sz="2200" dirty="0">
                <a:latin typeface="Consolas" panose="020B0609020204030204" pitchFamily="49" charset="0"/>
                <a:cs typeface="Consolas" panose="020B0609020204030204" pitchFamily="49" charset="0"/>
              </a:rPr>
              <a:t>&lt;</a:t>
            </a:r>
            <a:r>
              <a:rPr lang="fr-BE" sz="2200" dirty="0" err="1">
                <a:solidFill>
                  <a:srgbClr val="507874"/>
                </a:solidFill>
                <a:effectLst/>
                <a:latin typeface="Consolas" panose="020B0609020204030204" pitchFamily="49" charset="0"/>
                <a:cs typeface="Consolas" panose="020B0609020204030204" pitchFamily="49" charset="0"/>
              </a:rPr>
              <a:t>T</a:t>
            </a:r>
            <a:r>
              <a:rPr lang="fr-BE" sz="2200" dirty="0">
                <a:solidFill>
                  <a:srgbClr val="507874"/>
                </a:solidFill>
                <a:effectLst/>
                <a:latin typeface="Consolas" panose="020B0609020204030204" pitchFamily="49" charset="0"/>
                <a:cs typeface="Consolas" panose="020B0609020204030204" pitchFamily="49" charset="0"/>
              </a:rPr>
              <a:t> </a:t>
            </a:r>
            <a:r>
              <a:rPr lang="fr-BE" sz="2200" dirty="0" err="1">
                <a:solidFill>
                  <a:srgbClr val="CC7832"/>
                </a:solidFill>
                <a:effectLst/>
                <a:latin typeface="Consolas" panose="020B0609020204030204" pitchFamily="49" charset="0"/>
                <a:cs typeface="Consolas" panose="020B0609020204030204" pitchFamily="49" charset="0"/>
              </a:rPr>
              <a:t>extends</a:t>
            </a:r>
            <a:r>
              <a:rPr lang="fr-BE" sz="2200" dirty="0">
                <a:solidFill>
                  <a:srgbClr val="CC7832"/>
                </a:solidFill>
                <a:effectLst/>
                <a:latin typeface="Consolas" panose="020B0609020204030204" pitchFamily="49" charset="0"/>
                <a:cs typeface="Consolas" panose="020B0609020204030204" pitchFamily="49" charset="0"/>
              </a:rPr>
              <a:t> </a:t>
            </a:r>
            <a:r>
              <a:rPr lang="fr-BE" sz="2200" dirty="0" err="1">
                <a:latin typeface="Consolas" panose="020B0609020204030204" pitchFamily="49" charset="0"/>
                <a:cs typeface="Consolas" panose="020B0609020204030204" pitchFamily="49" charset="0"/>
              </a:rPr>
              <a:t>Number</a:t>
            </a:r>
            <a:r>
              <a:rPr lang="fr-BE" sz="2200" dirty="0">
                <a:latin typeface="Consolas" panose="020B0609020204030204" pitchFamily="49" charset="0"/>
                <a:cs typeface="Consolas" panose="020B0609020204030204" pitchFamily="49" charset="0"/>
              </a:rPr>
              <a:t>&gt; </a:t>
            </a:r>
            <a:r>
              <a:rPr lang="fr-BE" sz="2200" dirty="0" err="1">
                <a:solidFill>
                  <a:srgbClr val="507874"/>
                </a:solidFill>
                <a:effectLst/>
                <a:latin typeface="Consolas" panose="020B0609020204030204" pitchFamily="49" charset="0"/>
                <a:cs typeface="Consolas" panose="020B0609020204030204" pitchFamily="49" charset="0"/>
              </a:rPr>
              <a:t>T</a:t>
            </a:r>
            <a:r>
              <a:rPr lang="fr-BE" sz="2200" dirty="0">
                <a:solidFill>
                  <a:srgbClr val="507874"/>
                </a:solidFill>
                <a:effectLst/>
                <a:latin typeface="Consolas" panose="020B0609020204030204" pitchFamily="49" charset="0"/>
                <a:cs typeface="Consolas" panose="020B0609020204030204" pitchFamily="49" charset="0"/>
              </a:rPr>
              <a:t> </a:t>
            </a:r>
            <a:r>
              <a:rPr lang="fr-BE" sz="2200" dirty="0">
                <a:solidFill>
                  <a:srgbClr val="FFC66D"/>
                </a:solidFill>
                <a:effectLst/>
                <a:latin typeface="Consolas" panose="020B0609020204030204" pitchFamily="49" charset="0"/>
                <a:cs typeface="Consolas" panose="020B0609020204030204" pitchFamily="49" charset="0"/>
              </a:rPr>
              <a:t>hasard</a:t>
            </a:r>
            <a:r>
              <a:rPr lang="fr-BE" sz="2200" dirty="0">
                <a:latin typeface="Consolas" panose="020B0609020204030204" pitchFamily="49" charset="0"/>
                <a:cs typeface="Consolas" panose="020B0609020204030204" pitchFamily="49" charset="0"/>
              </a:rPr>
              <a:t>(</a:t>
            </a:r>
            <a:r>
              <a:rPr lang="fr-BE" sz="2200" dirty="0" err="1">
                <a:solidFill>
                  <a:srgbClr val="507874"/>
                </a:solidFill>
                <a:effectLst/>
                <a:latin typeface="Consolas" panose="020B0609020204030204" pitchFamily="49" charset="0"/>
                <a:cs typeface="Consolas" panose="020B0609020204030204" pitchFamily="49" charset="0"/>
              </a:rPr>
              <a:t>T</a:t>
            </a:r>
            <a:r>
              <a:rPr lang="fr-BE" sz="2200" dirty="0">
                <a:latin typeface="Consolas" panose="020B0609020204030204" pitchFamily="49" charset="0"/>
                <a:cs typeface="Consolas" panose="020B0609020204030204" pitchFamily="49" charset="0"/>
              </a:rPr>
              <a:t>[] values) {</a:t>
            </a:r>
          </a:p>
          <a:p>
            <a:r>
              <a:rPr lang="fr-BE" sz="2200" dirty="0">
                <a:solidFill>
                  <a:srgbClr val="808080"/>
                </a:solidFill>
                <a:effectLst/>
                <a:latin typeface="Consolas" panose="020B0609020204030204" pitchFamily="49" charset="0"/>
                <a:cs typeface="Consolas" panose="020B0609020204030204" pitchFamily="49" charset="0"/>
              </a:rPr>
              <a:t>    /* le reste est identique */ </a:t>
            </a:r>
          </a:p>
          <a:p>
            <a:r>
              <a:rPr lang="fr-BE" sz="2200" dirty="0">
                <a:latin typeface="Consolas" panose="020B0609020204030204" pitchFamily="49" charset="0"/>
                <a:cs typeface="Consolas" panose="020B0609020204030204" pitchFamily="49" charset="0"/>
              </a:rPr>
              <a:t>}</a:t>
            </a:r>
            <a:endParaRPr lang="fr-FR" sz="2200" dirty="0">
              <a:latin typeface="Consolas" panose="020B0609020204030204" pitchFamily="49" charset="0"/>
              <a:cs typeface="Consolas" panose="020B0609020204030204" pitchFamily="49" charset="0"/>
            </a:endParaRPr>
          </a:p>
        </p:txBody>
      </p:sp>
      <p:sp>
        <p:nvSpPr>
          <p:cNvPr id="9" name="ZoneTexte 8">
            <a:extLst>
              <a:ext uri="{FF2B5EF4-FFF2-40B4-BE49-F238E27FC236}">
                <a16:creationId xmlns:a16="http://schemas.microsoft.com/office/drawing/2014/main" id="{C271D540-2BE9-E28A-EC8B-13339D91D6BA}"/>
              </a:ext>
            </a:extLst>
          </p:cNvPr>
          <p:cNvSpPr txBox="1"/>
          <p:nvPr/>
        </p:nvSpPr>
        <p:spPr>
          <a:xfrm>
            <a:off x="1554480" y="4073257"/>
            <a:ext cx="4289729" cy="430887"/>
          </a:xfrm>
          <a:prstGeom prst="rect">
            <a:avLst/>
          </a:prstGeom>
          <a:solidFill>
            <a:srgbClr val="2B2B2B"/>
          </a:solidFill>
        </p:spPr>
        <p:txBody>
          <a:bodyPr wrap="square">
            <a:spAutoFit/>
          </a:bodyPr>
          <a:lstStyle/>
          <a:p>
            <a:r>
              <a:rPr lang="fr-BE" sz="2200" dirty="0">
                <a:latin typeface="Consolas" panose="020B0609020204030204" pitchFamily="49" charset="0"/>
                <a:cs typeface="Consolas" panose="020B0609020204030204" pitchFamily="49" charset="0"/>
              </a:rPr>
              <a:t>d = </a:t>
            </a:r>
            <a:r>
              <a:rPr lang="fr-BE" sz="2200" i="1" dirty="0">
                <a:effectLst/>
                <a:latin typeface="Consolas" panose="020B0609020204030204" pitchFamily="49" charset="0"/>
                <a:cs typeface="Consolas" panose="020B0609020204030204" pitchFamily="49" charset="0"/>
              </a:rPr>
              <a:t>hasard</a:t>
            </a:r>
            <a:r>
              <a:rPr lang="fr-BE" sz="2200" dirty="0">
                <a:latin typeface="Consolas" panose="020B0609020204030204" pitchFamily="49" charset="0"/>
                <a:cs typeface="Consolas" panose="020B0609020204030204" pitchFamily="49" charset="0"/>
              </a:rPr>
              <a:t>(. . .)</a:t>
            </a:r>
            <a:r>
              <a:rPr lang="fr-BE" sz="2200" dirty="0">
                <a:solidFill>
                  <a:srgbClr val="CC7832"/>
                </a:solidFill>
                <a:effectLst/>
                <a:latin typeface="Consolas" panose="020B0609020204030204" pitchFamily="49" charset="0"/>
                <a:cs typeface="Consolas" panose="020B0609020204030204" pitchFamily="49" charset="0"/>
              </a:rPr>
              <a:t>;</a:t>
            </a:r>
            <a:endParaRPr lang="fr-FR" sz="2200" dirty="0">
              <a:latin typeface="Consolas" panose="020B0609020204030204" pitchFamily="49" charset="0"/>
              <a:cs typeface="Consolas" panose="020B0609020204030204" pitchFamily="49" charset="0"/>
            </a:endParaRPr>
          </a:p>
        </p:txBody>
      </p:sp>
      <p:sp>
        <p:nvSpPr>
          <p:cNvPr id="10" name="Espace réservé du contenu 2">
            <a:extLst>
              <a:ext uri="{FF2B5EF4-FFF2-40B4-BE49-F238E27FC236}">
                <a16:creationId xmlns:a16="http://schemas.microsoft.com/office/drawing/2014/main" id="{0F6AD6AD-CEA0-B567-7C09-164CBDF025E4}"/>
              </a:ext>
            </a:extLst>
          </p:cNvPr>
          <p:cNvSpPr txBox="1">
            <a:spLocks/>
          </p:cNvSpPr>
          <p:nvPr/>
        </p:nvSpPr>
        <p:spPr>
          <a:xfrm>
            <a:off x="838200" y="3670327"/>
            <a:ext cx="10515600" cy="8338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Un appel comme</a:t>
            </a:r>
          </a:p>
        </p:txBody>
      </p:sp>
      <p:sp>
        <p:nvSpPr>
          <p:cNvPr id="11" name="Espace réservé du contenu 2">
            <a:extLst>
              <a:ext uri="{FF2B5EF4-FFF2-40B4-BE49-F238E27FC236}">
                <a16:creationId xmlns:a16="http://schemas.microsoft.com/office/drawing/2014/main" id="{6131EEB3-7253-4A83-D373-8FACBAA49A86}"/>
              </a:ext>
            </a:extLst>
          </p:cNvPr>
          <p:cNvSpPr txBox="1">
            <a:spLocks/>
          </p:cNvSpPr>
          <p:nvPr/>
        </p:nvSpPr>
        <p:spPr>
          <a:xfrm>
            <a:off x="838200" y="4597845"/>
            <a:ext cx="10515600" cy="675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Sera dès lors traduit par le compilateur comme si on avait écrit </a:t>
            </a:r>
          </a:p>
        </p:txBody>
      </p:sp>
      <p:sp>
        <p:nvSpPr>
          <p:cNvPr id="12" name="ZoneTexte 11">
            <a:extLst>
              <a:ext uri="{FF2B5EF4-FFF2-40B4-BE49-F238E27FC236}">
                <a16:creationId xmlns:a16="http://schemas.microsoft.com/office/drawing/2014/main" id="{557B06A2-DFC9-84FC-B53E-71A094B12B0C}"/>
              </a:ext>
            </a:extLst>
          </p:cNvPr>
          <p:cNvSpPr txBox="1"/>
          <p:nvPr/>
        </p:nvSpPr>
        <p:spPr>
          <a:xfrm>
            <a:off x="1554480" y="5058258"/>
            <a:ext cx="4289729" cy="430887"/>
          </a:xfrm>
          <a:prstGeom prst="rect">
            <a:avLst/>
          </a:prstGeom>
          <a:solidFill>
            <a:srgbClr val="2B2B2B"/>
          </a:solidFill>
        </p:spPr>
        <p:txBody>
          <a:bodyPr wrap="square">
            <a:spAutoFit/>
          </a:bodyPr>
          <a:lstStyle/>
          <a:p>
            <a:r>
              <a:rPr lang="fr-BE" sz="2200" dirty="0">
                <a:latin typeface="Consolas" panose="020B0609020204030204" pitchFamily="49" charset="0"/>
                <a:cs typeface="Consolas" panose="020B0609020204030204" pitchFamily="49" charset="0"/>
              </a:rPr>
              <a:t>d = (</a:t>
            </a:r>
            <a:r>
              <a:rPr lang="fr-BE" sz="2200" dirty="0" err="1">
                <a:latin typeface="Consolas" panose="020B0609020204030204" pitchFamily="49" charset="0"/>
                <a:cs typeface="Consolas" panose="020B0609020204030204" pitchFamily="49" charset="0"/>
              </a:rPr>
              <a:t>Number</a:t>
            </a:r>
            <a:r>
              <a:rPr lang="fr-BE" sz="2200" dirty="0">
                <a:latin typeface="Consolas" panose="020B0609020204030204" pitchFamily="49" charset="0"/>
                <a:cs typeface="Consolas" panose="020B0609020204030204" pitchFamily="49" charset="0"/>
              </a:rPr>
              <a:t>)</a:t>
            </a:r>
            <a:r>
              <a:rPr lang="fr-BE" sz="2200" i="1" dirty="0">
                <a:effectLst/>
                <a:latin typeface="Consolas" panose="020B0609020204030204" pitchFamily="49" charset="0"/>
                <a:cs typeface="Consolas" panose="020B0609020204030204" pitchFamily="49" charset="0"/>
              </a:rPr>
              <a:t>hasard</a:t>
            </a:r>
            <a:r>
              <a:rPr lang="fr-BE" sz="2200" dirty="0">
                <a:latin typeface="Consolas" panose="020B0609020204030204" pitchFamily="49" charset="0"/>
                <a:cs typeface="Consolas" panose="020B0609020204030204" pitchFamily="49" charset="0"/>
              </a:rPr>
              <a:t>(. . .)</a:t>
            </a:r>
            <a:r>
              <a:rPr lang="fr-BE" sz="2200" dirty="0">
                <a:solidFill>
                  <a:srgbClr val="CC7832"/>
                </a:solidFill>
                <a:effectLst/>
                <a:latin typeface="Consolas" panose="020B0609020204030204" pitchFamily="49" charset="0"/>
                <a:cs typeface="Consolas" panose="020B0609020204030204" pitchFamily="49" charset="0"/>
              </a:rPr>
              <a:t>;</a:t>
            </a:r>
            <a:endParaRPr lang="fr-FR" sz="2200" dirty="0">
              <a:latin typeface="Consolas" panose="020B0609020204030204" pitchFamily="49" charset="0"/>
              <a:cs typeface="Consolas" panose="020B0609020204030204" pitchFamily="49" charset="0"/>
            </a:endParaRPr>
          </a:p>
        </p:txBody>
      </p:sp>
      <p:sp>
        <p:nvSpPr>
          <p:cNvPr id="13" name="Espace réservé du contenu 2">
            <a:extLst>
              <a:ext uri="{FF2B5EF4-FFF2-40B4-BE49-F238E27FC236}">
                <a16:creationId xmlns:a16="http://schemas.microsoft.com/office/drawing/2014/main" id="{B2A6484B-91E6-6E34-3A5A-57F317A9BB81}"/>
              </a:ext>
            </a:extLst>
          </p:cNvPr>
          <p:cNvSpPr txBox="1">
            <a:spLocks/>
          </p:cNvSpPr>
          <p:nvPr/>
        </p:nvSpPr>
        <p:spPr>
          <a:xfrm>
            <a:off x="838199" y="5672989"/>
            <a:ext cx="10945633" cy="675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400" dirty="0"/>
              <a:t>Ce qui explique pourquoi </a:t>
            </a:r>
            <a:r>
              <a:rPr lang="fr-FR" sz="2400" dirty="0">
                <a:solidFill>
                  <a:schemeClr val="accent4"/>
                </a:solidFill>
                <a:latin typeface="Consolas"/>
                <a:cs typeface="Consolas"/>
              </a:rPr>
              <a:t>Point p = hasard(...);</a:t>
            </a:r>
            <a:r>
              <a:rPr lang="fr-FR" sz="2400" dirty="0"/>
              <a:t> sera refusé par le compilateur.</a:t>
            </a:r>
          </a:p>
        </p:txBody>
      </p:sp>
    </p:spTree>
    <p:extLst>
      <p:ext uri="{BB962C8B-B14F-4D97-AF65-F5344CB8AC3E}">
        <p14:creationId xmlns:p14="http://schemas.microsoft.com/office/powerpoint/2010/main" val="935481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p:bldP spid="11" grpId="0"/>
      <p:bldP spid="12" grpId="0" animBg="1"/>
      <p:bldP spid="1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424FA-B311-AE48-8395-71D7C77A64C5}"/>
              </a:ext>
            </a:extLst>
          </p:cNvPr>
          <p:cNvSpPr>
            <a:spLocks noGrp="1"/>
          </p:cNvSpPr>
          <p:nvPr>
            <p:ph type="title"/>
          </p:nvPr>
        </p:nvSpPr>
        <p:spPr/>
        <p:txBody>
          <a:bodyPr>
            <a:normAutofit fontScale="90000"/>
          </a:bodyPr>
          <a:lstStyle/>
          <a:p>
            <a:r>
              <a:rPr lang="fr-FR" dirty="0"/>
              <a:t>Le type &lt;</a:t>
            </a:r>
            <a:r>
              <a:rPr lang="fr-FR" dirty="0" err="1"/>
              <a:t>T</a:t>
            </a:r>
            <a:r>
              <a:rPr lang="fr-FR" dirty="0"/>
              <a:t>&gt; doit implémenter une interface</a:t>
            </a:r>
          </a:p>
        </p:txBody>
      </p:sp>
      <p:sp>
        <p:nvSpPr>
          <p:cNvPr id="3" name="Espace réservé du contenu 2">
            <a:extLst>
              <a:ext uri="{FF2B5EF4-FFF2-40B4-BE49-F238E27FC236}">
                <a16:creationId xmlns:a16="http://schemas.microsoft.com/office/drawing/2014/main" id="{4F37A94A-1BDE-5A41-925A-D9D3336EF459}"/>
              </a:ext>
            </a:extLst>
          </p:cNvPr>
          <p:cNvSpPr>
            <a:spLocks noGrp="1"/>
          </p:cNvSpPr>
          <p:nvPr>
            <p:ph idx="1"/>
          </p:nvPr>
        </p:nvSpPr>
        <p:spPr>
          <a:xfrm>
            <a:off x="838200" y="1825625"/>
            <a:ext cx="10515600" cy="830111"/>
          </a:xfrm>
        </p:spPr>
        <p:txBody>
          <a:bodyPr>
            <a:normAutofit/>
          </a:bodyPr>
          <a:lstStyle/>
          <a:p>
            <a:pPr marL="0" indent="0">
              <a:buNone/>
            </a:pPr>
            <a:r>
              <a:rPr lang="fr-FR" sz="2000" dirty="0"/>
              <a:t>Enfin, on peut aussi exiger que </a:t>
            </a:r>
            <a:r>
              <a:rPr lang="fr-FR" sz="2000" dirty="0">
                <a:solidFill>
                  <a:schemeClr val="accent4"/>
                </a:solidFill>
              </a:rPr>
              <a:t>le type implémente une interface</a:t>
            </a:r>
            <a:r>
              <a:rPr lang="fr-FR" sz="2000" dirty="0"/>
              <a:t>. Cela se fait en utilisant le mot clé </a:t>
            </a:r>
            <a:r>
              <a:rPr lang="fr-FR" sz="1800" dirty="0" err="1">
                <a:solidFill>
                  <a:schemeClr val="accent4"/>
                </a:solidFill>
                <a:latin typeface="Consolas"/>
                <a:cs typeface="Consolas"/>
              </a:rPr>
              <a:t>extends</a:t>
            </a:r>
            <a:r>
              <a:rPr lang="fr-FR" sz="2000" dirty="0"/>
              <a:t> (normalement réservé pour l’héritage).</a:t>
            </a:r>
          </a:p>
          <a:p>
            <a:pPr marL="0" indent="0">
              <a:buNone/>
            </a:pPr>
            <a:endParaRPr lang="fr-FR" sz="2000" dirty="0"/>
          </a:p>
        </p:txBody>
      </p:sp>
      <p:sp>
        <p:nvSpPr>
          <p:cNvPr id="7" name="ZoneTexte 6">
            <a:extLst>
              <a:ext uri="{FF2B5EF4-FFF2-40B4-BE49-F238E27FC236}">
                <a16:creationId xmlns:a16="http://schemas.microsoft.com/office/drawing/2014/main" id="{A0B4387A-85DC-050C-DDD6-5CB1A24F8AC1}"/>
              </a:ext>
            </a:extLst>
          </p:cNvPr>
          <p:cNvSpPr txBox="1"/>
          <p:nvPr/>
        </p:nvSpPr>
        <p:spPr>
          <a:xfrm>
            <a:off x="1407380" y="2583036"/>
            <a:ext cx="9382540" cy="369332"/>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class </a:t>
            </a:r>
            <a:r>
              <a:rPr lang="fr-BE" dirty="0">
                <a:latin typeface="Consolas" panose="020B0609020204030204" pitchFamily="49" charset="0"/>
                <a:cs typeface="Consolas" panose="020B0609020204030204" pitchFamily="49" charset="0"/>
              </a:rPr>
              <a:t>Couple&lt;</a:t>
            </a:r>
            <a:r>
              <a:rPr lang="fr-BE" dirty="0" err="1">
                <a:solidFill>
                  <a:srgbClr val="507874"/>
                </a:solidFill>
                <a:effectLst/>
                <a:latin typeface="Consolas" panose="020B0609020204030204" pitchFamily="49" charset="0"/>
                <a:cs typeface="Consolas" panose="020B0609020204030204" pitchFamily="49" charset="0"/>
              </a:rPr>
              <a:t>T</a:t>
            </a:r>
            <a:r>
              <a:rPr lang="fr-BE" dirty="0">
                <a:solidFill>
                  <a:srgbClr val="507874"/>
                </a:solidFill>
                <a:effectLst/>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extends</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Comparable&gt; { </a:t>
            </a:r>
            <a:r>
              <a:rPr lang="fr-BE" dirty="0">
                <a:solidFill>
                  <a:srgbClr val="808080"/>
                </a:solidFill>
                <a:effectLst/>
                <a:latin typeface="Consolas" panose="020B0609020204030204" pitchFamily="49" charset="0"/>
                <a:cs typeface="Consolas" panose="020B0609020204030204" pitchFamily="49" charset="0"/>
              </a:rPr>
              <a:t>/* Comparable est une interface */ </a:t>
            </a: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8" name="ZoneTexte 7">
            <a:extLst>
              <a:ext uri="{FF2B5EF4-FFF2-40B4-BE49-F238E27FC236}">
                <a16:creationId xmlns:a16="http://schemas.microsoft.com/office/drawing/2014/main" id="{1CC7F319-D7CA-2507-38A9-4E4508015C5C}"/>
              </a:ext>
            </a:extLst>
          </p:cNvPr>
          <p:cNvSpPr txBox="1"/>
          <p:nvPr/>
        </p:nvSpPr>
        <p:spPr>
          <a:xfrm>
            <a:off x="1407380" y="3536301"/>
            <a:ext cx="9382540" cy="369332"/>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class </a:t>
            </a:r>
            <a:r>
              <a:rPr lang="fr-BE" dirty="0">
                <a:latin typeface="Consolas" panose="020B0609020204030204" pitchFamily="49" charset="0"/>
                <a:cs typeface="Consolas" panose="020B0609020204030204" pitchFamily="49" charset="0"/>
              </a:rPr>
              <a:t>Couple&lt;</a:t>
            </a:r>
            <a:r>
              <a:rPr lang="fr-BE" dirty="0" err="1">
                <a:solidFill>
                  <a:srgbClr val="507874"/>
                </a:solidFill>
                <a:effectLst/>
                <a:latin typeface="Consolas" panose="020B0609020204030204" pitchFamily="49" charset="0"/>
                <a:cs typeface="Consolas" panose="020B0609020204030204" pitchFamily="49" charset="0"/>
              </a:rPr>
              <a:t>T</a:t>
            </a:r>
            <a:r>
              <a:rPr lang="fr-BE" dirty="0">
                <a:solidFill>
                  <a:srgbClr val="507874"/>
                </a:solidFill>
                <a:effectLst/>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extends</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Comparable &amp; </a:t>
            </a:r>
            <a:r>
              <a:rPr lang="fr-BE" dirty="0" err="1">
                <a:latin typeface="Consolas" panose="020B0609020204030204" pitchFamily="49" charset="0"/>
                <a:cs typeface="Consolas" panose="020B0609020204030204" pitchFamily="49" charset="0"/>
              </a:rPr>
              <a:t>Cloneable</a:t>
            </a:r>
            <a:r>
              <a:rPr lang="fr-BE" dirty="0">
                <a:latin typeface="Consolas" panose="020B0609020204030204" pitchFamily="49" charset="0"/>
                <a:cs typeface="Consolas" panose="020B0609020204030204" pitchFamily="49" charset="0"/>
              </a:rPr>
              <a:t> &gt; { </a:t>
            </a:r>
            <a:r>
              <a:rPr lang="fr-BE" dirty="0">
                <a:solidFill>
                  <a:srgbClr val="808080"/>
                </a:solidFill>
                <a:effectLst/>
                <a:latin typeface="Consolas" panose="020B0609020204030204" pitchFamily="49" charset="0"/>
                <a:cs typeface="Consolas" panose="020B0609020204030204" pitchFamily="49" charset="0"/>
              </a:rPr>
              <a:t>/* . . . */ </a:t>
            </a: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10" name="ZoneTexte 9">
            <a:extLst>
              <a:ext uri="{FF2B5EF4-FFF2-40B4-BE49-F238E27FC236}">
                <a16:creationId xmlns:a16="http://schemas.microsoft.com/office/drawing/2014/main" id="{DD723FD7-988F-8F31-F1A0-5F896B1E29B1}"/>
              </a:ext>
            </a:extLst>
          </p:cNvPr>
          <p:cNvSpPr txBox="1"/>
          <p:nvPr/>
        </p:nvSpPr>
        <p:spPr>
          <a:xfrm>
            <a:off x="838200" y="3123725"/>
            <a:ext cx="10510300" cy="400110"/>
          </a:xfrm>
          <a:prstGeom prst="rect">
            <a:avLst/>
          </a:prstGeom>
          <a:noFill/>
        </p:spPr>
        <p:txBody>
          <a:bodyPr wrap="square">
            <a:spAutoFit/>
          </a:bodyPr>
          <a:lstStyle/>
          <a:p>
            <a:pPr marL="0" indent="0">
              <a:buNone/>
            </a:pPr>
            <a:r>
              <a:rPr lang="fr-FR" sz="2000" dirty="0"/>
              <a:t>On peut aussi exiger que le type implémente plusieurs interfaces:</a:t>
            </a:r>
          </a:p>
        </p:txBody>
      </p:sp>
      <p:sp>
        <p:nvSpPr>
          <p:cNvPr id="11" name="ZoneTexte 10">
            <a:extLst>
              <a:ext uri="{FF2B5EF4-FFF2-40B4-BE49-F238E27FC236}">
                <a16:creationId xmlns:a16="http://schemas.microsoft.com/office/drawing/2014/main" id="{A1236DD2-E4FE-5099-325C-53D105EBEC7A}"/>
              </a:ext>
            </a:extLst>
          </p:cNvPr>
          <p:cNvSpPr txBox="1"/>
          <p:nvPr/>
        </p:nvSpPr>
        <p:spPr>
          <a:xfrm>
            <a:off x="838200" y="4039430"/>
            <a:ext cx="10510300" cy="400110"/>
          </a:xfrm>
          <a:prstGeom prst="rect">
            <a:avLst/>
          </a:prstGeom>
          <a:noFill/>
        </p:spPr>
        <p:txBody>
          <a:bodyPr wrap="square">
            <a:spAutoFit/>
          </a:bodyPr>
          <a:lstStyle/>
          <a:p>
            <a:pPr marL="0" indent="0">
              <a:buNone/>
            </a:pPr>
            <a:r>
              <a:rPr lang="fr-FR" sz="2000" dirty="0"/>
              <a:t>Le compilateur remplace </a:t>
            </a:r>
            <a:r>
              <a:rPr lang="fr-FR" dirty="0" err="1">
                <a:solidFill>
                  <a:schemeClr val="accent4"/>
                </a:solidFill>
                <a:latin typeface="Consolas" panose="020B0609020204030204" pitchFamily="49" charset="0"/>
                <a:cs typeface="Consolas" panose="020B0609020204030204" pitchFamily="49" charset="0"/>
              </a:rPr>
              <a:t>T</a:t>
            </a:r>
            <a:r>
              <a:rPr lang="fr-FR" sz="2000" dirty="0"/>
              <a:t> par la première interface.</a:t>
            </a:r>
          </a:p>
        </p:txBody>
      </p:sp>
      <p:sp>
        <p:nvSpPr>
          <p:cNvPr id="12" name="ZoneTexte 11">
            <a:extLst>
              <a:ext uri="{FF2B5EF4-FFF2-40B4-BE49-F238E27FC236}">
                <a16:creationId xmlns:a16="http://schemas.microsoft.com/office/drawing/2014/main" id="{362712FF-309B-7698-E44E-E0E36AEB858D}"/>
              </a:ext>
            </a:extLst>
          </p:cNvPr>
          <p:cNvSpPr txBox="1"/>
          <p:nvPr/>
        </p:nvSpPr>
        <p:spPr>
          <a:xfrm>
            <a:off x="1407380" y="4456478"/>
            <a:ext cx="9382540" cy="369332"/>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class </a:t>
            </a:r>
            <a:r>
              <a:rPr lang="fr-BE" dirty="0">
                <a:latin typeface="Consolas" panose="020B0609020204030204" pitchFamily="49" charset="0"/>
                <a:cs typeface="Consolas" panose="020B0609020204030204" pitchFamily="49" charset="0"/>
              </a:rPr>
              <a:t>Couple&lt;</a:t>
            </a:r>
            <a:r>
              <a:rPr lang="fr-BE" dirty="0" err="1">
                <a:solidFill>
                  <a:srgbClr val="507874"/>
                </a:solidFill>
                <a:effectLst/>
                <a:latin typeface="Consolas" panose="020B0609020204030204" pitchFamily="49" charset="0"/>
                <a:cs typeface="Consolas" panose="020B0609020204030204" pitchFamily="49" charset="0"/>
              </a:rPr>
              <a:t>T</a:t>
            </a:r>
            <a:r>
              <a:rPr lang="fr-BE" dirty="0">
                <a:solidFill>
                  <a:srgbClr val="507874"/>
                </a:solidFill>
                <a:effectLst/>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extends</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Point &amp; Comparable &amp; </a:t>
            </a:r>
            <a:r>
              <a:rPr lang="fr-BE" dirty="0" err="1">
                <a:latin typeface="Consolas" panose="020B0609020204030204" pitchFamily="49" charset="0"/>
                <a:cs typeface="Consolas" panose="020B0609020204030204" pitchFamily="49" charset="0"/>
              </a:rPr>
              <a:t>Cloneable</a:t>
            </a:r>
            <a:r>
              <a:rPr lang="fr-BE" dirty="0">
                <a:latin typeface="Consolas" panose="020B0609020204030204" pitchFamily="49" charset="0"/>
                <a:cs typeface="Consolas" panose="020B0609020204030204" pitchFamily="49" charset="0"/>
              </a:rPr>
              <a:t> &gt; { </a:t>
            </a:r>
            <a:r>
              <a:rPr lang="fr-BE" dirty="0">
                <a:solidFill>
                  <a:srgbClr val="808080"/>
                </a:solidFill>
                <a:effectLst/>
                <a:latin typeface="Consolas" panose="020B0609020204030204" pitchFamily="49" charset="0"/>
                <a:cs typeface="Consolas" panose="020B0609020204030204" pitchFamily="49" charset="0"/>
              </a:rPr>
              <a:t>/* . . . */ </a:t>
            </a: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14" name="ZoneTexte 13">
            <a:extLst>
              <a:ext uri="{FF2B5EF4-FFF2-40B4-BE49-F238E27FC236}">
                <a16:creationId xmlns:a16="http://schemas.microsoft.com/office/drawing/2014/main" id="{C3162758-0B6B-67AC-F684-4D5F37E9E9B1}"/>
              </a:ext>
            </a:extLst>
          </p:cNvPr>
          <p:cNvSpPr txBox="1"/>
          <p:nvPr/>
        </p:nvSpPr>
        <p:spPr>
          <a:xfrm>
            <a:off x="838199" y="4955135"/>
            <a:ext cx="10510299" cy="707886"/>
          </a:xfrm>
          <a:prstGeom prst="rect">
            <a:avLst/>
          </a:prstGeom>
          <a:noFill/>
        </p:spPr>
        <p:txBody>
          <a:bodyPr wrap="square">
            <a:spAutoFit/>
          </a:bodyPr>
          <a:lstStyle/>
          <a:p>
            <a:pPr marL="0" indent="0">
              <a:buNone/>
            </a:pPr>
            <a:r>
              <a:rPr lang="fr-FR" sz="2000" dirty="0"/>
              <a:t>Dans le cas où on impose </a:t>
            </a:r>
            <a:r>
              <a:rPr lang="fr-FR" sz="2000" dirty="0">
                <a:solidFill>
                  <a:schemeClr val="accent4"/>
                </a:solidFill>
              </a:rPr>
              <a:t>une classe et plusieurs interfaces</a:t>
            </a:r>
            <a:r>
              <a:rPr lang="fr-FR" sz="2000" dirty="0"/>
              <a:t>, la (seule) classe doit être la première dans la liste (parce que le compilateur utilisera la classe dans ses traductions).</a:t>
            </a:r>
          </a:p>
        </p:txBody>
      </p:sp>
    </p:spTree>
    <p:extLst>
      <p:ext uri="{BB962C8B-B14F-4D97-AF65-F5344CB8AC3E}">
        <p14:creationId xmlns:p14="http://schemas.microsoft.com/office/powerpoint/2010/main" val="1644997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p:bldP spid="11" grpId="0"/>
      <p:bldP spid="12" grpId="0" animBg="1"/>
      <p:bldP spid="1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génériques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Le concept de type générique</a:t>
            </a:r>
          </a:p>
          <a:p>
            <a:pPr marL="342900" indent="-342900">
              <a:lnSpc>
                <a:spcPct val="80000"/>
              </a:lnSpc>
              <a:buFont typeface="Arial"/>
              <a:buChar char="•"/>
            </a:pPr>
            <a:r>
              <a:rPr lang="fr-FR" dirty="0"/>
              <a:t>Classe Générique à un seul paramètre</a:t>
            </a:r>
          </a:p>
          <a:p>
            <a:pPr marL="342900" indent="-342900">
              <a:lnSpc>
                <a:spcPct val="80000"/>
              </a:lnSpc>
              <a:buFont typeface="Arial"/>
              <a:buChar char="•"/>
            </a:pPr>
            <a:r>
              <a:rPr lang="fr-FR" dirty="0"/>
              <a:t>Classe Générique à plusieurs paramètres</a:t>
            </a:r>
          </a:p>
          <a:p>
            <a:pPr marL="342900" indent="-342900">
              <a:lnSpc>
                <a:spcPct val="80000"/>
              </a:lnSpc>
              <a:buFont typeface="Arial"/>
              <a:buChar char="•"/>
            </a:pPr>
            <a:r>
              <a:rPr lang="fr-FR" dirty="0"/>
              <a:t>Compilation des types génériques</a:t>
            </a:r>
          </a:p>
          <a:p>
            <a:pPr marL="342900" indent="-342900">
              <a:lnSpc>
                <a:spcPct val="80000"/>
              </a:lnSpc>
              <a:buFont typeface="Arial"/>
              <a:buChar char="•"/>
            </a:pPr>
            <a:r>
              <a:rPr lang="fr-FR" dirty="0"/>
              <a:t>Méthodes génériques</a:t>
            </a:r>
          </a:p>
          <a:p>
            <a:pPr marL="342900" indent="-342900">
              <a:lnSpc>
                <a:spcPct val="80000"/>
              </a:lnSpc>
              <a:buFont typeface="Arial"/>
              <a:buChar char="•"/>
            </a:pPr>
            <a:r>
              <a:rPr lang="fr-FR" dirty="0"/>
              <a:t>Limitations sur le type</a:t>
            </a:r>
          </a:p>
          <a:p>
            <a:pPr marL="342900" indent="-342900">
              <a:lnSpc>
                <a:spcPct val="80000"/>
              </a:lnSpc>
              <a:buFont typeface="Arial"/>
              <a:buChar char="•"/>
            </a:pPr>
            <a:r>
              <a:rPr lang="fr-FR" dirty="0">
                <a:solidFill>
                  <a:schemeClr val="accent4"/>
                </a:solidFill>
              </a:rPr>
              <a:t>Type générique et héritage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Tree>
    <p:extLst>
      <p:ext uri="{BB962C8B-B14F-4D97-AF65-F5344CB8AC3E}">
        <p14:creationId xmlns:p14="http://schemas.microsoft.com/office/powerpoint/2010/main" val="322193910"/>
      </p:ext>
    </p:extLst>
  </p:cSld>
  <p:clrMapOvr>
    <a:masterClrMapping/>
  </p:clrMapOvr>
  <p:transition>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Héritage entre types Génériques</a:t>
            </a:r>
          </a:p>
        </p:txBody>
      </p:sp>
      <p:sp>
        <p:nvSpPr>
          <p:cNvPr id="5" name="Espace réservé du contenu 4"/>
          <p:cNvSpPr>
            <a:spLocks noGrp="1"/>
          </p:cNvSpPr>
          <p:nvPr>
            <p:ph idx="1"/>
          </p:nvPr>
        </p:nvSpPr>
        <p:spPr/>
        <p:txBody>
          <a:bodyPr>
            <a:normAutofit/>
          </a:bodyPr>
          <a:lstStyle/>
          <a:p>
            <a:pPr marL="0" indent="0">
              <a:buNone/>
            </a:pPr>
            <a:r>
              <a:rPr lang="fr-FR" dirty="0"/>
              <a:t>Ceci est </a:t>
            </a:r>
            <a:r>
              <a:rPr lang="fr-FR" dirty="0">
                <a:solidFill>
                  <a:schemeClr val="accent4"/>
                </a:solidFill>
              </a:rPr>
              <a:t>possible</a:t>
            </a:r>
            <a:r>
              <a:rPr lang="fr-FR" dirty="0"/>
              <a:t> </a:t>
            </a:r>
          </a:p>
          <a:p>
            <a:pPr marL="0" indent="0">
              <a:buNone/>
            </a:pPr>
            <a:r>
              <a:rPr lang="fr-FR" sz="1800" dirty="0">
                <a:solidFill>
                  <a:schemeClr val="accent4"/>
                </a:solidFill>
                <a:latin typeface="Consolas"/>
                <a:cs typeface="Consolas"/>
              </a:rPr>
              <a:t>class D&lt;</a:t>
            </a:r>
            <a:r>
              <a:rPr lang="fr-FR" sz="1800" dirty="0" err="1">
                <a:solidFill>
                  <a:schemeClr val="accent4"/>
                </a:solidFill>
                <a:latin typeface="Consolas"/>
                <a:cs typeface="Consolas"/>
              </a:rPr>
              <a:t>T</a:t>
            </a:r>
            <a:r>
              <a:rPr lang="fr-FR" sz="1800" dirty="0">
                <a:solidFill>
                  <a:schemeClr val="accent4"/>
                </a:solidFill>
                <a:latin typeface="Consolas"/>
                <a:cs typeface="Consolas"/>
              </a:rPr>
              <a:t>&gt; </a:t>
            </a:r>
            <a:r>
              <a:rPr lang="fr-FR" sz="1800" dirty="0" err="1">
                <a:solidFill>
                  <a:schemeClr val="accent4"/>
                </a:solidFill>
                <a:latin typeface="Consolas"/>
                <a:cs typeface="Consolas"/>
              </a:rPr>
              <a:t>extends</a:t>
            </a:r>
            <a:r>
              <a:rPr lang="fr-FR" sz="1800" dirty="0">
                <a:solidFill>
                  <a:schemeClr val="accent4"/>
                </a:solidFill>
                <a:latin typeface="Consolas"/>
                <a:cs typeface="Consolas"/>
              </a:rPr>
              <a:t> C&lt;</a:t>
            </a:r>
            <a:r>
              <a:rPr lang="fr-FR" sz="1800" dirty="0" err="1">
                <a:solidFill>
                  <a:schemeClr val="accent4"/>
                </a:solidFill>
                <a:latin typeface="Consolas"/>
                <a:cs typeface="Consolas"/>
              </a:rPr>
              <a:t>T</a:t>
            </a:r>
            <a:r>
              <a:rPr lang="fr-FR" sz="1800" dirty="0">
                <a:solidFill>
                  <a:schemeClr val="accent4"/>
                </a:solidFill>
                <a:latin typeface="Consolas"/>
                <a:cs typeface="Consolas"/>
              </a:rPr>
              <a:t>&gt;</a:t>
            </a:r>
            <a:r>
              <a:rPr lang="fr-FR" sz="1800" dirty="0"/>
              <a:t>: </a:t>
            </a:r>
            <a:br>
              <a:rPr lang="fr-FR" sz="1800" dirty="0"/>
            </a:br>
            <a:r>
              <a:rPr lang="fr-FR" sz="1800" dirty="0"/>
              <a:t>	exemple </a:t>
            </a:r>
            <a:r>
              <a:rPr lang="fr-FR" sz="1800" dirty="0">
                <a:solidFill>
                  <a:schemeClr val="accent4"/>
                </a:solidFill>
                <a:latin typeface="Consolas"/>
                <a:cs typeface="Consolas"/>
              </a:rPr>
              <a:t>D&lt;String&gt;</a:t>
            </a:r>
            <a:r>
              <a:rPr lang="fr-FR" sz="1800" dirty="0"/>
              <a:t> et </a:t>
            </a:r>
            <a:r>
              <a:rPr lang="fr-FR" sz="1800" dirty="0">
                <a:solidFill>
                  <a:schemeClr val="accent4"/>
                </a:solidFill>
                <a:latin typeface="Consolas"/>
                <a:cs typeface="Consolas"/>
              </a:rPr>
              <a:t>C&lt;String&gt;</a:t>
            </a:r>
            <a:endParaRPr lang="fr-FR" sz="1800" dirty="0">
              <a:solidFill>
                <a:schemeClr val="accent4"/>
              </a:solidFill>
            </a:endParaRPr>
          </a:p>
          <a:p>
            <a:pPr marL="0" indent="0">
              <a:buNone/>
            </a:pPr>
            <a:r>
              <a:rPr lang="fr-FR" sz="1800" dirty="0">
                <a:solidFill>
                  <a:schemeClr val="accent4"/>
                </a:solidFill>
                <a:latin typeface="Consolas"/>
                <a:cs typeface="Consolas"/>
              </a:rPr>
              <a:t>class D&lt;U, V&gt; </a:t>
            </a:r>
            <a:r>
              <a:rPr lang="fr-FR" sz="1800" dirty="0" err="1">
                <a:solidFill>
                  <a:schemeClr val="accent4"/>
                </a:solidFill>
                <a:latin typeface="Consolas"/>
                <a:cs typeface="Consolas"/>
              </a:rPr>
              <a:t>extends</a:t>
            </a:r>
            <a:r>
              <a:rPr lang="fr-FR" sz="1800" dirty="0">
                <a:solidFill>
                  <a:schemeClr val="accent4"/>
                </a:solidFill>
                <a:latin typeface="Consolas"/>
                <a:cs typeface="Consolas"/>
              </a:rPr>
              <a:t> C&lt;U, V&gt;</a:t>
            </a:r>
            <a:r>
              <a:rPr lang="fr-FR" sz="1800" dirty="0"/>
              <a:t>: </a:t>
            </a:r>
            <a:br>
              <a:rPr lang="fr-FR" sz="1800" dirty="0"/>
            </a:br>
            <a:r>
              <a:rPr lang="fr-FR" sz="1800" dirty="0"/>
              <a:t>	exemple </a:t>
            </a:r>
            <a:r>
              <a:rPr lang="fr-FR" sz="1800" dirty="0">
                <a:solidFill>
                  <a:schemeClr val="accent4"/>
                </a:solidFill>
                <a:latin typeface="Consolas"/>
                <a:cs typeface="Consolas"/>
              </a:rPr>
              <a:t>D&lt;String, Integer&gt;</a:t>
            </a:r>
            <a:r>
              <a:rPr lang="fr-FR" sz="1800" dirty="0"/>
              <a:t> et </a:t>
            </a:r>
            <a:r>
              <a:rPr lang="fr-FR" sz="1800" dirty="0">
                <a:solidFill>
                  <a:schemeClr val="accent4"/>
                </a:solidFill>
                <a:latin typeface="Consolas"/>
                <a:cs typeface="Consolas"/>
              </a:rPr>
              <a:t>C&lt;String, Integer&gt;</a:t>
            </a:r>
            <a:endParaRPr lang="fr-FR" sz="1800" dirty="0">
              <a:solidFill>
                <a:schemeClr val="accent4"/>
              </a:solidFill>
            </a:endParaRPr>
          </a:p>
          <a:p>
            <a:pPr marL="0" indent="0">
              <a:buNone/>
            </a:pPr>
            <a:r>
              <a:rPr lang="fr-FR" sz="1800" dirty="0">
                <a:solidFill>
                  <a:schemeClr val="accent4"/>
                </a:solidFill>
                <a:latin typeface="Consolas"/>
                <a:cs typeface="Consolas"/>
              </a:rPr>
              <a:t>class D&lt;U, V&gt; </a:t>
            </a:r>
            <a:r>
              <a:rPr lang="fr-FR" sz="1800" dirty="0" err="1">
                <a:solidFill>
                  <a:schemeClr val="accent4"/>
                </a:solidFill>
                <a:latin typeface="Consolas"/>
                <a:cs typeface="Consolas"/>
              </a:rPr>
              <a:t>extends</a:t>
            </a:r>
            <a:r>
              <a:rPr lang="fr-FR" sz="1800" dirty="0">
                <a:solidFill>
                  <a:schemeClr val="accent4"/>
                </a:solidFill>
                <a:latin typeface="Consolas"/>
                <a:cs typeface="Consolas"/>
              </a:rPr>
              <a:t> C&lt;U&gt;</a:t>
            </a:r>
            <a:r>
              <a:rPr lang="fr-FR" sz="1800" dirty="0"/>
              <a:t>: </a:t>
            </a:r>
            <a:br>
              <a:rPr lang="fr-FR" sz="1800" dirty="0"/>
            </a:br>
            <a:r>
              <a:rPr lang="fr-FR" sz="1800" dirty="0"/>
              <a:t>	exemple </a:t>
            </a:r>
            <a:r>
              <a:rPr lang="fr-FR" sz="1800" dirty="0">
                <a:solidFill>
                  <a:schemeClr val="accent4"/>
                </a:solidFill>
                <a:latin typeface="Consolas"/>
                <a:cs typeface="Consolas"/>
              </a:rPr>
              <a:t>D&lt;String, Integer&gt;</a:t>
            </a:r>
            <a:r>
              <a:rPr lang="fr-FR" sz="1800" dirty="0"/>
              <a:t> et </a:t>
            </a:r>
            <a:r>
              <a:rPr lang="fr-FR" sz="1800" dirty="0">
                <a:solidFill>
                  <a:schemeClr val="accent4"/>
                </a:solidFill>
                <a:latin typeface="Consolas"/>
                <a:cs typeface="Consolas"/>
              </a:rPr>
              <a:t>C&lt;String&gt;</a:t>
            </a:r>
          </a:p>
          <a:p>
            <a:pPr marL="0" indent="0">
              <a:buNone/>
            </a:pPr>
            <a:r>
              <a:rPr lang="fr-FR" sz="1800" dirty="0">
                <a:solidFill>
                  <a:schemeClr val="accent4"/>
                </a:solidFill>
                <a:latin typeface="Consolas"/>
                <a:cs typeface="Consolas"/>
              </a:rPr>
              <a:t>class D&lt;</a:t>
            </a:r>
            <a:r>
              <a:rPr lang="fr-FR" sz="1800" dirty="0" err="1">
                <a:solidFill>
                  <a:schemeClr val="accent4"/>
                </a:solidFill>
                <a:latin typeface="Consolas"/>
                <a:cs typeface="Consolas"/>
              </a:rPr>
              <a:t>T</a:t>
            </a:r>
            <a:r>
              <a:rPr lang="fr-FR" sz="1800" dirty="0">
                <a:solidFill>
                  <a:schemeClr val="accent4"/>
                </a:solidFill>
                <a:latin typeface="Consolas"/>
                <a:cs typeface="Consolas"/>
              </a:rPr>
              <a:t> </a:t>
            </a:r>
            <a:r>
              <a:rPr lang="fr-FR" sz="1800" dirty="0" err="1">
                <a:solidFill>
                  <a:schemeClr val="accent4"/>
                </a:solidFill>
                <a:latin typeface="Consolas"/>
                <a:cs typeface="Consolas"/>
              </a:rPr>
              <a:t>extends</a:t>
            </a:r>
            <a:r>
              <a:rPr lang="fr-FR" sz="1800" dirty="0">
                <a:solidFill>
                  <a:schemeClr val="accent4"/>
                </a:solidFill>
                <a:latin typeface="Consolas"/>
                <a:cs typeface="Consolas"/>
              </a:rPr>
              <a:t> </a:t>
            </a:r>
            <a:r>
              <a:rPr lang="fr-FR" sz="1800" dirty="0" err="1">
                <a:solidFill>
                  <a:schemeClr val="accent4"/>
                </a:solidFill>
                <a:latin typeface="Consolas"/>
                <a:cs typeface="Consolas"/>
              </a:rPr>
              <a:t>Number</a:t>
            </a:r>
            <a:r>
              <a:rPr lang="fr-FR" sz="1800" dirty="0">
                <a:solidFill>
                  <a:schemeClr val="accent4"/>
                </a:solidFill>
                <a:latin typeface="Consolas"/>
                <a:cs typeface="Consolas"/>
              </a:rPr>
              <a:t>&gt; </a:t>
            </a:r>
            <a:r>
              <a:rPr lang="fr-FR" sz="1800" dirty="0" err="1">
                <a:solidFill>
                  <a:schemeClr val="accent4"/>
                </a:solidFill>
                <a:latin typeface="Consolas"/>
                <a:cs typeface="Consolas"/>
              </a:rPr>
              <a:t>extends</a:t>
            </a:r>
            <a:r>
              <a:rPr lang="fr-FR" sz="1800" dirty="0">
                <a:solidFill>
                  <a:schemeClr val="accent4"/>
                </a:solidFill>
                <a:latin typeface="Consolas"/>
                <a:cs typeface="Consolas"/>
              </a:rPr>
              <a:t> C&lt;</a:t>
            </a:r>
            <a:r>
              <a:rPr lang="fr-FR" sz="1800" dirty="0" err="1">
                <a:solidFill>
                  <a:schemeClr val="accent4"/>
                </a:solidFill>
                <a:latin typeface="Consolas"/>
                <a:cs typeface="Consolas"/>
              </a:rPr>
              <a:t>T</a:t>
            </a:r>
            <a:r>
              <a:rPr lang="fr-FR" sz="1800" dirty="0">
                <a:solidFill>
                  <a:schemeClr val="accent4"/>
                </a:solidFill>
                <a:latin typeface="Consolas"/>
                <a:cs typeface="Consolas"/>
              </a:rPr>
              <a:t>&gt;</a:t>
            </a:r>
            <a:r>
              <a:rPr lang="fr-FR" sz="1800" dirty="0"/>
              <a:t>: </a:t>
            </a:r>
            <a:br>
              <a:rPr lang="fr-FR" sz="1800" dirty="0"/>
            </a:br>
            <a:r>
              <a:rPr lang="fr-FR" sz="1800" dirty="0"/>
              <a:t>	exemple </a:t>
            </a:r>
            <a:r>
              <a:rPr lang="fr-FR" sz="1800" dirty="0">
                <a:solidFill>
                  <a:schemeClr val="accent4"/>
                </a:solidFill>
                <a:latin typeface="Consolas"/>
                <a:cs typeface="Consolas"/>
              </a:rPr>
              <a:t>D&lt;Double&gt;</a:t>
            </a:r>
            <a:r>
              <a:rPr lang="fr-FR" sz="1800" dirty="0"/>
              <a:t> et </a:t>
            </a:r>
            <a:r>
              <a:rPr lang="fr-FR" sz="1800" dirty="0">
                <a:solidFill>
                  <a:schemeClr val="accent4"/>
                </a:solidFill>
                <a:latin typeface="Consolas"/>
                <a:cs typeface="Consolas"/>
              </a:rPr>
              <a:t>C&lt;Double&gt;</a:t>
            </a:r>
            <a:r>
              <a:rPr lang="fr-FR" sz="1800" dirty="0"/>
              <a:t>, </a:t>
            </a:r>
            <a:br>
              <a:rPr lang="fr-FR" sz="1800" dirty="0"/>
            </a:br>
            <a:r>
              <a:rPr lang="fr-FR" sz="1800" dirty="0"/>
              <a:t>	mais pas </a:t>
            </a:r>
            <a:r>
              <a:rPr lang="fr-FR" sz="1800" dirty="0">
                <a:solidFill>
                  <a:schemeClr val="accent4"/>
                </a:solidFill>
                <a:latin typeface="Consolas"/>
                <a:cs typeface="Consolas"/>
              </a:rPr>
              <a:t>C&lt;String&gt;</a:t>
            </a:r>
            <a:r>
              <a:rPr lang="fr-FR" sz="1800" dirty="0"/>
              <a:t> et </a:t>
            </a:r>
            <a:r>
              <a:rPr lang="fr-FR" sz="1800" dirty="0">
                <a:solidFill>
                  <a:schemeClr val="accent4"/>
                </a:solidFill>
                <a:latin typeface="Consolas"/>
                <a:cs typeface="Consolas"/>
              </a:rPr>
              <a:t>D&lt;</a:t>
            </a:r>
            <a:r>
              <a:rPr lang="fr-FR" sz="1800" dirty="0">
                <a:solidFill>
                  <a:srgbClr val="FF0000"/>
                </a:solidFill>
                <a:latin typeface="Consolas"/>
                <a:cs typeface="Consolas"/>
              </a:rPr>
              <a:t>String</a:t>
            </a:r>
            <a:r>
              <a:rPr lang="fr-FR" sz="1800" dirty="0">
                <a:solidFill>
                  <a:schemeClr val="accent4"/>
                </a:solidFill>
                <a:latin typeface="Consolas"/>
                <a:cs typeface="Consolas"/>
              </a:rPr>
              <a:t>&gt;</a:t>
            </a:r>
            <a:r>
              <a:rPr lang="fr-FR" sz="1800" dirty="0"/>
              <a:t> (car </a:t>
            </a:r>
            <a:r>
              <a:rPr lang="fr-FR" sz="1800" dirty="0">
                <a:solidFill>
                  <a:schemeClr val="accent4"/>
                </a:solidFill>
                <a:latin typeface="Consolas"/>
                <a:cs typeface="Consolas"/>
              </a:rPr>
              <a:t>String</a:t>
            </a:r>
            <a:r>
              <a:rPr lang="fr-FR" sz="1800" dirty="0"/>
              <a:t> n’hérite pas de </a:t>
            </a:r>
            <a:r>
              <a:rPr lang="fr-FR" sz="1800" dirty="0" err="1">
                <a:solidFill>
                  <a:schemeClr val="accent4"/>
                </a:solidFill>
                <a:latin typeface="Consolas"/>
                <a:cs typeface="Consolas"/>
              </a:rPr>
              <a:t>Number</a:t>
            </a:r>
            <a:r>
              <a:rPr lang="fr-FR" sz="1800" dirty="0"/>
              <a:t>)</a:t>
            </a:r>
          </a:p>
          <a:p>
            <a:pPr marL="0" indent="0">
              <a:buNone/>
            </a:pPr>
            <a:r>
              <a:rPr lang="fr-FR" sz="1800" dirty="0">
                <a:solidFill>
                  <a:schemeClr val="accent4"/>
                </a:solidFill>
                <a:latin typeface="Consolas"/>
                <a:cs typeface="Consolas"/>
              </a:rPr>
              <a:t>class D&lt;</a:t>
            </a:r>
            <a:r>
              <a:rPr lang="fr-FR" sz="1800" dirty="0" err="1">
                <a:solidFill>
                  <a:schemeClr val="accent4"/>
                </a:solidFill>
                <a:latin typeface="Consolas"/>
                <a:cs typeface="Consolas"/>
              </a:rPr>
              <a:t>T</a:t>
            </a:r>
            <a:r>
              <a:rPr lang="fr-FR" sz="1800" dirty="0">
                <a:solidFill>
                  <a:schemeClr val="accent4"/>
                </a:solidFill>
                <a:latin typeface="Consolas"/>
                <a:cs typeface="Consolas"/>
              </a:rPr>
              <a:t>&gt; </a:t>
            </a:r>
            <a:r>
              <a:rPr lang="fr-FR" sz="1800" dirty="0" err="1">
                <a:solidFill>
                  <a:schemeClr val="accent4"/>
                </a:solidFill>
                <a:latin typeface="Consolas"/>
                <a:cs typeface="Consolas"/>
              </a:rPr>
              <a:t>extends</a:t>
            </a:r>
            <a:r>
              <a:rPr lang="fr-FR" sz="1800" dirty="0">
                <a:solidFill>
                  <a:schemeClr val="accent4"/>
                </a:solidFill>
                <a:latin typeface="Consolas"/>
                <a:cs typeface="Consolas"/>
              </a:rPr>
              <a:t> X</a:t>
            </a:r>
            <a:r>
              <a:rPr lang="fr-FR" sz="1800" dirty="0"/>
              <a:t>: </a:t>
            </a:r>
            <a:br>
              <a:rPr lang="fr-FR" sz="1800" dirty="0"/>
            </a:br>
            <a:r>
              <a:rPr lang="fr-FR" sz="1800" dirty="0"/>
              <a:t>	Alors, </a:t>
            </a:r>
            <a:r>
              <a:rPr lang="fr-FR" sz="1800" dirty="0">
                <a:solidFill>
                  <a:schemeClr val="accent4"/>
                </a:solidFill>
                <a:latin typeface="Consolas"/>
                <a:cs typeface="Consolas"/>
              </a:rPr>
              <a:t>D&lt;String&gt;</a:t>
            </a:r>
            <a:r>
              <a:rPr lang="fr-FR" sz="1800" dirty="0"/>
              <a:t> et </a:t>
            </a:r>
            <a:r>
              <a:rPr lang="fr-FR" sz="1800" dirty="0">
                <a:solidFill>
                  <a:schemeClr val="accent4"/>
                </a:solidFill>
                <a:latin typeface="Consolas"/>
                <a:cs typeface="Consolas"/>
              </a:rPr>
              <a:t>D&lt;Integer&gt;</a:t>
            </a:r>
            <a:r>
              <a:rPr lang="fr-FR" sz="1800" dirty="0"/>
              <a:t> dérivent alors toutes de </a:t>
            </a:r>
            <a:r>
              <a:rPr lang="fr-FR" sz="1800" dirty="0">
                <a:solidFill>
                  <a:schemeClr val="accent4"/>
                </a:solidFill>
                <a:latin typeface="Consolas"/>
                <a:cs typeface="Consolas"/>
              </a:rPr>
              <a:t>X</a:t>
            </a:r>
          </a:p>
        </p:txBody>
      </p:sp>
    </p:spTree>
    <p:extLst>
      <p:ext uri="{BB962C8B-B14F-4D97-AF65-F5344CB8AC3E}">
        <p14:creationId xmlns:p14="http://schemas.microsoft.com/office/powerpoint/2010/main" val="3073653550"/>
      </p:ext>
    </p:extLst>
  </p:cSld>
  <p:clrMapOvr>
    <a:masterClrMapping/>
  </p:clrMapOvr>
  <p:transition>
    <p:push dir="u"/>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Héritages non possibles</a:t>
            </a:r>
          </a:p>
        </p:txBody>
      </p:sp>
      <p:sp>
        <p:nvSpPr>
          <p:cNvPr id="5" name="Espace réservé du contenu 4"/>
          <p:cNvSpPr>
            <a:spLocks noGrp="1"/>
          </p:cNvSpPr>
          <p:nvPr>
            <p:ph idx="1"/>
          </p:nvPr>
        </p:nvSpPr>
        <p:spPr/>
        <p:txBody>
          <a:bodyPr>
            <a:normAutofit/>
          </a:bodyPr>
          <a:lstStyle/>
          <a:p>
            <a:pPr marL="0" indent="0">
              <a:buNone/>
            </a:pPr>
            <a:r>
              <a:rPr lang="fr-FR" sz="2400" dirty="0"/>
              <a:t>Par contre, ceci n'est </a:t>
            </a:r>
            <a:r>
              <a:rPr lang="fr-FR" sz="2400" dirty="0">
                <a:solidFill>
                  <a:schemeClr val="accent4"/>
                </a:solidFill>
              </a:rPr>
              <a:t>pas possible</a:t>
            </a:r>
            <a:r>
              <a:rPr lang="fr-FR" sz="2400" dirty="0"/>
              <a:t>:</a:t>
            </a:r>
          </a:p>
          <a:p>
            <a:pPr marL="0" indent="0">
              <a:buNone/>
            </a:pPr>
            <a:r>
              <a:rPr lang="fr-FR" sz="2400" dirty="0">
                <a:solidFill>
                  <a:schemeClr val="accent4"/>
                </a:solidFill>
                <a:latin typeface="Consolas"/>
                <a:cs typeface="Consolas"/>
              </a:rPr>
              <a:t>class D </a:t>
            </a:r>
            <a:r>
              <a:rPr lang="fr-FR" sz="2400" dirty="0" err="1">
                <a:solidFill>
                  <a:schemeClr val="accent4"/>
                </a:solidFill>
                <a:latin typeface="Consolas"/>
                <a:cs typeface="Consolas"/>
              </a:rPr>
              <a:t>extends</a:t>
            </a:r>
            <a:r>
              <a:rPr lang="fr-FR" sz="2400" dirty="0">
                <a:solidFill>
                  <a:schemeClr val="accent4"/>
                </a:solidFill>
                <a:latin typeface="Consolas"/>
                <a:cs typeface="Consolas"/>
              </a:rPr>
              <a:t> C&lt;</a:t>
            </a:r>
            <a:r>
              <a:rPr lang="fr-FR" sz="2400" dirty="0" err="1">
                <a:solidFill>
                  <a:schemeClr val="accent4"/>
                </a:solidFill>
                <a:latin typeface="Consolas"/>
                <a:cs typeface="Consolas"/>
              </a:rPr>
              <a:t>T</a:t>
            </a:r>
            <a:r>
              <a:rPr lang="fr-FR" sz="2400" dirty="0">
                <a:solidFill>
                  <a:schemeClr val="accent4"/>
                </a:solidFill>
                <a:latin typeface="Consolas"/>
                <a:cs typeface="Consolas"/>
              </a:rPr>
              <a:t>&gt;</a:t>
            </a:r>
            <a:r>
              <a:rPr lang="fr-FR" sz="2400" dirty="0"/>
              <a:t>: </a:t>
            </a:r>
            <a:br>
              <a:rPr lang="fr-FR" sz="2400" dirty="0"/>
            </a:br>
            <a:r>
              <a:rPr lang="fr-FR" sz="2400" dirty="0"/>
              <a:t>	En effet, </a:t>
            </a:r>
            <a:r>
              <a:rPr lang="fr-FR" sz="2400" dirty="0">
                <a:solidFill>
                  <a:schemeClr val="accent4"/>
                </a:solidFill>
                <a:latin typeface="Consolas"/>
                <a:cs typeface="Consolas"/>
              </a:rPr>
              <a:t>D</a:t>
            </a:r>
            <a:r>
              <a:rPr lang="fr-FR" sz="2400" dirty="0"/>
              <a:t> doit disposer d'un paramètre </a:t>
            </a:r>
            <a:r>
              <a:rPr lang="fr-FR" sz="2400" dirty="0" err="1">
                <a:solidFill>
                  <a:schemeClr val="accent4"/>
                </a:solidFill>
                <a:latin typeface="Consolas"/>
                <a:cs typeface="Consolas"/>
              </a:rPr>
              <a:t>T</a:t>
            </a:r>
            <a:endParaRPr lang="fr-FR" sz="2400" dirty="0">
              <a:solidFill>
                <a:schemeClr val="accent4"/>
              </a:solidFill>
              <a:latin typeface="Consolas"/>
              <a:cs typeface="Consolas"/>
            </a:endParaRPr>
          </a:p>
          <a:p>
            <a:pPr marL="0" indent="0">
              <a:buNone/>
            </a:pPr>
            <a:endParaRPr lang="fr-FR" sz="2400" dirty="0">
              <a:solidFill>
                <a:schemeClr val="accent4"/>
              </a:solidFill>
              <a:latin typeface="Consolas"/>
              <a:cs typeface="Consolas"/>
            </a:endParaRPr>
          </a:p>
          <a:p>
            <a:pPr marL="0" indent="0">
              <a:buNone/>
            </a:pPr>
            <a:r>
              <a:rPr lang="fr-FR" sz="2400" dirty="0">
                <a:solidFill>
                  <a:schemeClr val="accent4"/>
                </a:solidFill>
                <a:latin typeface="Consolas"/>
                <a:cs typeface="Consolas"/>
              </a:rPr>
              <a:t>class D&lt;U&gt; </a:t>
            </a:r>
            <a:r>
              <a:rPr lang="fr-FR" sz="2400" dirty="0" err="1">
                <a:solidFill>
                  <a:schemeClr val="accent4"/>
                </a:solidFill>
                <a:latin typeface="Consolas"/>
                <a:cs typeface="Consolas"/>
              </a:rPr>
              <a:t>extends</a:t>
            </a:r>
            <a:r>
              <a:rPr lang="fr-FR" sz="2400" dirty="0">
                <a:solidFill>
                  <a:schemeClr val="accent4"/>
                </a:solidFill>
                <a:latin typeface="Consolas"/>
                <a:cs typeface="Consolas"/>
              </a:rPr>
              <a:t> C&lt;V </a:t>
            </a:r>
            <a:r>
              <a:rPr lang="fr-FR" sz="2400" dirty="0" err="1">
                <a:solidFill>
                  <a:schemeClr val="accent4"/>
                </a:solidFill>
                <a:latin typeface="Consolas"/>
                <a:cs typeface="Consolas"/>
              </a:rPr>
              <a:t>extends</a:t>
            </a:r>
            <a:r>
              <a:rPr lang="fr-FR" sz="2400" dirty="0">
                <a:solidFill>
                  <a:schemeClr val="accent4"/>
                </a:solidFill>
                <a:latin typeface="Consolas"/>
                <a:cs typeface="Consolas"/>
              </a:rPr>
              <a:t> </a:t>
            </a:r>
            <a:r>
              <a:rPr lang="fr-FR" sz="2400" dirty="0" err="1">
                <a:solidFill>
                  <a:schemeClr val="accent4"/>
                </a:solidFill>
                <a:latin typeface="Consolas"/>
                <a:cs typeface="Consolas"/>
              </a:rPr>
              <a:t>Number</a:t>
            </a:r>
            <a:r>
              <a:rPr lang="fr-FR" sz="2400" dirty="0">
                <a:solidFill>
                  <a:schemeClr val="accent4"/>
                </a:solidFill>
                <a:latin typeface="Consolas"/>
                <a:cs typeface="Consolas"/>
              </a:rPr>
              <a:t>&gt;</a:t>
            </a:r>
            <a:r>
              <a:rPr lang="fr-FR" sz="2400" dirty="0"/>
              <a:t>: </a:t>
            </a:r>
            <a:br>
              <a:rPr lang="fr-FR" sz="2400" dirty="0"/>
            </a:br>
            <a:r>
              <a:rPr lang="fr-FR" sz="2400" dirty="0"/>
              <a:t>	Ceci n’est pas autorisé car </a:t>
            </a:r>
            <a:r>
              <a:rPr lang="fr-FR" sz="2400" dirty="0">
                <a:solidFill>
                  <a:schemeClr val="accent4"/>
                </a:solidFill>
                <a:latin typeface="Consolas"/>
                <a:cs typeface="Consolas"/>
              </a:rPr>
              <a:t>D</a:t>
            </a:r>
            <a:r>
              <a:rPr lang="fr-FR" sz="2400" dirty="0"/>
              <a:t> est moins restrictif que </a:t>
            </a:r>
            <a:r>
              <a:rPr lang="fr-FR" sz="2400" dirty="0">
                <a:solidFill>
                  <a:schemeClr val="accent4"/>
                </a:solidFill>
                <a:latin typeface="Consolas"/>
                <a:cs typeface="Consolas"/>
              </a:rPr>
              <a:t>C</a:t>
            </a:r>
            <a:r>
              <a:rPr lang="fr-FR" sz="2400" dirty="0"/>
              <a:t>: </a:t>
            </a:r>
          </a:p>
          <a:p>
            <a:pPr marL="1371600" lvl="3" indent="0">
              <a:buNone/>
            </a:pPr>
            <a:r>
              <a:rPr lang="fr-FR" sz="2400" dirty="0"/>
              <a:t>le </a:t>
            </a:r>
            <a:r>
              <a:rPr lang="fr-FR" sz="2400" dirty="0">
                <a:solidFill>
                  <a:schemeClr val="accent4"/>
                </a:solidFill>
                <a:latin typeface="Consolas"/>
                <a:cs typeface="Consolas"/>
              </a:rPr>
              <a:t>&lt;U&gt;</a:t>
            </a:r>
            <a:r>
              <a:rPr lang="fr-FR" sz="2400" dirty="0"/>
              <a:t> de </a:t>
            </a:r>
            <a:r>
              <a:rPr lang="fr-FR" sz="2400" dirty="0">
                <a:solidFill>
                  <a:schemeClr val="accent4"/>
                </a:solidFill>
                <a:latin typeface="Consolas"/>
                <a:cs typeface="Consolas"/>
              </a:rPr>
              <a:t>D</a:t>
            </a:r>
            <a:r>
              <a:rPr lang="fr-FR" sz="2400" dirty="0"/>
              <a:t> n’est pas nécessairement un </a:t>
            </a:r>
            <a:r>
              <a:rPr lang="fr-FR" sz="2400" dirty="0" err="1">
                <a:solidFill>
                  <a:schemeClr val="accent4"/>
                </a:solidFill>
                <a:latin typeface="Consolas"/>
                <a:cs typeface="Consolas"/>
              </a:rPr>
              <a:t>Number</a:t>
            </a:r>
            <a:r>
              <a:rPr lang="fr-FR" sz="2400" dirty="0"/>
              <a:t> </a:t>
            </a:r>
          </a:p>
          <a:p>
            <a:pPr marL="1371600" lvl="3" indent="0">
              <a:buNone/>
            </a:pPr>
            <a:r>
              <a:rPr lang="fr-FR" sz="2400" dirty="0"/>
              <a:t>mais (</a:t>
            </a:r>
            <a:r>
              <a:rPr lang="fr-FR" sz="2400" dirty="0">
                <a:solidFill>
                  <a:schemeClr val="accent4"/>
                </a:solidFill>
                <a:latin typeface="Consolas"/>
                <a:cs typeface="Consolas"/>
              </a:rPr>
              <a:t>U</a:t>
            </a:r>
            <a:r>
              <a:rPr lang="fr-FR" sz="2400" dirty="0"/>
              <a:t>) qui hérite de </a:t>
            </a:r>
            <a:r>
              <a:rPr lang="fr-FR" sz="2400" dirty="0">
                <a:solidFill>
                  <a:schemeClr val="accent4"/>
                </a:solidFill>
                <a:latin typeface="Consolas"/>
                <a:cs typeface="Consolas"/>
              </a:rPr>
              <a:t>V</a:t>
            </a:r>
            <a:r>
              <a:rPr lang="fr-FR" sz="2400" dirty="0"/>
              <a:t> qui lui même hérite de </a:t>
            </a:r>
            <a:r>
              <a:rPr lang="fr-FR" sz="2400" dirty="0" err="1">
                <a:solidFill>
                  <a:schemeClr val="accent4"/>
                </a:solidFill>
                <a:latin typeface="Consolas"/>
                <a:cs typeface="Consolas"/>
              </a:rPr>
              <a:t>Number</a:t>
            </a:r>
            <a:r>
              <a:rPr lang="fr-FR" sz="2400" dirty="0"/>
              <a:t> (et donc </a:t>
            </a:r>
            <a:r>
              <a:rPr lang="fr-FR" sz="2400" dirty="0">
                <a:solidFill>
                  <a:schemeClr val="accent4"/>
                </a:solidFill>
                <a:latin typeface="Consolas"/>
                <a:cs typeface="Consolas"/>
              </a:rPr>
              <a:t>U</a:t>
            </a:r>
            <a:r>
              <a:rPr lang="fr-FR" sz="2400" dirty="0"/>
              <a:t> est obligatoirement </a:t>
            </a:r>
            <a:r>
              <a:rPr lang="fr-FR" sz="2400" dirty="0" err="1">
                <a:solidFill>
                  <a:schemeClr val="accent4"/>
                </a:solidFill>
                <a:latin typeface="Consolas"/>
                <a:cs typeface="Consolas"/>
              </a:rPr>
              <a:t>Number</a:t>
            </a:r>
            <a:r>
              <a:rPr lang="fr-FR" sz="2400" dirty="0"/>
              <a:t>)</a:t>
            </a:r>
            <a:endParaRPr lang="fr-FR" sz="2400" dirty="0">
              <a:solidFill>
                <a:srgbClr val="A6082B"/>
              </a:solidFill>
              <a:latin typeface="Consolas"/>
              <a:cs typeface="Consolas"/>
            </a:endParaRPr>
          </a:p>
        </p:txBody>
      </p:sp>
    </p:spTree>
    <p:extLst>
      <p:ext uri="{BB962C8B-B14F-4D97-AF65-F5344CB8AC3E}">
        <p14:creationId xmlns:p14="http://schemas.microsoft.com/office/powerpoint/2010/main" val="3474458177"/>
      </p:ext>
    </p:extLst>
  </p:cSld>
  <p:clrMapOvr>
    <a:masterClrMapping/>
  </p:clrMapOvr>
  <p:transition>
    <p:push di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Un cas particulier…</a:t>
            </a:r>
          </a:p>
        </p:txBody>
      </p:sp>
      <p:sp>
        <p:nvSpPr>
          <p:cNvPr id="5" name="Espace réservé du contenu 4"/>
          <p:cNvSpPr>
            <a:spLocks noGrp="1"/>
          </p:cNvSpPr>
          <p:nvPr>
            <p:ph idx="1"/>
          </p:nvPr>
        </p:nvSpPr>
        <p:spPr/>
        <p:txBody>
          <a:bodyPr>
            <a:normAutofit fontScale="92500" lnSpcReduction="10000"/>
          </a:bodyPr>
          <a:lstStyle/>
          <a:p>
            <a:pPr marL="0" indent="0">
              <a:buNone/>
            </a:pPr>
            <a:r>
              <a:rPr lang="fr-FR" dirty="0"/>
              <a:t>Si </a:t>
            </a:r>
            <a:r>
              <a:rPr lang="fr-FR" dirty="0">
                <a:solidFill>
                  <a:schemeClr val="accent4"/>
                </a:solidFill>
                <a:latin typeface="Consolas"/>
                <a:cs typeface="Consolas"/>
              </a:rPr>
              <a:t>T'</a:t>
            </a:r>
            <a:r>
              <a:rPr lang="fr-FR" dirty="0"/>
              <a:t> hérite de </a:t>
            </a:r>
            <a:r>
              <a:rPr lang="fr-FR" dirty="0" err="1">
                <a:solidFill>
                  <a:schemeClr val="accent4"/>
                </a:solidFill>
                <a:latin typeface="Consolas"/>
                <a:cs typeface="Consolas"/>
              </a:rPr>
              <a:t>T</a:t>
            </a:r>
            <a:r>
              <a:rPr lang="fr-FR" dirty="0"/>
              <a:t>, </a:t>
            </a:r>
            <a:r>
              <a:rPr lang="fr-FR" dirty="0">
                <a:solidFill>
                  <a:schemeClr val="accent4"/>
                </a:solidFill>
                <a:latin typeface="Consolas"/>
                <a:cs typeface="Consolas"/>
              </a:rPr>
              <a:t>C&lt;T'&gt;</a:t>
            </a:r>
            <a:r>
              <a:rPr lang="fr-FR" dirty="0"/>
              <a:t> n'hérite pas de </a:t>
            </a:r>
            <a:r>
              <a:rPr lang="fr-FR" dirty="0">
                <a:solidFill>
                  <a:schemeClr val="accent4"/>
                </a:solidFill>
                <a:latin typeface="Consolas"/>
                <a:cs typeface="Consolas"/>
              </a:rPr>
              <a:t>C&lt;</a:t>
            </a:r>
            <a:r>
              <a:rPr lang="fr-FR" dirty="0" err="1">
                <a:solidFill>
                  <a:schemeClr val="accent4"/>
                </a:solidFill>
                <a:latin typeface="Consolas"/>
                <a:cs typeface="Consolas"/>
              </a:rPr>
              <a:t>T</a:t>
            </a:r>
            <a:r>
              <a:rPr lang="fr-FR" dirty="0">
                <a:solidFill>
                  <a:schemeClr val="accent4"/>
                </a:solidFill>
                <a:latin typeface="Consolas"/>
                <a:cs typeface="Consolas"/>
              </a:rPr>
              <a:t>&gt;</a:t>
            </a:r>
            <a:r>
              <a:rPr lang="fr-FR" dirty="0"/>
              <a:t>.</a:t>
            </a:r>
          </a:p>
          <a:p>
            <a:pPr marL="0" indent="0">
              <a:buNone/>
            </a:pPr>
            <a:endParaRPr lang="fr-FR" dirty="0"/>
          </a:p>
          <a:p>
            <a:pPr marL="0" indent="0">
              <a:buNone/>
            </a:pPr>
            <a:r>
              <a:rPr lang="fr-FR" dirty="0"/>
              <a:t>Montrons-le à l’aide d’un </a:t>
            </a:r>
            <a:r>
              <a:rPr lang="fr-FR" dirty="0">
                <a:solidFill>
                  <a:schemeClr val="accent4"/>
                </a:solidFill>
              </a:rPr>
              <a:t>raisonnement par l’absurde</a:t>
            </a:r>
            <a:r>
              <a:rPr lang="fr-FR" dirty="0"/>
              <a:t>:</a:t>
            </a:r>
          </a:p>
          <a:p>
            <a:pPr marL="0" indent="0">
              <a:buNone/>
            </a:pPr>
            <a:endParaRPr lang="fr-FR" dirty="0"/>
          </a:p>
          <a:p>
            <a:pPr marL="0" indent="0">
              <a:buNone/>
            </a:pPr>
            <a:r>
              <a:rPr lang="fr-FR" dirty="0"/>
              <a:t>Soit </a:t>
            </a:r>
            <a:r>
              <a:rPr lang="fr-FR" dirty="0" err="1">
                <a:solidFill>
                  <a:schemeClr val="accent4"/>
                </a:solidFill>
                <a:latin typeface="Consolas"/>
                <a:cs typeface="Consolas"/>
              </a:rPr>
              <a:t>Integer</a:t>
            </a:r>
            <a:r>
              <a:rPr lang="fr-FR" dirty="0"/>
              <a:t> et </a:t>
            </a:r>
            <a:r>
              <a:rPr lang="fr-FR" dirty="0">
                <a:solidFill>
                  <a:schemeClr val="accent4"/>
                </a:solidFill>
                <a:latin typeface="Consolas"/>
                <a:cs typeface="Consolas"/>
              </a:rPr>
              <a:t>Object</a:t>
            </a:r>
            <a:r>
              <a:rPr lang="fr-FR" dirty="0"/>
              <a:t>: </a:t>
            </a:r>
            <a:r>
              <a:rPr lang="fr-FR" dirty="0" err="1">
                <a:solidFill>
                  <a:schemeClr val="accent4"/>
                </a:solidFill>
                <a:latin typeface="Consolas"/>
                <a:cs typeface="Consolas"/>
              </a:rPr>
              <a:t>Integer</a:t>
            </a:r>
            <a:r>
              <a:rPr lang="fr-FR" dirty="0"/>
              <a:t> hérite de </a:t>
            </a:r>
            <a:r>
              <a:rPr lang="fr-FR" dirty="0">
                <a:solidFill>
                  <a:schemeClr val="accent4"/>
                </a:solidFill>
                <a:latin typeface="Consolas"/>
                <a:cs typeface="Consolas"/>
              </a:rPr>
              <a:t>Object</a:t>
            </a:r>
            <a:r>
              <a:rPr lang="fr-FR" dirty="0"/>
              <a:t>.</a:t>
            </a:r>
          </a:p>
          <a:p>
            <a:pPr marL="0" indent="0">
              <a:buNone/>
            </a:pPr>
            <a:endParaRPr lang="fr-FR" dirty="0"/>
          </a:p>
          <a:p>
            <a:pPr marL="0" indent="0">
              <a:buNone/>
            </a:pPr>
            <a:r>
              <a:rPr lang="fr-FR" dirty="0"/>
              <a:t>En supposant que nous ayons les objets suivants:</a:t>
            </a:r>
          </a:p>
          <a:p>
            <a:pPr marL="0" indent="0">
              <a:buNone/>
            </a:pPr>
            <a:r>
              <a:rPr lang="fr-FR" dirty="0">
                <a:solidFill>
                  <a:schemeClr val="accent4"/>
                </a:solidFill>
                <a:latin typeface="Consolas"/>
                <a:cs typeface="Consolas"/>
              </a:rPr>
              <a:t>Object o1, o2; </a:t>
            </a:r>
            <a:r>
              <a:rPr lang="fr-FR" dirty="0" err="1">
                <a:solidFill>
                  <a:schemeClr val="accent4"/>
                </a:solidFill>
                <a:latin typeface="Consolas"/>
                <a:cs typeface="Consolas"/>
              </a:rPr>
              <a:t>Integer</a:t>
            </a:r>
            <a:r>
              <a:rPr lang="fr-FR" dirty="0">
                <a:solidFill>
                  <a:schemeClr val="accent4"/>
                </a:solidFill>
                <a:latin typeface="Consolas"/>
                <a:cs typeface="Consolas"/>
              </a:rPr>
              <a:t> i1, i2; </a:t>
            </a:r>
            <a:br>
              <a:rPr lang="fr-FR" dirty="0">
                <a:solidFill>
                  <a:schemeClr val="accent4"/>
                </a:solidFill>
                <a:latin typeface="Consolas"/>
                <a:cs typeface="Consolas"/>
              </a:rPr>
            </a:br>
            <a:r>
              <a:rPr lang="fr-FR" dirty="0">
                <a:solidFill>
                  <a:schemeClr val="accent4"/>
                </a:solidFill>
                <a:latin typeface="Consolas"/>
                <a:cs typeface="Consolas"/>
              </a:rPr>
              <a:t>Couple&lt;Object&gt; </a:t>
            </a:r>
            <a:r>
              <a:rPr lang="fr-FR" dirty="0" err="1">
                <a:solidFill>
                  <a:schemeClr val="accent4"/>
                </a:solidFill>
                <a:latin typeface="Consolas"/>
                <a:cs typeface="Consolas"/>
              </a:rPr>
              <a:t>co</a:t>
            </a:r>
            <a:r>
              <a:rPr lang="fr-FR" dirty="0">
                <a:solidFill>
                  <a:schemeClr val="accent4"/>
                </a:solidFill>
                <a:latin typeface="Consolas"/>
                <a:cs typeface="Consolas"/>
              </a:rPr>
              <a:t> = new Couple(o1, o2); </a:t>
            </a:r>
            <a:br>
              <a:rPr lang="fr-FR" dirty="0">
                <a:solidFill>
                  <a:schemeClr val="accent4"/>
                </a:solidFill>
                <a:latin typeface="Consolas"/>
                <a:cs typeface="Consolas"/>
              </a:rPr>
            </a:br>
            <a:r>
              <a:rPr lang="fr-FR" dirty="0">
                <a:solidFill>
                  <a:schemeClr val="accent4"/>
                </a:solidFill>
                <a:latin typeface="Consolas"/>
                <a:cs typeface="Consolas"/>
              </a:rPr>
              <a:t>Couple&lt;</a:t>
            </a:r>
            <a:r>
              <a:rPr lang="fr-FR" dirty="0" err="1">
                <a:solidFill>
                  <a:schemeClr val="accent4"/>
                </a:solidFill>
                <a:latin typeface="Consolas"/>
                <a:cs typeface="Consolas"/>
              </a:rPr>
              <a:t>Integer</a:t>
            </a:r>
            <a:r>
              <a:rPr lang="fr-FR" dirty="0">
                <a:solidFill>
                  <a:schemeClr val="accent4"/>
                </a:solidFill>
                <a:latin typeface="Consolas"/>
                <a:cs typeface="Consolas"/>
              </a:rPr>
              <a:t>&gt; ci = new Couple(i1, i2);</a:t>
            </a:r>
            <a:endParaRPr lang="fr-FR" dirty="0">
              <a:solidFill>
                <a:schemeClr val="accent4"/>
              </a:solidFill>
            </a:endParaRPr>
          </a:p>
        </p:txBody>
      </p:sp>
    </p:spTree>
    <p:extLst>
      <p:ext uri="{BB962C8B-B14F-4D97-AF65-F5344CB8AC3E}">
        <p14:creationId xmlns:p14="http://schemas.microsoft.com/office/powerpoint/2010/main" val="1543485439"/>
      </p:ext>
    </p:extLst>
  </p:cSld>
  <p:clrMapOvr>
    <a:masterClrMapping/>
  </p:clrMapOvr>
  <p:transition>
    <p:push dir="u"/>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Un cas particulier…</a:t>
            </a:r>
          </a:p>
        </p:txBody>
      </p:sp>
      <p:sp>
        <p:nvSpPr>
          <p:cNvPr id="5" name="Espace réservé du contenu 4"/>
          <p:cNvSpPr>
            <a:spLocks noGrp="1"/>
          </p:cNvSpPr>
          <p:nvPr>
            <p:ph idx="1"/>
          </p:nvPr>
        </p:nvSpPr>
        <p:spPr/>
        <p:txBody>
          <a:bodyPr>
            <a:normAutofit/>
          </a:bodyPr>
          <a:lstStyle/>
          <a:p>
            <a:pPr marL="0" indent="0">
              <a:buNone/>
            </a:pPr>
            <a:r>
              <a:rPr lang="fr-FR" sz="2000" dirty="0"/>
              <a:t>En mémoire, nous avons donc:</a:t>
            </a:r>
          </a:p>
          <a:p>
            <a:pPr marL="0" indent="0">
              <a:buNone/>
            </a:pPr>
            <a:r>
              <a:rPr lang="fr-FR" sz="2000" dirty="0">
                <a:solidFill>
                  <a:schemeClr val="accent4"/>
                </a:solidFill>
                <a:latin typeface="Consolas"/>
                <a:cs typeface="Consolas"/>
              </a:rPr>
              <a:t>Object o1, o2; </a:t>
            </a:r>
            <a:r>
              <a:rPr lang="fr-FR" sz="2000" dirty="0" err="1">
                <a:solidFill>
                  <a:schemeClr val="accent4"/>
                </a:solidFill>
                <a:latin typeface="Consolas"/>
                <a:cs typeface="Consolas"/>
              </a:rPr>
              <a:t>Integer</a:t>
            </a:r>
            <a:r>
              <a:rPr lang="fr-FR" sz="2000" dirty="0">
                <a:solidFill>
                  <a:schemeClr val="accent4"/>
                </a:solidFill>
                <a:latin typeface="Consolas"/>
                <a:cs typeface="Consolas"/>
              </a:rPr>
              <a:t> i1, i2; </a:t>
            </a:r>
            <a:br>
              <a:rPr lang="fr-FR" sz="2000" dirty="0">
                <a:solidFill>
                  <a:schemeClr val="accent4"/>
                </a:solidFill>
                <a:latin typeface="Consolas"/>
                <a:cs typeface="Consolas"/>
              </a:rPr>
            </a:br>
            <a:r>
              <a:rPr lang="fr-FR" sz="2000" dirty="0">
                <a:solidFill>
                  <a:schemeClr val="accent4"/>
                </a:solidFill>
                <a:latin typeface="Consolas"/>
                <a:cs typeface="Consolas"/>
              </a:rPr>
              <a:t>Couple&lt;Object&gt; </a:t>
            </a:r>
            <a:r>
              <a:rPr lang="fr-FR" sz="2000" dirty="0" err="1">
                <a:solidFill>
                  <a:schemeClr val="accent4"/>
                </a:solidFill>
                <a:latin typeface="Consolas"/>
                <a:cs typeface="Consolas"/>
              </a:rPr>
              <a:t>co</a:t>
            </a:r>
            <a:r>
              <a:rPr lang="fr-FR" sz="2000" dirty="0">
                <a:solidFill>
                  <a:schemeClr val="accent4"/>
                </a:solidFill>
                <a:latin typeface="Consolas"/>
                <a:cs typeface="Consolas"/>
              </a:rPr>
              <a:t> = new Couple(o1, o2); </a:t>
            </a:r>
            <a:br>
              <a:rPr lang="fr-FR" sz="2000" dirty="0">
                <a:solidFill>
                  <a:schemeClr val="accent4"/>
                </a:solidFill>
                <a:latin typeface="Consolas"/>
                <a:cs typeface="Consolas"/>
              </a:rPr>
            </a:br>
            <a:r>
              <a:rPr lang="fr-FR" sz="2000" dirty="0">
                <a:solidFill>
                  <a:schemeClr val="accent4"/>
                </a:solidFill>
                <a:latin typeface="Consolas"/>
                <a:cs typeface="Consolas"/>
              </a:rPr>
              <a:t>Couple&lt;</a:t>
            </a:r>
            <a:r>
              <a:rPr lang="fr-FR" sz="2000" dirty="0" err="1">
                <a:solidFill>
                  <a:schemeClr val="accent4"/>
                </a:solidFill>
                <a:latin typeface="Consolas"/>
                <a:cs typeface="Consolas"/>
              </a:rPr>
              <a:t>Integer</a:t>
            </a:r>
            <a:r>
              <a:rPr lang="fr-FR" sz="2000" dirty="0">
                <a:solidFill>
                  <a:schemeClr val="accent4"/>
                </a:solidFill>
                <a:latin typeface="Consolas"/>
                <a:cs typeface="Consolas"/>
              </a:rPr>
              <a:t>&gt; ci = new Couple(i1, i2);</a:t>
            </a:r>
            <a:endParaRPr lang="fr-FR" sz="2000" dirty="0">
              <a:solidFill>
                <a:schemeClr val="accent4"/>
              </a:solidFill>
            </a:endParaRPr>
          </a:p>
        </p:txBody>
      </p:sp>
      <p:grpSp>
        <p:nvGrpSpPr>
          <p:cNvPr id="16" name="Groupe 15">
            <a:extLst>
              <a:ext uri="{FF2B5EF4-FFF2-40B4-BE49-F238E27FC236}">
                <a16:creationId xmlns:a16="http://schemas.microsoft.com/office/drawing/2014/main" id="{F9811068-60C6-044F-851C-B934B7FEE5CF}"/>
              </a:ext>
            </a:extLst>
          </p:cNvPr>
          <p:cNvGrpSpPr/>
          <p:nvPr/>
        </p:nvGrpSpPr>
        <p:grpSpPr>
          <a:xfrm>
            <a:off x="8960613" y="3463020"/>
            <a:ext cx="1243175" cy="1284270"/>
            <a:chOff x="5003513" y="3463020"/>
            <a:chExt cx="1243175" cy="1284270"/>
          </a:xfrm>
        </p:grpSpPr>
        <p:sp>
          <p:nvSpPr>
            <p:cNvPr id="10" name="Rectangle 9">
              <a:extLst>
                <a:ext uri="{FF2B5EF4-FFF2-40B4-BE49-F238E27FC236}">
                  <a16:creationId xmlns:a16="http://schemas.microsoft.com/office/drawing/2014/main" id="{EEE70FEA-9394-1B44-8FAD-374DC262A283}"/>
                </a:ext>
              </a:extLst>
            </p:cNvPr>
            <p:cNvSpPr/>
            <p:nvPr/>
          </p:nvSpPr>
          <p:spPr>
            <a:xfrm>
              <a:off x="5003513" y="3463020"/>
              <a:ext cx="1243175" cy="128427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Rectangle 5">
              <a:extLst>
                <a:ext uri="{FF2B5EF4-FFF2-40B4-BE49-F238E27FC236}">
                  <a16:creationId xmlns:a16="http://schemas.microsoft.com/office/drawing/2014/main" id="{2667FEE4-6462-A745-B783-6CF6134B53F5}"/>
                </a:ext>
              </a:extLst>
            </p:cNvPr>
            <p:cNvSpPr/>
            <p:nvPr/>
          </p:nvSpPr>
          <p:spPr>
            <a:xfrm>
              <a:off x="5188449" y="3627407"/>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latin typeface="Consolas" panose="020B0609020204030204" pitchFamily="49" charset="0"/>
                  <a:cs typeface="Consolas" panose="020B0609020204030204" pitchFamily="49" charset="0"/>
                </a:rPr>
                <a:t>Object</a:t>
              </a:r>
            </a:p>
          </p:txBody>
        </p:sp>
        <p:sp>
          <p:nvSpPr>
            <p:cNvPr id="7" name="Rectangle 6">
              <a:extLst>
                <a:ext uri="{FF2B5EF4-FFF2-40B4-BE49-F238E27FC236}">
                  <a16:creationId xmlns:a16="http://schemas.microsoft.com/office/drawing/2014/main" id="{7D893C86-DDA4-FE40-9F14-5ABF17AECCF2}"/>
                </a:ext>
              </a:extLst>
            </p:cNvPr>
            <p:cNvSpPr/>
            <p:nvPr/>
          </p:nvSpPr>
          <p:spPr>
            <a:xfrm>
              <a:off x="5188449" y="4129871"/>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latin typeface="Consolas" panose="020B0609020204030204" pitchFamily="49" charset="0"/>
                  <a:cs typeface="Consolas" panose="020B0609020204030204" pitchFamily="49" charset="0"/>
                </a:rPr>
                <a:t>Object</a:t>
              </a:r>
            </a:p>
          </p:txBody>
        </p:sp>
      </p:grpSp>
      <p:grpSp>
        <p:nvGrpSpPr>
          <p:cNvPr id="17" name="Groupe 16">
            <a:extLst>
              <a:ext uri="{FF2B5EF4-FFF2-40B4-BE49-F238E27FC236}">
                <a16:creationId xmlns:a16="http://schemas.microsoft.com/office/drawing/2014/main" id="{1D916DB3-F667-AB47-A15C-7DA0123C1AD9}"/>
              </a:ext>
            </a:extLst>
          </p:cNvPr>
          <p:cNvGrpSpPr/>
          <p:nvPr/>
        </p:nvGrpSpPr>
        <p:grpSpPr>
          <a:xfrm>
            <a:off x="8960613" y="4921950"/>
            <a:ext cx="1243175" cy="1284270"/>
            <a:chOff x="5003513" y="4921950"/>
            <a:chExt cx="1243175" cy="1284270"/>
          </a:xfrm>
        </p:grpSpPr>
        <p:sp>
          <p:nvSpPr>
            <p:cNvPr id="11" name="Rectangle 10">
              <a:extLst>
                <a:ext uri="{FF2B5EF4-FFF2-40B4-BE49-F238E27FC236}">
                  <a16:creationId xmlns:a16="http://schemas.microsoft.com/office/drawing/2014/main" id="{032A49DB-E104-2747-9FEB-1DF701893709}"/>
                </a:ext>
              </a:extLst>
            </p:cNvPr>
            <p:cNvSpPr/>
            <p:nvPr/>
          </p:nvSpPr>
          <p:spPr>
            <a:xfrm>
              <a:off x="5003513" y="4921950"/>
              <a:ext cx="1243175" cy="128427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Rectangle 7">
              <a:extLst>
                <a:ext uri="{FF2B5EF4-FFF2-40B4-BE49-F238E27FC236}">
                  <a16:creationId xmlns:a16="http://schemas.microsoft.com/office/drawing/2014/main" id="{706E8D23-DF27-904D-8DD6-82331AF45A4D}"/>
                </a:ext>
              </a:extLst>
            </p:cNvPr>
            <p:cNvSpPr/>
            <p:nvPr/>
          </p:nvSpPr>
          <p:spPr>
            <a:xfrm>
              <a:off x="5188449" y="5076063"/>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400" dirty="0" err="1">
                  <a:latin typeface="Consolas" panose="020B0609020204030204" pitchFamily="49" charset="0"/>
                  <a:cs typeface="Consolas" panose="020B0609020204030204" pitchFamily="49" charset="0"/>
                </a:rPr>
                <a:t>Integer</a:t>
              </a:r>
              <a:endParaRPr lang="fr-FR" sz="1400" dirty="0">
                <a:latin typeface="Consolas" panose="020B0609020204030204" pitchFamily="49" charset="0"/>
                <a:cs typeface="Consolas" panose="020B0609020204030204" pitchFamily="49" charset="0"/>
              </a:endParaRPr>
            </a:p>
          </p:txBody>
        </p:sp>
        <p:sp>
          <p:nvSpPr>
            <p:cNvPr id="9" name="Rectangle 8">
              <a:extLst>
                <a:ext uri="{FF2B5EF4-FFF2-40B4-BE49-F238E27FC236}">
                  <a16:creationId xmlns:a16="http://schemas.microsoft.com/office/drawing/2014/main" id="{ACF848E3-8143-8E42-B3F6-318FE3E61FBB}"/>
                </a:ext>
              </a:extLst>
            </p:cNvPr>
            <p:cNvSpPr/>
            <p:nvPr/>
          </p:nvSpPr>
          <p:spPr>
            <a:xfrm>
              <a:off x="5188449" y="5578527"/>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400">
                  <a:latin typeface="Consolas" panose="020B0609020204030204" pitchFamily="49" charset="0"/>
                  <a:cs typeface="Consolas" panose="020B0609020204030204" pitchFamily="49" charset="0"/>
                </a:rPr>
                <a:t>Integer</a:t>
              </a:r>
              <a:endParaRPr lang="fr-FR" sz="1400" dirty="0">
                <a:latin typeface="Consolas" panose="020B0609020204030204" pitchFamily="49" charset="0"/>
                <a:cs typeface="Consolas" panose="020B0609020204030204" pitchFamily="49" charset="0"/>
              </a:endParaRPr>
            </a:p>
          </p:txBody>
        </p:sp>
      </p:grpSp>
      <p:sp>
        <p:nvSpPr>
          <p:cNvPr id="14" name="Bulle rectangulaire 13">
            <a:extLst>
              <a:ext uri="{FF2B5EF4-FFF2-40B4-BE49-F238E27FC236}">
                <a16:creationId xmlns:a16="http://schemas.microsoft.com/office/drawing/2014/main" id="{44A12971-966D-E64D-B876-826E10FCBDA5}"/>
              </a:ext>
            </a:extLst>
          </p:cNvPr>
          <p:cNvSpPr/>
          <p:nvPr/>
        </p:nvSpPr>
        <p:spPr>
          <a:xfrm>
            <a:off x="6742448" y="3627407"/>
            <a:ext cx="660114" cy="507870"/>
          </a:xfrm>
          <a:prstGeom prst="wedgeRectCallout">
            <a:avLst>
              <a:gd name="adj1" fmla="val 287203"/>
              <a:gd name="adj2" fmla="val -1842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err="1">
                <a:solidFill>
                  <a:schemeClr val="tx1"/>
                </a:solidFill>
                <a:latin typeface="Consolas" panose="020B0609020204030204" pitchFamily="49" charset="0"/>
                <a:cs typeface="Consolas" panose="020B0609020204030204" pitchFamily="49" charset="0"/>
              </a:rPr>
              <a:t>co</a:t>
            </a:r>
            <a:endParaRPr lang="fr-FR" dirty="0"/>
          </a:p>
        </p:txBody>
      </p:sp>
      <p:sp>
        <p:nvSpPr>
          <p:cNvPr id="15" name="Bulle rectangulaire 14">
            <a:extLst>
              <a:ext uri="{FF2B5EF4-FFF2-40B4-BE49-F238E27FC236}">
                <a16:creationId xmlns:a16="http://schemas.microsoft.com/office/drawing/2014/main" id="{057D8F66-A337-DA49-8EDE-B4F0B696BD45}"/>
              </a:ext>
            </a:extLst>
          </p:cNvPr>
          <p:cNvSpPr/>
          <p:nvPr/>
        </p:nvSpPr>
        <p:spPr>
          <a:xfrm>
            <a:off x="6742448" y="5086337"/>
            <a:ext cx="660114" cy="507870"/>
          </a:xfrm>
          <a:prstGeom prst="wedgeRectCallout">
            <a:avLst>
              <a:gd name="adj1" fmla="val 284090"/>
              <a:gd name="adj2" fmla="val -1842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Consolas" panose="020B0609020204030204" pitchFamily="49" charset="0"/>
                <a:cs typeface="Consolas" panose="020B0609020204030204" pitchFamily="49" charset="0"/>
              </a:rPr>
              <a:t>ci</a:t>
            </a:r>
            <a:endParaRPr lang="fr-FR" dirty="0"/>
          </a:p>
        </p:txBody>
      </p:sp>
      <p:sp>
        <p:nvSpPr>
          <p:cNvPr id="18" name="Rectangle 17">
            <a:extLst>
              <a:ext uri="{FF2B5EF4-FFF2-40B4-BE49-F238E27FC236}">
                <a16:creationId xmlns:a16="http://schemas.microsoft.com/office/drawing/2014/main" id="{B5B3A4C0-C0A7-6C43-841D-33405F2E360D}"/>
              </a:ext>
            </a:extLst>
          </p:cNvPr>
          <p:cNvSpPr/>
          <p:nvPr/>
        </p:nvSpPr>
        <p:spPr>
          <a:xfrm>
            <a:off x="4858477" y="3638219"/>
            <a:ext cx="1957587" cy="369332"/>
          </a:xfrm>
          <a:prstGeom prst="rect">
            <a:avLst/>
          </a:prstGeom>
        </p:spPr>
        <p:txBody>
          <a:bodyPr wrap="none">
            <a:spAutoFit/>
          </a:bodyPr>
          <a:lstStyle/>
          <a:p>
            <a:r>
              <a:rPr lang="fr-FR" b="1" dirty="0">
                <a:solidFill>
                  <a:schemeClr val="accent4"/>
                </a:solidFill>
                <a:latin typeface="Consolas"/>
                <a:cs typeface="Consolas"/>
              </a:rPr>
              <a:t>Couple&lt;Object&gt;</a:t>
            </a:r>
            <a:endParaRPr lang="fr-FR" b="1" dirty="0">
              <a:solidFill>
                <a:schemeClr val="accent4"/>
              </a:solidFill>
            </a:endParaRPr>
          </a:p>
        </p:txBody>
      </p:sp>
      <p:sp>
        <p:nvSpPr>
          <p:cNvPr id="19" name="Rectangle 18">
            <a:extLst>
              <a:ext uri="{FF2B5EF4-FFF2-40B4-BE49-F238E27FC236}">
                <a16:creationId xmlns:a16="http://schemas.microsoft.com/office/drawing/2014/main" id="{CD907130-8CE3-914C-8DD5-36B4C44A8262}"/>
              </a:ext>
            </a:extLst>
          </p:cNvPr>
          <p:cNvSpPr/>
          <p:nvPr/>
        </p:nvSpPr>
        <p:spPr>
          <a:xfrm>
            <a:off x="4724915" y="5107423"/>
            <a:ext cx="2084225" cy="369332"/>
          </a:xfrm>
          <a:prstGeom prst="rect">
            <a:avLst/>
          </a:prstGeom>
        </p:spPr>
        <p:txBody>
          <a:bodyPr wrap="none">
            <a:spAutoFit/>
          </a:bodyPr>
          <a:lstStyle/>
          <a:p>
            <a:r>
              <a:rPr lang="fr-FR" b="1" dirty="0">
                <a:solidFill>
                  <a:schemeClr val="accent4"/>
                </a:solidFill>
                <a:latin typeface="Consolas"/>
                <a:cs typeface="Consolas"/>
              </a:rPr>
              <a:t>Couple&lt;</a:t>
            </a:r>
            <a:r>
              <a:rPr lang="fr-FR" b="1" dirty="0" err="1">
                <a:solidFill>
                  <a:schemeClr val="accent4"/>
                </a:solidFill>
                <a:latin typeface="Consolas"/>
                <a:cs typeface="Consolas"/>
              </a:rPr>
              <a:t>Integer</a:t>
            </a:r>
            <a:r>
              <a:rPr lang="fr-FR" b="1" dirty="0">
                <a:solidFill>
                  <a:schemeClr val="accent4"/>
                </a:solidFill>
                <a:latin typeface="Consolas"/>
                <a:cs typeface="Consolas"/>
              </a:rPr>
              <a:t>&gt;</a:t>
            </a:r>
            <a:endParaRPr lang="fr-FR" b="1" dirty="0">
              <a:solidFill>
                <a:schemeClr val="accent4"/>
              </a:solidFill>
            </a:endParaRPr>
          </a:p>
        </p:txBody>
      </p:sp>
    </p:spTree>
    <p:extLst>
      <p:ext uri="{BB962C8B-B14F-4D97-AF65-F5344CB8AC3E}">
        <p14:creationId xmlns:p14="http://schemas.microsoft.com/office/powerpoint/2010/main" val="312774425"/>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8" grpId="0"/>
      <p:bldP spid="1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Un cas particulier…</a:t>
            </a:r>
          </a:p>
        </p:txBody>
      </p:sp>
      <p:sp>
        <p:nvSpPr>
          <p:cNvPr id="5" name="Espace réservé du contenu 4"/>
          <p:cNvSpPr>
            <a:spLocks noGrp="1"/>
          </p:cNvSpPr>
          <p:nvPr>
            <p:ph idx="1"/>
          </p:nvPr>
        </p:nvSpPr>
        <p:spPr>
          <a:xfrm>
            <a:off x="838200" y="1825626"/>
            <a:ext cx="10515600" cy="565044"/>
          </a:xfrm>
        </p:spPr>
        <p:txBody>
          <a:bodyPr>
            <a:normAutofit/>
          </a:bodyPr>
          <a:lstStyle/>
          <a:p>
            <a:pPr marL="0" indent="0">
              <a:buNone/>
            </a:pPr>
            <a:r>
              <a:rPr lang="fr-FR" sz="2000" dirty="0"/>
              <a:t>Si on considère (erronément) que </a:t>
            </a:r>
            <a:r>
              <a:rPr lang="fr-FR" sz="1800" dirty="0">
                <a:solidFill>
                  <a:schemeClr val="accent4"/>
                </a:solidFill>
                <a:latin typeface="Consolas"/>
                <a:cs typeface="Consolas"/>
              </a:rPr>
              <a:t>Couple&lt;Integer&gt;</a:t>
            </a:r>
            <a:r>
              <a:rPr lang="fr-FR" sz="2000" dirty="0"/>
              <a:t> hérite de </a:t>
            </a:r>
            <a:r>
              <a:rPr lang="fr-FR" sz="1800" dirty="0">
                <a:solidFill>
                  <a:schemeClr val="accent4"/>
                </a:solidFill>
                <a:latin typeface="Consolas"/>
                <a:cs typeface="Consolas"/>
              </a:rPr>
              <a:t>Couple&lt;Object&gt;</a:t>
            </a:r>
            <a:r>
              <a:rPr lang="fr-FR" sz="2000" dirty="0"/>
              <a:t>, on pourrait écrire:</a:t>
            </a:r>
          </a:p>
          <a:p>
            <a:pPr marL="0" indent="0">
              <a:buNone/>
            </a:pPr>
            <a:endParaRPr lang="fr-FR" sz="2000" dirty="0">
              <a:solidFill>
                <a:schemeClr val="accent4"/>
              </a:solidFill>
              <a:latin typeface="Consolas"/>
              <a:cs typeface="Consolas"/>
            </a:endParaRPr>
          </a:p>
          <a:p>
            <a:pPr marL="0" indent="0">
              <a:buNone/>
            </a:pPr>
            <a:endParaRPr lang="fr-FR" sz="2000" dirty="0">
              <a:solidFill>
                <a:schemeClr val="accent4"/>
              </a:solidFill>
              <a:latin typeface="Consolas"/>
              <a:cs typeface="Consolas"/>
            </a:endParaRPr>
          </a:p>
        </p:txBody>
      </p:sp>
      <p:grpSp>
        <p:nvGrpSpPr>
          <p:cNvPr id="12" name="Groupe 11">
            <a:extLst>
              <a:ext uri="{FF2B5EF4-FFF2-40B4-BE49-F238E27FC236}">
                <a16:creationId xmlns:a16="http://schemas.microsoft.com/office/drawing/2014/main" id="{6EC020AE-55A3-5A45-B09E-7FEE81FB2355}"/>
              </a:ext>
            </a:extLst>
          </p:cNvPr>
          <p:cNvGrpSpPr/>
          <p:nvPr/>
        </p:nvGrpSpPr>
        <p:grpSpPr>
          <a:xfrm>
            <a:off x="8439267" y="4061826"/>
            <a:ext cx="1243175" cy="1284270"/>
            <a:chOff x="5003513" y="3463020"/>
            <a:chExt cx="1243175" cy="1284270"/>
          </a:xfrm>
        </p:grpSpPr>
        <p:sp>
          <p:nvSpPr>
            <p:cNvPr id="13" name="Rectangle 12">
              <a:extLst>
                <a:ext uri="{FF2B5EF4-FFF2-40B4-BE49-F238E27FC236}">
                  <a16:creationId xmlns:a16="http://schemas.microsoft.com/office/drawing/2014/main" id="{56255149-EEC5-974C-9BD8-27729BD11937}"/>
                </a:ext>
              </a:extLst>
            </p:cNvPr>
            <p:cNvSpPr/>
            <p:nvPr/>
          </p:nvSpPr>
          <p:spPr>
            <a:xfrm>
              <a:off x="5003513" y="3463020"/>
              <a:ext cx="1243175" cy="128427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4" name="Rectangle 13">
              <a:extLst>
                <a:ext uri="{FF2B5EF4-FFF2-40B4-BE49-F238E27FC236}">
                  <a16:creationId xmlns:a16="http://schemas.microsoft.com/office/drawing/2014/main" id="{31239ED2-3182-0F4B-93E9-02AE4FFEDF15}"/>
                </a:ext>
              </a:extLst>
            </p:cNvPr>
            <p:cNvSpPr/>
            <p:nvPr/>
          </p:nvSpPr>
          <p:spPr>
            <a:xfrm>
              <a:off x="5188449" y="3627407"/>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latin typeface="Consolas" panose="020B0609020204030204" pitchFamily="49" charset="0"/>
                  <a:cs typeface="Consolas" panose="020B0609020204030204" pitchFamily="49" charset="0"/>
                </a:rPr>
                <a:t>Object</a:t>
              </a:r>
            </a:p>
          </p:txBody>
        </p:sp>
        <p:sp>
          <p:nvSpPr>
            <p:cNvPr id="15" name="Rectangle 14">
              <a:extLst>
                <a:ext uri="{FF2B5EF4-FFF2-40B4-BE49-F238E27FC236}">
                  <a16:creationId xmlns:a16="http://schemas.microsoft.com/office/drawing/2014/main" id="{6ED92B5E-AC08-AA40-B080-C70A0F745C37}"/>
                </a:ext>
              </a:extLst>
            </p:cNvPr>
            <p:cNvSpPr/>
            <p:nvPr/>
          </p:nvSpPr>
          <p:spPr>
            <a:xfrm>
              <a:off x="5188449" y="4129871"/>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latin typeface="Consolas" panose="020B0609020204030204" pitchFamily="49" charset="0"/>
                  <a:cs typeface="Consolas" panose="020B0609020204030204" pitchFamily="49" charset="0"/>
                </a:rPr>
                <a:t>Object</a:t>
              </a:r>
            </a:p>
          </p:txBody>
        </p:sp>
      </p:grpSp>
      <p:grpSp>
        <p:nvGrpSpPr>
          <p:cNvPr id="16" name="Groupe 15">
            <a:extLst>
              <a:ext uri="{FF2B5EF4-FFF2-40B4-BE49-F238E27FC236}">
                <a16:creationId xmlns:a16="http://schemas.microsoft.com/office/drawing/2014/main" id="{CC798948-6464-CA42-94FD-4401BDA0ADED}"/>
              </a:ext>
            </a:extLst>
          </p:cNvPr>
          <p:cNvGrpSpPr/>
          <p:nvPr/>
        </p:nvGrpSpPr>
        <p:grpSpPr>
          <a:xfrm>
            <a:off x="8439267" y="5520756"/>
            <a:ext cx="1243175" cy="1284270"/>
            <a:chOff x="5003513" y="4921950"/>
            <a:chExt cx="1243175" cy="1284270"/>
          </a:xfrm>
        </p:grpSpPr>
        <p:sp>
          <p:nvSpPr>
            <p:cNvPr id="17" name="Rectangle 16">
              <a:extLst>
                <a:ext uri="{FF2B5EF4-FFF2-40B4-BE49-F238E27FC236}">
                  <a16:creationId xmlns:a16="http://schemas.microsoft.com/office/drawing/2014/main" id="{AC71604B-AD90-734D-BA9C-DA9FD9BA3369}"/>
                </a:ext>
              </a:extLst>
            </p:cNvPr>
            <p:cNvSpPr/>
            <p:nvPr/>
          </p:nvSpPr>
          <p:spPr>
            <a:xfrm>
              <a:off x="5003513" y="4921950"/>
              <a:ext cx="1243175" cy="128427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Rectangle 17">
              <a:extLst>
                <a:ext uri="{FF2B5EF4-FFF2-40B4-BE49-F238E27FC236}">
                  <a16:creationId xmlns:a16="http://schemas.microsoft.com/office/drawing/2014/main" id="{9C878C08-63BC-7740-9AC1-15016A2E8BDF}"/>
                </a:ext>
              </a:extLst>
            </p:cNvPr>
            <p:cNvSpPr/>
            <p:nvPr/>
          </p:nvSpPr>
          <p:spPr>
            <a:xfrm>
              <a:off x="5188449" y="5076063"/>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400" dirty="0" err="1">
                  <a:latin typeface="Consolas" panose="020B0609020204030204" pitchFamily="49" charset="0"/>
                  <a:cs typeface="Consolas" panose="020B0609020204030204" pitchFamily="49" charset="0"/>
                </a:rPr>
                <a:t>Integer</a:t>
              </a:r>
              <a:endParaRPr lang="fr-FR" sz="1400" dirty="0">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6BDE2585-FAAE-7E40-B6BF-31B9FDA060C9}"/>
                </a:ext>
              </a:extLst>
            </p:cNvPr>
            <p:cNvSpPr/>
            <p:nvPr/>
          </p:nvSpPr>
          <p:spPr>
            <a:xfrm>
              <a:off x="5188449" y="5578527"/>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400">
                  <a:latin typeface="Consolas" panose="020B0609020204030204" pitchFamily="49" charset="0"/>
                  <a:cs typeface="Consolas" panose="020B0609020204030204" pitchFamily="49" charset="0"/>
                </a:rPr>
                <a:t>Integer</a:t>
              </a:r>
              <a:endParaRPr lang="fr-FR" sz="1400" dirty="0">
                <a:latin typeface="Consolas" panose="020B0609020204030204" pitchFamily="49" charset="0"/>
                <a:cs typeface="Consolas" panose="020B0609020204030204" pitchFamily="49" charset="0"/>
              </a:endParaRPr>
            </a:p>
          </p:txBody>
        </p:sp>
      </p:grpSp>
      <p:sp>
        <p:nvSpPr>
          <p:cNvPr id="20" name="Bulle rectangulaire 19">
            <a:extLst>
              <a:ext uri="{FF2B5EF4-FFF2-40B4-BE49-F238E27FC236}">
                <a16:creationId xmlns:a16="http://schemas.microsoft.com/office/drawing/2014/main" id="{0AE59556-F40E-C34E-8ED0-51A5E5CA218A}"/>
              </a:ext>
            </a:extLst>
          </p:cNvPr>
          <p:cNvSpPr/>
          <p:nvPr/>
        </p:nvSpPr>
        <p:spPr>
          <a:xfrm>
            <a:off x="6221102" y="4226213"/>
            <a:ext cx="660114" cy="507870"/>
          </a:xfrm>
          <a:prstGeom prst="wedgeRectCallout">
            <a:avLst>
              <a:gd name="adj1" fmla="val 287203"/>
              <a:gd name="adj2" fmla="val -1842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err="1">
                <a:solidFill>
                  <a:schemeClr val="tx1"/>
                </a:solidFill>
                <a:latin typeface="Consolas" panose="020B0609020204030204" pitchFamily="49" charset="0"/>
                <a:cs typeface="Consolas" panose="020B0609020204030204" pitchFamily="49" charset="0"/>
              </a:rPr>
              <a:t>co</a:t>
            </a:r>
            <a:endParaRPr lang="fr-FR" dirty="0"/>
          </a:p>
        </p:txBody>
      </p:sp>
      <p:sp>
        <p:nvSpPr>
          <p:cNvPr id="21" name="Bulle rectangulaire 20">
            <a:extLst>
              <a:ext uri="{FF2B5EF4-FFF2-40B4-BE49-F238E27FC236}">
                <a16:creationId xmlns:a16="http://schemas.microsoft.com/office/drawing/2014/main" id="{6757CC39-3AE0-A645-A7D2-CE23547A9D10}"/>
              </a:ext>
            </a:extLst>
          </p:cNvPr>
          <p:cNvSpPr/>
          <p:nvPr/>
        </p:nvSpPr>
        <p:spPr>
          <a:xfrm>
            <a:off x="6221102" y="5685143"/>
            <a:ext cx="660114" cy="507870"/>
          </a:xfrm>
          <a:prstGeom prst="wedgeRectCallout">
            <a:avLst>
              <a:gd name="adj1" fmla="val 284090"/>
              <a:gd name="adj2" fmla="val -1842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Consolas" panose="020B0609020204030204" pitchFamily="49" charset="0"/>
                <a:cs typeface="Consolas" panose="020B0609020204030204" pitchFamily="49" charset="0"/>
              </a:rPr>
              <a:t>ci</a:t>
            </a:r>
            <a:endParaRPr lang="fr-FR" dirty="0"/>
          </a:p>
        </p:txBody>
      </p:sp>
      <p:sp>
        <p:nvSpPr>
          <p:cNvPr id="22" name="Bulle rectangulaire 21">
            <a:extLst>
              <a:ext uri="{FF2B5EF4-FFF2-40B4-BE49-F238E27FC236}">
                <a16:creationId xmlns:a16="http://schemas.microsoft.com/office/drawing/2014/main" id="{BD4838B5-305C-3B45-A6A4-663AB4F97442}"/>
              </a:ext>
            </a:extLst>
          </p:cNvPr>
          <p:cNvSpPr/>
          <p:nvPr/>
        </p:nvSpPr>
        <p:spPr>
          <a:xfrm>
            <a:off x="6221102" y="4226913"/>
            <a:ext cx="660114" cy="507870"/>
          </a:xfrm>
          <a:prstGeom prst="wedgeRectCallout">
            <a:avLst>
              <a:gd name="adj1" fmla="val 285647"/>
              <a:gd name="adj2" fmla="val 2385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err="1">
                <a:solidFill>
                  <a:schemeClr val="tx1"/>
                </a:solidFill>
                <a:latin typeface="Consolas" panose="020B0609020204030204" pitchFamily="49" charset="0"/>
                <a:cs typeface="Consolas" panose="020B0609020204030204" pitchFamily="49" charset="0"/>
              </a:rPr>
              <a:t>co</a:t>
            </a:r>
            <a:endParaRPr lang="fr-FR" dirty="0"/>
          </a:p>
        </p:txBody>
      </p:sp>
      <p:sp>
        <p:nvSpPr>
          <p:cNvPr id="23" name="Rectangle 22">
            <a:extLst>
              <a:ext uri="{FF2B5EF4-FFF2-40B4-BE49-F238E27FC236}">
                <a16:creationId xmlns:a16="http://schemas.microsoft.com/office/drawing/2014/main" id="{4AEF5132-BB88-D340-AD05-FFCFEFD91C5B}"/>
              </a:ext>
            </a:extLst>
          </p:cNvPr>
          <p:cNvSpPr/>
          <p:nvPr/>
        </p:nvSpPr>
        <p:spPr>
          <a:xfrm>
            <a:off x="4298221" y="4274515"/>
            <a:ext cx="1957587" cy="369332"/>
          </a:xfrm>
          <a:prstGeom prst="rect">
            <a:avLst/>
          </a:prstGeom>
        </p:spPr>
        <p:txBody>
          <a:bodyPr wrap="none">
            <a:spAutoFit/>
          </a:bodyPr>
          <a:lstStyle/>
          <a:p>
            <a:r>
              <a:rPr lang="fr-FR" b="1" dirty="0">
                <a:solidFill>
                  <a:schemeClr val="accent4"/>
                </a:solidFill>
                <a:latin typeface="Consolas"/>
                <a:cs typeface="Consolas"/>
              </a:rPr>
              <a:t>Couple&lt;Object&gt;</a:t>
            </a:r>
            <a:endParaRPr lang="fr-FR" b="1" dirty="0">
              <a:solidFill>
                <a:schemeClr val="accent4"/>
              </a:solidFill>
            </a:endParaRPr>
          </a:p>
        </p:txBody>
      </p:sp>
      <p:sp>
        <p:nvSpPr>
          <p:cNvPr id="24" name="Rectangle 23">
            <a:extLst>
              <a:ext uri="{FF2B5EF4-FFF2-40B4-BE49-F238E27FC236}">
                <a16:creationId xmlns:a16="http://schemas.microsoft.com/office/drawing/2014/main" id="{B7D94847-617E-A94F-AF0F-6BFBEAFE4471}"/>
              </a:ext>
            </a:extLst>
          </p:cNvPr>
          <p:cNvSpPr/>
          <p:nvPr/>
        </p:nvSpPr>
        <p:spPr>
          <a:xfrm>
            <a:off x="4164659" y="5743719"/>
            <a:ext cx="2084225" cy="369332"/>
          </a:xfrm>
          <a:prstGeom prst="rect">
            <a:avLst/>
          </a:prstGeom>
        </p:spPr>
        <p:txBody>
          <a:bodyPr wrap="none">
            <a:spAutoFit/>
          </a:bodyPr>
          <a:lstStyle/>
          <a:p>
            <a:r>
              <a:rPr lang="fr-FR" b="1" dirty="0">
                <a:solidFill>
                  <a:schemeClr val="accent4"/>
                </a:solidFill>
                <a:latin typeface="Consolas"/>
                <a:cs typeface="Consolas"/>
              </a:rPr>
              <a:t>Couple&lt;</a:t>
            </a:r>
            <a:r>
              <a:rPr lang="fr-FR" b="1" dirty="0" err="1">
                <a:solidFill>
                  <a:schemeClr val="accent4"/>
                </a:solidFill>
                <a:latin typeface="Consolas"/>
                <a:cs typeface="Consolas"/>
              </a:rPr>
              <a:t>Integer</a:t>
            </a:r>
            <a:r>
              <a:rPr lang="fr-FR" b="1" dirty="0">
                <a:solidFill>
                  <a:schemeClr val="accent4"/>
                </a:solidFill>
                <a:latin typeface="Consolas"/>
                <a:cs typeface="Consolas"/>
              </a:rPr>
              <a:t>&gt;</a:t>
            </a:r>
            <a:endParaRPr lang="fr-FR" b="1" dirty="0">
              <a:solidFill>
                <a:schemeClr val="accent4"/>
              </a:solidFill>
            </a:endParaRPr>
          </a:p>
        </p:txBody>
      </p:sp>
      <p:sp>
        <p:nvSpPr>
          <p:cNvPr id="25" name="Rectangle 24">
            <a:extLst>
              <a:ext uri="{FF2B5EF4-FFF2-40B4-BE49-F238E27FC236}">
                <a16:creationId xmlns:a16="http://schemas.microsoft.com/office/drawing/2014/main" id="{0495CBDF-F623-234D-8924-CA7790850432}"/>
              </a:ext>
            </a:extLst>
          </p:cNvPr>
          <p:cNvSpPr/>
          <p:nvPr/>
        </p:nvSpPr>
        <p:spPr>
          <a:xfrm>
            <a:off x="8624202" y="5658488"/>
            <a:ext cx="914400" cy="380144"/>
          </a:xfrm>
          <a:prstGeom prst="rect">
            <a:avLst/>
          </a:prstGeom>
          <a:solidFill>
            <a:srgbClr val="FF0000"/>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latin typeface="Consolas" panose="020B0609020204030204" pitchFamily="49" charset="0"/>
                <a:cs typeface="Consolas" panose="020B0609020204030204" pitchFamily="49" charset="0"/>
              </a:rPr>
              <a:t>Object</a:t>
            </a:r>
          </a:p>
        </p:txBody>
      </p:sp>
      <p:sp>
        <p:nvSpPr>
          <p:cNvPr id="7" name="ZoneTexte 6">
            <a:extLst>
              <a:ext uri="{FF2B5EF4-FFF2-40B4-BE49-F238E27FC236}">
                <a16:creationId xmlns:a16="http://schemas.microsoft.com/office/drawing/2014/main" id="{C79E18C6-6000-530C-92FB-AD0F4D8D7C30}"/>
              </a:ext>
            </a:extLst>
          </p:cNvPr>
          <p:cNvSpPr txBox="1"/>
          <p:nvPr/>
        </p:nvSpPr>
        <p:spPr>
          <a:xfrm>
            <a:off x="1221180" y="2319715"/>
            <a:ext cx="7971182" cy="369332"/>
          </a:xfrm>
          <a:prstGeom prst="rect">
            <a:avLst/>
          </a:prstGeom>
          <a:noFill/>
        </p:spPr>
        <p:txBody>
          <a:bodyPr wrap="square">
            <a:spAutoFit/>
          </a:bodyPr>
          <a:lstStyle/>
          <a:p>
            <a:pPr marL="0" indent="0">
              <a:buNone/>
            </a:pPr>
            <a:r>
              <a:rPr lang="fr-FR" sz="1800" dirty="0" err="1">
                <a:solidFill>
                  <a:schemeClr val="accent4"/>
                </a:solidFill>
                <a:latin typeface="Consolas"/>
                <a:cs typeface="Consolas"/>
              </a:rPr>
              <a:t>co</a:t>
            </a:r>
            <a:r>
              <a:rPr lang="fr-FR" sz="1800" dirty="0">
                <a:solidFill>
                  <a:schemeClr val="accent4"/>
                </a:solidFill>
                <a:latin typeface="Consolas"/>
                <a:cs typeface="Consolas"/>
              </a:rPr>
              <a:t> = ci;</a:t>
            </a:r>
            <a:r>
              <a:rPr lang="fr-FR" sz="1800" dirty="0">
                <a:solidFill>
                  <a:srgbClr val="A6082B"/>
                </a:solidFill>
                <a:latin typeface="Consolas"/>
                <a:cs typeface="Consolas"/>
              </a:rPr>
              <a:t> </a:t>
            </a:r>
            <a:r>
              <a:rPr lang="fr-FR" sz="1800" dirty="0">
                <a:solidFill>
                  <a:schemeClr val="bg1">
                    <a:lumMod val="50000"/>
                  </a:schemeClr>
                </a:solidFill>
                <a:latin typeface="Consolas"/>
                <a:cs typeface="Consolas"/>
              </a:rPr>
              <a:t>//puisqu’un Couple d’Entier serait un Couple d’Object</a:t>
            </a:r>
          </a:p>
        </p:txBody>
      </p:sp>
      <p:sp>
        <p:nvSpPr>
          <p:cNvPr id="9" name="ZoneTexte 8">
            <a:extLst>
              <a:ext uri="{FF2B5EF4-FFF2-40B4-BE49-F238E27FC236}">
                <a16:creationId xmlns:a16="http://schemas.microsoft.com/office/drawing/2014/main" id="{1B5D8ACC-6155-127E-3D66-0FE58AC2CD17}"/>
              </a:ext>
            </a:extLst>
          </p:cNvPr>
          <p:cNvSpPr txBox="1"/>
          <p:nvPr/>
        </p:nvSpPr>
        <p:spPr>
          <a:xfrm>
            <a:off x="838200" y="2772856"/>
            <a:ext cx="6098650" cy="400110"/>
          </a:xfrm>
          <a:prstGeom prst="rect">
            <a:avLst/>
          </a:prstGeom>
          <a:noFill/>
        </p:spPr>
        <p:txBody>
          <a:bodyPr wrap="square">
            <a:spAutoFit/>
          </a:bodyPr>
          <a:lstStyle/>
          <a:p>
            <a:pPr marL="0" indent="0">
              <a:buNone/>
            </a:pPr>
            <a:r>
              <a:rPr lang="fr-FR" sz="2000" dirty="0"/>
              <a:t>On pourrait alors aussi écrire:</a:t>
            </a:r>
          </a:p>
        </p:txBody>
      </p:sp>
      <p:sp>
        <p:nvSpPr>
          <p:cNvPr id="11" name="ZoneTexte 10">
            <a:extLst>
              <a:ext uri="{FF2B5EF4-FFF2-40B4-BE49-F238E27FC236}">
                <a16:creationId xmlns:a16="http://schemas.microsoft.com/office/drawing/2014/main" id="{0D3556A5-2A63-389A-A556-3A93513A549A}"/>
              </a:ext>
            </a:extLst>
          </p:cNvPr>
          <p:cNvSpPr txBox="1"/>
          <p:nvPr/>
        </p:nvSpPr>
        <p:spPr>
          <a:xfrm>
            <a:off x="1221180" y="3157064"/>
            <a:ext cx="9147321" cy="369332"/>
          </a:xfrm>
          <a:prstGeom prst="rect">
            <a:avLst/>
          </a:prstGeom>
          <a:noFill/>
        </p:spPr>
        <p:txBody>
          <a:bodyPr wrap="square">
            <a:spAutoFit/>
          </a:bodyPr>
          <a:lstStyle/>
          <a:p>
            <a:pPr marL="0" indent="0">
              <a:buNone/>
            </a:pPr>
            <a:r>
              <a:rPr lang="fr-FR" sz="1800" dirty="0" err="1">
                <a:solidFill>
                  <a:schemeClr val="accent4"/>
                </a:solidFill>
                <a:latin typeface="Consolas"/>
                <a:cs typeface="Consolas"/>
              </a:rPr>
              <a:t>co.setPremier</a:t>
            </a:r>
            <a:r>
              <a:rPr lang="fr-FR" sz="1800" dirty="0">
                <a:solidFill>
                  <a:schemeClr val="accent4"/>
                </a:solidFill>
                <a:latin typeface="Consolas"/>
                <a:cs typeface="Consolas"/>
              </a:rPr>
              <a:t>(o1);</a:t>
            </a:r>
            <a:r>
              <a:rPr lang="fr-FR" sz="1800" dirty="0">
                <a:solidFill>
                  <a:srgbClr val="A6082B"/>
                </a:solidFill>
                <a:latin typeface="Consolas"/>
                <a:cs typeface="Consolas"/>
              </a:rPr>
              <a:t> </a:t>
            </a:r>
            <a:r>
              <a:rPr lang="fr-FR" sz="1800" dirty="0">
                <a:solidFill>
                  <a:schemeClr val="bg1">
                    <a:lumMod val="50000"/>
                  </a:schemeClr>
                </a:solidFill>
                <a:latin typeface="Consolas"/>
                <a:cs typeface="Consolas"/>
              </a:rPr>
              <a:t>//puisqu’un Couple d’Object contient des Object</a:t>
            </a:r>
            <a:endParaRPr lang="fr-FR" sz="1800" dirty="0"/>
          </a:p>
        </p:txBody>
      </p:sp>
      <p:sp>
        <p:nvSpPr>
          <p:cNvPr id="27" name="ZoneTexte 26">
            <a:extLst>
              <a:ext uri="{FF2B5EF4-FFF2-40B4-BE49-F238E27FC236}">
                <a16:creationId xmlns:a16="http://schemas.microsoft.com/office/drawing/2014/main" id="{232B80A7-98E5-F85C-5087-DD88B47F7568}"/>
              </a:ext>
            </a:extLst>
          </p:cNvPr>
          <p:cNvSpPr txBox="1"/>
          <p:nvPr/>
        </p:nvSpPr>
        <p:spPr>
          <a:xfrm>
            <a:off x="838200" y="3627145"/>
            <a:ext cx="10515600" cy="400110"/>
          </a:xfrm>
          <a:prstGeom prst="rect">
            <a:avLst/>
          </a:prstGeom>
          <a:noFill/>
        </p:spPr>
        <p:txBody>
          <a:bodyPr wrap="square">
            <a:spAutoFit/>
          </a:bodyPr>
          <a:lstStyle/>
          <a:p>
            <a:pPr marL="0" indent="0">
              <a:buNone/>
            </a:pPr>
            <a:r>
              <a:rPr lang="fr-FR" sz="2000" dirty="0"/>
              <a:t>Ce qui conduirait à cette </a:t>
            </a:r>
            <a:r>
              <a:rPr lang="fr-FR" sz="2000" dirty="0">
                <a:solidFill>
                  <a:schemeClr val="accent4"/>
                </a:solidFill>
              </a:rPr>
              <a:t>situation impossible</a:t>
            </a:r>
            <a:r>
              <a:rPr lang="fr-FR" sz="2000" dirty="0"/>
              <a:t> (un </a:t>
            </a:r>
            <a:r>
              <a:rPr lang="fr-FR" dirty="0">
                <a:solidFill>
                  <a:schemeClr val="accent4"/>
                </a:solidFill>
                <a:latin typeface="Consolas"/>
                <a:cs typeface="Consolas"/>
              </a:rPr>
              <a:t>Couple&lt;Integer&gt;</a:t>
            </a:r>
            <a:r>
              <a:rPr lang="fr-FR" sz="2000" dirty="0"/>
              <a:t> qui contient un non </a:t>
            </a:r>
            <a:r>
              <a:rPr lang="fr-FR" dirty="0">
                <a:solidFill>
                  <a:schemeClr val="accent4"/>
                </a:solidFill>
                <a:latin typeface="Consolas"/>
                <a:cs typeface="Consolas"/>
              </a:rPr>
              <a:t>Integer</a:t>
            </a:r>
            <a:r>
              <a:rPr lang="fr-FR" sz="2000" dirty="0"/>
              <a:t>)</a:t>
            </a:r>
          </a:p>
        </p:txBody>
      </p:sp>
    </p:spTree>
    <p:extLst>
      <p:ext uri="{BB962C8B-B14F-4D97-AF65-F5344CB8AC3E}">
        <p14:creationId xmlns:p14="http://schemas.microsoft.com/office/powerpoint/2010/main" val="3324197896"/>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750"/>
                                        <p:tgtEl>
                                          <p:spTgt spid="20"/>
                                        </p:tgtEl>
                                      </p:cBhvr>
                                    </p:animEffect>
                                    <p:set>
                                      <p:cBhvr>
                                        <p:cTn id="12" dur="1" fill="hold">
                                          <p:stCondLst>
                                            <p:cond delay="749"/>
                                          </p:stCondLst>
                                        </p:cTn>
                                        <p:tgtEl>
                                          <p:spTgt spid="20"/>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75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P spid="25" grpId="0" animBg="1"/>
      <p:bldP spid="7" grpId="0"/>
      <p:bldP spid="9" grpId="0"/>
      <p:bldP spid="11" grpId="0"/>
      <p:bldP spid="27"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Un cas particulier…</a:t>
            </a:r>
          </a:p>
        </p:txBody>
      </p:sp>
      <p:sp>
        <p:nvSpPr>
          <p:cNvPr id="5" name="Espace réservé du contenu 4"/>
          <p:cNvSpPr>
            <a:spLocks noGrp="1"/>
          </p:cNvSpPr>
          <p:nvPr>
            <p:ph idx="1"/>
          </p:nvPr>
        </p:nvSpPr>
        <p:spPr/>
        <p:txBody>
          <a:bodyPr>
            <a:normAutofit/>
          </a:bodyPr>
          <a:lstStyle/>
          <a:p>
            <a:pPr marL="0" indent="0">
              <a:buNone/>
            </a:pPr>
            <a:r>
              <a:rPr lang="fr-FR" dirty="0"/>
              <a:t>Pour cette raison, les concepteurs de Java ont décidé que </a:t>
            </a:r>
          </a:p>
          <a:p>
            <a:pPr marL="0" indent="0">
              <a:buNone/>
            </a:pPr>
            <a:r>
              <a:rPr lang="fr-FR" dirty="0"/>
              <a:t>    </a:t>
            </a:r>
          </a:p>
          <a:p>
            <a:pPr marL="0" indent="0">
              <a:buNone/>
            </a:pPr>
            <a:r>
              <a:rPr lang="fr-FR" dirty="0"/>
              <a:t>      même si </a:t>
            </a:r>
            <a:r>
              <a:rPr lang="fr-FR" dirty="0">
                <a:solidFill>
                  <a:schemeClr val="accent4"/>
                </a:solidFill>
                <a:latin typeface="Consolas"/>
                <a:cs typeface="Consolas"/>
              </a:rPr>
              <a:t>T'</a:t>
            </a:r>
            <a:r>
              <a:rPr lang="fr-FR" dirty="0"/>
              <a:t> hérite de </a:t>
            </a:r>
            <a:r>
              <a:rPr lang="fr-FR" dirty="0" err="1">
                <a:solidFill>
                  <a:schemeClr val="accent4"/>
                </a:solidFill>
                <a:latin typeface="Consolas"/>
                <a:cs typeface="Consolas"/>
              </a:rPr>
              <a:t>T</a:t>
            </a:r>
            <a:r>
              <a:rPr lang="fr-FR" dirty="0"/>
              <a:t>, </a:t>
            </a:r>
          </a:p>
          <a:p>
            <a:pPr marL="0" indent="0">
              <a:buNone/>
            </a:pPr>
            <a:r>
              <a:rPr lang="fr-FR" dirty="0">
                <a:solidFill>
                  <a:srgbClr val="A6082B"/>
                </a:solidFill>
                <a:latin typeface="Consolas"/>
                <a:cs typeface="Consolas"/>
              </a:rPr>
              <a:t>  </a:t>
            </a:r>
          </a:p>
          <a:p>
            <a:pPr marL="0" indent="0">
              <a:buNone/>
            </a:pPr>
            <a:r>
              <a:rPr lang="fr-FR" dirty="0">
                <a:solidFill>
                  <a:srgbClr val="A6082B"/>
                </a:solidFill>
                <a:latin typeface="Consolas"/>
                <a:cs typeface="Consolas"/>
              </a:rPr>
              <a:t>      </a:t>
            </a:r>
            <a:r>
              <a:rPr lang="fr-FR" dirty="0">
                <a:solidFill>
                  <a:schemeClr val="accent4"/>
                </a:solidFill>
                <a:latin typeface="Consolas"/>
                <a:cs typeface="Consolas"/>
              </a:rPr>
              <a:t>C&lt;T'&gt;</a:t>
            </a:r>
            <a:r>
              <a:rPr lang="fr-FR" dirty="0"/>
              <a:t> n'hérite pas de </a:t>
            </a:r>
            <a:r>
              <a:rPr lang="fr-FR" dirty="0">
                <a:solidFill>
                  <a:schemeClr val="accent4"/>
                </a:solidFill>
                <a:latin typeface="Consolas"/>
                <a:cs typeface="Consolas"/>
              </a:rPr>
              <a:t>C&lt;</a:t>
            </a:r>
            <a:r>
              <a:rPr lang="fr-FR" dirty="0" err="1">
                <a:solidFill>
                  <a:schemeClr val="accent4"/>
                </a:solidFill>
                <a:latin typeface="Consolas"/>
                <a:cs typeface="Consolas"/>
              </a:rPr>
              <a:t>T</a:t>
            </a:r>
            <a:r>
              <a:rPr lang="fr-FR" dirty="0">
                <a:solidFill>
                  <a:schemeClr val="accent4"/>
                </a:solidFill>
                <a:latin typeface="Consolas"/>
                <a:cs typeface="Consolas"/>
              </a:rPr>
              <a:t>&gt;</a:t>
            </a:r>
            <a:r>
              <a:rPr lang="fr-FR" dirty="0"/>
              <a:t>.</a:t>
            </a:r>
          </a:p>
        </p:txBody>
      </p:sp>
    </p:spTree>
    <p:extLst>
      <p:ext uri="{BB962C8B-B14F-4D97-AF65-F5344CB8AC3E}">
        <p14:creationId xmlns:p14="http://schemas.microsoft.com/office/powerpoint/2010/main" val="491641821"/>
      </p:ext>
    </p:extLst>
  </p:cSld>
  <p:clrMapOvr>
    <a:masterClrMapping/>
  </p:clrMapOvr>
  <p:transition>
    <p:push dir="u"/>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Solution: les Jokers (</a:t>
            </a:r>
            <a:r>
              <a:rPr lang="fr-FR" dirty="0" err="1"/>
              <a:t>wildcards</a:t>
            </a:r>
            <a:r>
              <a:rPr lang="fr-FR" dirty="0"/>
              <a:t>)</a:t>
            </a:r>
          </a:p>
        </p:txBody>
      </p:sp>
      <p:sp>
        <p:nvSpPr>
          <p:cNvPr id="5" name="Espace réservé du contenu 4"/>
          <p:cNvSpPr>
            <a:spLocks noGrp="1"/>
          </p:cNvSpPr>
          <p:nvPr>
            <p:ph idx="1"/>
          </p:nvPr>
        </p:nvSpPr>
        <p:spPr>
          <a:xfrm>
            <a:off x="838200" y="1825625"/>
            <a:ext cx="10515600" cy="1325563"/>
          </a:xfrm>
        </p:spPr>
        <p:txBody>
          <a:bodyPr>
            <a:normAutofit/>
          </a:bodyPr>
          <a:lstStyle/>
          <a:p>
            <a:pPr marL="0" indent="0">
              <a:buNone/>
            </a:pPr>
            <a:r>
              <a:rPr lang="fr-FR" sz="2200" dirty="0"/>
              <a:t>Problème: cela étant, comment passer une </a:t>
            </a:r>
            <a:r>
              <a:rPr lang="fr-FR" sz="1900" dirty="0">
                <a:solidFill>
                  <a:schemeClr val="accent4"/>
                </a:solidFill>
                <a:latin typeface="Consolas"/>
                <a:cs typeface="Consolas"/>
              </a:rPr>
              <a:t>List&lt;</a:t>
            </a:r>
            <a:r>
              <a:rPr lang="fr-FR" sz="1900" dirty="0" err="1">
                <a:solidFill>
                  <a:schemeClr val="accent4"/>
                </a:solidFill>
                <a:latin typeface="Consolas"/>
                <a:cs typeface="Consolas"/>
              </a:rPr>
              <a:t>VoitureSansPermis</a:t>
            </a:r>
            <a:r>
              <a:rPr lang="fr-FR" sz="1900" dirty="0">
                <a:solidFill>
                  <a:schemeClr val="accent4"/>
                </a:solidFill>
                <a:latin typeface="Consolas"/>
                <a:cs typeface="Consolas"/>
              </a:rPr>
              <a:t>&gt;</a:t>
            </a:r>
            <a:r>
              <a:rPr lang="fr-FR" sz="2200" dirty="0"/>
              <a:t> à une méthode qui prend en paramètre une </a:t>
            </a:r>
            <a:r>
              <a:rPr lang="fr-FR" sz="1900" dirty="0">
                <a:solidFill>
                  <a:schemeClr val="accent4"/>
                </a:solidFill>
                <a:latin typeface="Consolas"/>
                <a:cs typeface="Consolas"/>
              </a:rPr>
              <a:t>List&lt;Voiture&gt;</a:t>
            </a:r>
            <a:r>
              <a:rPr lang="fr-FR" sz="2200" dirty="0"/>
              <a:t> (sachant que </a:t>
            </a:r>
            <a:r>
              <a:rPr lang="fr-FR" sz="1900" dirty="0" err="1">
                <a:solidFill>
                  <a:schemeClr val="accent4"/>
                </a:solidFill>
                <a:latin typeface="Consolas"/>
                <a:cs typeface="Consolas"/>
              </a:rPr>
              <a:t>VoitureSansPermis</a:t>
            </a:r>
            <a:r>
              <a:rPr lang="fr-FR" sz="2200" dirty="0">
                <a:solidFill>
                  <a:schemeClr val="accent4"/>
                </a:solidFill>
              </a:rPr>
              <a:t> </a:t>
            </a:r>
            <a:r>
              <a:rPr lang="fr-FR" sz="1900" dirty="0" err="1">
                <a:solidFill>
                  <a:schemeClr val="accent4"/>
                </a:solidFill>
                <a:latin typeface="Consolas"/>
                <a:cs typeface="Consolas"/>
              </a:rPr>
              <a:t>extends</a:t>
            </a:r>
            <a:r>
              <a:rPr lang="fr-FR" sz="2200" dirty="0">
                <a:solidFill>
                  <a:schemeClr val="accent4"/>
                </a:solidFill>
              </a:rPr>
              <a:t> </a:t>
            </a:r>
            <a:r>
              <a:rPr lang="fr-FR" sz="1900" dirty="0">
                <a:solidFill>
                  <a:schemeClr val="accent4"/>
                </a:solidFill>
                <a:latin typeface="Consolas"/>
                <a:cs typeface="Consolas"/>
              </a:rPr>
              <a:t>Voiture</a:t>
            </a:r>
            <a:r>
              <a:rPr lang="fr-FR" sz="2200" dirty="0"/>
              <a:t>)?</a:t>
            </a:r>
          </a:p>
          <a:p>
            <a:pPr marL="0" indent="0">
              <a:lnSpc>
                <a:spcPct val="80000"/>
              </a:lnSpc>
              <a:buNone/>
            </a:pPr>
            <a:endParaRPr lang="fr-FR" sz="1400" dirty="0"/>
          </a:p>
          <a:p>
            <a:pPr marL="0" indent="0">
              <a:lnSpc>
                <a:spcPct val="80000"/>
              </a:lnSpc>
              <a:buNone/>
            </a:pPr>
            <a:endParaRPr lang="fr-FR" sz="1400" i="1" dirty="0">
              <a:solidFill>
                <a:schemeClr val="accent2"/>
              </a:solidFill>
            </a:endParaRPr>
          </a:p>
          <a:p>
            <a:pPr marL="0" indent="0">
              <a:buNone/>
            </a:pPr>
            <a:endParaRPr lang="fr-FR" sz="1400" dirty="0">
              <a:latin typeface="Consolas"/>
              <a:cs typeface="Consolas"/>
            </a:endParaRPr>
          </a:p>
        </p:txBody>
      </p:sp>
      <p:sp>
        <p:nvSpPr>
          <p:cNvPr id="7" name="ZoneTexte 6">
            <a:extLst>
              <a:ext uri="{FF2B5EF4-FFF2-40B4-BE49-F238E27FC236}">
                <a16:creationId xmlns:a16="http://schemas.microsoft.com/office/drawing/2014/main" id="{20B929CC-1690-FF19-C34E-7F10D724793B}"/>
              </a:ext>
            </a:extLst>
          </p:cNvPr>
          <p:cNvSpPr txBox="1"/>
          <p:nvPr/>
        </p:nvSpPr>
        <p:spPr>
          <a:xfrm>
            <a:off x="1484243" y="3151188"/>
            <a:ext cx="9997440" cy="2031325"/>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public </a:t>
            </a:r>
            <a:r>
              <a:rPr lang="fr-BE" dirty="0" err="1">
                <a:solidFill>
                  <a:srgbClr val="CC7832"/>
                </a:solidFill>
                <a:effectLst/>
                <a:latin typeface="Consolas" panose="020B0609020204030204" pitchFamily="49" charset="0"/>
                <a:cs typeface="Consolas" panose="020B0609020204030204" pitchFamily="49" charset="0"/>
              </a:rPr>
              <a:t>static</a:t>
            </a:r>
            <a:r>
              <a:rPr lang="fr-BE" dirty="0">
                <a:solidFill>
                  <a:srgbClr val="CC7832"/>
                </a:solidFill>
                <a:effectLst/>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void</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FFC66D"/>
                </a:solidFill>
                <a:effectLst/>
                <a:latin typeface="Consolas" panose="020B0609020204030204" pitchFamily="49" charset="0"/>
                <a:cs typeface="Consolas" panose="020B0609020204030204" pitchFamily="49" charset="0"/>
              </a:rPr>
              <a:t>main</a:t>
            </a:r>
            <a:r>
              <a:rPr lang="fr-BE" dirty="0">
                <a:latin typeface="Consolas" panose="020B0609020204030204" pitchFamily="49" charset="0"/>
                <a:cs typeface="Consolas" panose="020B0609020204030204" pitchFamily="49" charset="0"/>
              </a:rPr>
              <a:t>(String[] args)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List&lt;Voiture&gt; </a:t>
            </a:r>
            <a:r>
              <a:rPr lang="fr-BE" dirty="0" err="1">
                <a:latin typeface="Consolas" panose="020B0609020204030204" pitchFamily="49" charset="0"/>
                <a:cs typeface="Consolas" panose="020B0609020204030204" pitchFamily="49" charset="0"/>
              </a:rPr>
              <a:t>listVoit</a:t>
            </a:r>
            <a:r>
              <a:rPr lang="fr-BE" dirty="0">
                <a:latin typeface="Consolas" panose="020B0609020204030204" pitchFamily="49" charset="0"/>
                <a:cs typeface="Consolas" panose="020B0609020204030204" pitchFamily="49" charset="0"/>
              </a:rPr>
              <a:t>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ArrayList</a:t>
            </a:r>
            <a:r>
              <a:rPr lang="fr-BE" dirty="0">
                <a:latin typeface="Consolas" panose="020B0609020204030204" pitchFamily="49" charset="0"/>
                <a:cs typeface="Consolas" panose="020B0609020204030204" pitchFamily="49" charset="0"/>
              </a:rPr>
              <a:t>&lt;Voiture&gt;()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List&lt;</a:t>
            </a:r>
            <a:r>
              <a:rPr lang="fr-BE" dirty="0" err="1">
                <a:latin typeface="Consolas" panose="020B0609020204030204" pitchFamily="49" charset="0"/>
                <a:cs typeface="Consolas" panose="020B0609020204030204" pitchFamily="49" charset="0"/>
              </a:rPr>
              <a:t>VoitureSansPermis</a:t>
            </a:r>
            <a:r>
              <a:rPr lang="fr-BE" dirty="0">
                <a:latin typeface="Consolas" panose="020B0609020204030204" pitchFamily="49" charset="0"/>
                <a:cs typeface="Consolas" panose="020B0609020204030204" pitchFamily="49" charset="0"/>
              </a:rPr>
              <a:t>&gt; </a:t>
            </a:r>
            <a:r>
              <a:rPr lang="fr-BE" dirty="0" err="1">
                <a:latin typeface="Consolas" panose="020B0609020204030204" pitchFamily="49" charset="0"/>
                <a:cs typeface="Consolas" panose="020B0609020204030204" pitchFamily="49" charset="0"/>
              </a:rPr>
              <a:t>listVoitSP</a:t>
            </a:r>
            <a:r>
              <a:rPr lang="fr-BE" dirty="0">
                <a:latin typeface="Consolas" panose="020B0609020204030204" pitchFamily="49" charset="0"/>
                <a:cs typeface="Consolas" panose="020B0609020204030204" pitchFamily="49" charset="0"/>
              </a:rPr>
              <a:t>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ArrayList</a:t>
            </a:r>
            <a:r>
              <a:rPr lang="fr-BE" dirty="0">
                <a:latin typeface="Consolas" panose="020B0609020204030204" pitchFamily="49" charset="0"/>
                <a:cs typeface="Consolas" panose="020B0609020204030204" pitchFamily="49" charset="0"/>
              </a:rPr>
              <a:t>&lt;</a:t>
            </a:r>
            <a:r>
              <a:rPr lang="fr-BE" dirty="0" err="1">
                <a:latin typeface="Consolas" panose="020B0609020204030204" pitchFamily="49" charset="0"/>
                <a:cs typeface="Consolas" panose="020B0609020204030204" pitchFamily="49" charset="0"/>
              </a:rPr>
              <a:t>VoitureSansPermis</a:t>
            </a:r>
            <a:r>
              <a:rPr lang="fr-BE" dirty="0">
                <a:latin typeface="Consolas" panose="020B0609020204030204" pitchFamily="49" charset="0"/>
                <a:cs typeface="Consolas" panose="020B0609020204030204" pitchFamily="49" charset="0"/>
              </a:rPr>
              <a:t>&gt;()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listVoit</a:t>
            </a:r>
            <a:r>
              <a:rPr lang="fr-BE" dirty="0">
                <a:latin typeface="Consolas" panose="020B0609020204030204" pitchFamily="49" charset="0"/>
                <a:cs typeface="Consolas" panose="020B0609020204030204" pitchFamily="49" charset="0"/>
              </a:rPr>
              <a:t> = </a:t>
            </a:r>
            <a:r>
              <a:rPr lang="fr-BE" dirty="0" err="1">
                <a:latin typeface="Consolas" panose="020B0609020204030204" pitchFamily="49" charset="0"/>
                <a:cs typeface="Consolas" panose="020B0609020204030204" pitchFamily="49" charset="0"/>
              </a:rPr>
              <a:t>listVoitSP</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808080"/>
                </a:solidFill>
                <a:effectLst/>
                <a:latin typeface="Consolas" panose="020B0609020204030204" pitchFamily="49" charset="0"/>
                <a:cs typeface="Consolas" panose="020B0609020204030204" pitchFamily="49" charset="0"/>
              </a:rPr>
              <a:t>// Interdit puisque même si T' hérite de </a:t>
            </a:r>
            <a:r>
              <a:rPr lang="fr-BE" dirty="0" err="1">
                <a:solidFill>
                  <a:srgbClr val="808080"/>
                </a:solidFill>
                <a:effectLst/>
                <a:latin typeface="Consolas" panose="020B0609020204030204" pitchFamily="49" charset="0"/>
                <a:cs typeface="Consolas" panose="020B0609020204030204" pitchFamily="49" charset="0"/>
              </a:rPr>
              <a:t>T</a:t>
            </a:r>
            <a:r>
              <a:rPr lang="fr-BE" dirty="0">
                <a:solidFill>
                  <a:srgbClr val="808080"/>
                </a:solidFill>
                <a:effectLst/>
                <a:latin typeface="Consolas" panose="020B0609020204030204" pitchFamily="49" charset="0"/>
                <a:cs typeface="Consolas" panose="020B0609020204030204" pitchFamily="49" charset="0"/>
              </a:rPr>
              <a:t>,   </a:t>
            </a:r>
            <a:br>
              <a:rPr lang="fr-BE" dirty="0">
                <a:solidFill>
                  <a:srgbClr val="808080"/>
                </a:solidFill>
                <a:effectLst/>
                <a:latin typeface="Consolas" panose="020B0609020204030204" pitchFamily="49" charset="0"/>
                <a:cs typeface="Consolas" panose="020B0609020204030204" pitchFamily="49" charset="0"/>
              </a:rPr>
            </a:br>
            <a:r>
              <a:rPr lang="fr-BE" dirty="0">
                <a:solidFill>
                  <a:srgbClr val="808080"/>
                </a:solidFill>
                <a:effectLst/>
                <a:latin typeface="Consolas" panose="020B0609020204030204" pitchFamily="49" charset="0"/>
                <a:cs typeface="Consolas" panose="020B0609020204030204" pitchFamily="49" charset="0"/>
              </a:rPr>
              <a:t>                           // C&lt;T'&gt; n'hérite pas de C&lt;</a:t>
            </a:r>
            <a:r>
              <a:rPr lang="fr-BE" dirty="0" err="1">
                <a:solidFill>
                  <a:srgbClr val="808080"/>
                </a:solidFill>
                <a:effectLst/>
                <a:latin typeface="Consolas" panose="020B0609020204030204" pitchFamily="49" charset="0"/>
                <a:cs typeface="Consolas" panose="020B0609020204030204" pitchFamily="49" charset="0"/>
              </a:rPr>
              <a:t>T</a:t>
            </a:r>
            <a:r>
              <a:rPr lang="fr-BE" dirty="0">
                <a:solidFill>
                  <a:srgbClr val="808080"/>
                </a:solidFill>
                <a:effectLst/>
                <a:latin typeface="Consolas" panose="020B0609020204030204" pitchFamily="49" charset="0"/>
                <a:cs typeface="Consolas" panose="020B0609020204030204" pitchFamily="49" charset="0"/>
              </a:rPr>
              <a:t>&gt;!</a:t>
            </a:r>
            <a:br>
              <a:rPr lang="fr-BE" dirty="0">
                <a:solidFill>
                  <a:srgbClr val="808080"/>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pic>
        <p:nvPicPr>
          <p:cNvPr id="8" name="Image 7">
            <a:extLst>
              <a:ext uri="{FF2B5EF4-FFF2-40B4-BE49-F238E27FC236}">
                <a16:creationId xmlns:a16="http://schemas.microsoft.com/office/drawing/2014/main" id="{C22D00CD-C397-3570-DBB1-4EEBD0BD443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650188">
            <a:off x="10657551" y="324322"/>
            <a:ext cx="1052380" cy="1447173"/>
          </a:xfrm>
          <a:prstGeom prst="rect">
            <a:avLst/>
          </a:prstGeom>
          <a:ln>
            <a:solidFill>
              <a:schemeClr val="bg1">
                <a:lumMod val="50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759876670"/>
      </p:ext>
    </p:extLst>
  </p:cSld>
  <p:clrMapOvr>
    <a:masterClrMapping/>
  </p:clrMapOvr>
  <p:transition>
    <p:push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Jokers</a:t>
            </a:r>
          </a:p>
        </p:txBody>
      </p:sp>
      <p:sp>
        <p:nvSpPr>
          <p:cNvPr id="5" name="Espace réservé du contenu 4"/>
          <p:cNvSpPr>
            <a:spLocks noGrp="1"/>
          </p:cNvSpPr>
          <p:nvPr>
            <p:ph idx="1"/>
          </p:nvPr>
        </p:nvSpPr>
        <p:spPr/>
        <p:txBody>
          <a:bodyPr>
            <a:noAutofit/>
          </a:bodyPr>
          <a:lstStyle/>
          <a:p>
            <a:pPr marL="0" indent="0">
              <a:buNone/>
            </a:pPr>
            <a:r>
              <a:rPr lang="fr-FR" sz="2000" dirty="0"/>
              <a:t>La solution est d'utiliser le '</a:t>
            </a:r>
            <a:r>
              <a:rPr lang="fr-FR" sz="2000" dirty="0" err="1"/>
              <a:t>wildcard</a:t>
            </a:r>
            <a:r>
              <a:rPr lang="fr-FR" sz="2000" dirty="0"/>
              <a:t>’ (</a:t>
            </a:r>
            <a:r>
              <a:rPr lang="fr-FR" sz="2000" dirty="0">
                <a:solidFill>
                  <a:schemeClr val="accent4"/>
                </a:solidFill>
              </a:rPr>
              <a:t>joker</a:t>
            </a:r>
            <a:r>
              <a:rPr lang="fr-FR" sz="2000" dirty="0"/>
              <a:t>) </a:t>
            </a:r>
            <a:r>
              <a:rPr lang="fr-FR" sz="2000" dirty="0">
                <a:solidFill>
                  <a:schemeClr val="accent4"/>
                </a:solidFill>
                <a:latin typeface="Consolas"/>
                <a:cs typeface="Consolas"/>
              </a:rPr>
              <a:t>?</a:t>
            </a:r>
            <a:r>
              <a:rPr lang="fr-FR" sz="2000" dirty="0"/>
              <a:t>.</a:t>
            </a:r>
          </a:p>
          <a:p>
            <a:pPr marL="0" indent="0">
              <a:buNone/>
            </a:pPr>
            <a:endParaRPr lang="fr-FR" sz="2000" dirty="0"/>
          </a:p>
          <a:p>
            <a:pPr marL="0" indent="0">
              <a:buNone/>
            </a:pPr>
            <a:r>
              <a:rPr lang="fr-FR" sz="2000" dirty="0"/>
              <a:t>Avec </a:t>
            </a:r>
            <a:r>
              <a:rPr lang="fr-FR" sz="2000" dirty="0">
                <a:solidFill>
                  <a:schemeClr val="accent4"/>
                </a:solidFill>
                <a:latin typeface="Consolas"/>
                <a:cs typeface="Consolas"/>
              </a:rPr>
              <a:t>? </a:t>
            </a:r>
            <a:r>
              <a:rPr lang="fr-FR" sz="2000" dirty="0" err="1">
                <a:solidFill>
                  <a:schemeClr val="accent4"/>
                </a:solidFill>
                <a:latin typeface="Consolas"/>
                <a:cs typeface="Consolas"/>
              </a:rPr>
              <a:t>extends</a:t>
            </a:r>
            <a:r>
              <a:rPr lang="fr-FR" sz="2000" dirty="0">
                <a:solidFill>
                  <a:schemeClr val="accent4"/>
                </a:solidFill>
                <a:latin typeface="Consolas"/>
                <a:cs typeface="Consolas"/>
              </a:rPr>
              <a:t> Voiture</a:t>
            </a:r>
            <a:r>
              <a:rPr lang="fr-FR" sz="2000" dirty="0"/>
              <a:t>, on définit une liste de « trucs qui héritent de voiture ». </a:t>
            </a:r>
          </a:p>
          <a:p>
            <a:pPr marL="0" indent="0">
              <a:buNone/>
            </a:pPr>
            <a:r>
              <a:rPr lang="fr-FR" sz="2000" dirty="0"/>
              <a:t>Avec </a:t>
            </a:r>
            <a:r>
              <a:rPr lang="fr-FR" sz="2000" dirty="0">
                <a:solidFill>
                  <a:schemeClr val="accent4"/>
                </a:solidFill>
                <a:latin typeface="Consolas"/>
                <a:cs typeface="Consolas"/>
              </a:rPr>
              <a:t>? super Voiture</a:t>
            </a:r>
            <a:r>
              <a:rPr lang="fr-FR" sz="2000" dirty="0"/>
              <a:t>, on définit une liste de « trucs dont voiture hérite ».</a:t>
            </a:r>
          </a:p>
          <a:p>
            <a:pPr marL="0" indent="0">
              <a:buNone/>
            </a:pPr>
            <a:endParaRPr lang="fr-FR" sz="2000" dirty="0"/>
          </a:p>
          <a:p>
            <a:pPr marL="0" indent="0">
              <a:buNone/>
            </a:pPr>
            <a:r>
              <a:rPr lang="fr-FR" sz="2000" dirty="0">
                <a:solidFill>
                  <a:schemeClr val="accent4"/>
                </a:solidFill>
                <a:latin typeface="Consolas"/>
                <a:cs typeface="Consolas"/>
              </a:rPr>
              <a:t>List&lt;? </a:t>
            </a:r>
            <a:r>
              <a:rPr lang="fr-FR" sz="2000" dirty="0" err="1">
                <a:solidFill>
                  <a:schemeClr val="accent4"/>
                </a:solidFill>
                <a:latin typeface="Consolas"/>
                <a:cs typeface="Consolas"/>
              </a:rPr>
              <a:t>extends</a:t>
            </a:r>
            <a:r>
              <a:rPr lang="fr-FR" sz="2000" dirty="0">
                <a:solidFill>
                  <a:schemeClr val="accent4"/>
                </a:solidFill>
                <a:latin typeface="Consolas"/>
                <a:cs typeface="Consolas"/>
              </a:rPr>
              <a:t> Voiture&gt; </a:t>
            </a:r>
            <a:r>
              <a:rPr lang="fr-FR" sz="2000" dirty="0" err="1">
                <a:solidFill>
                  <a:schemeClr val="accent4"/>
                </a:solidFill>
                <a:latin typeface="Consolas"/>
                <a:cs typeface="Consolas"/>
              </a:rPr>
              <a:t>listVSP</a:t>
            </a:r>
            <a:r>
              <a:rPr lang="fr-FR" sz="2000" dirty="0">
                <a:solidFill>
                  <a:schemeClr val="accent4"/>
                </a:solidFill>
                <a:latin typeface="Consolas"/>
                <a:cs typeface="Consolas"/>
              </a:rPr>
              <a:t> = new </a:t>
            </a:r>
            <a:r>
              <a:rPr lang="fr-FR" sz="2000" dirty="0" err="1">
                <a:solidFill>
                  <a:schemeClr val="accent4"/>
                </a:solidFill>
                <a:latin typeface="Consolas"/>
                <a:cs typeface="Consolas"/>
              </a:rPr>
              <a:t>ArrayList</a:t>
            </a:r>
            <a:r>
              <a:rPr lang="fr-FR" sz="2000" dirty="0">
                <a:solidFill>
                  <a:schemeClr val="accent4"/>
                </a:solidFill>
                <a:latin typeface="Consolas"/>
                <a:cs typeface="Consolas"/>
              </a:rPr>
              <a:t>&lt;</a:t>
            </a:r>
            <a:r>
              <a:rPr lang="fr-FR" sz="2000" dirty="0" err="1">
                <a:solidFill>
                  <a:schemeClr val="accent4"/>
                </a:solidFill>
                <a:latin typeface="Consolas"/>
                <a:cs typeface="Consolas"/>
              </a:rPr>
              <a:t>VoitureSansPermis</a:t>
            </a:r>
            <a:r>
              <a:rPr lang="fr-FR" sz="2000" dirty="0">
                <a:solidFill>
                  <a:schemeClr val="accent4"/>
                </a:solidFill>
                <a:latin typeface="Consolas"/>
                <a:cs typeface="Consolas"/>
              </a:rPr>
              <a:t>&gt;();</a:t>
            </a:r>
          </a:p>
          <a:p>
            <a:pPr marL="0" indent="0">
              <a:buNone/>
            </a:pPr>
            <a:endParaRPr lang="fr-FR" sz="2000" dirty="0">
              <a:solidFill>
                <a:srgbClr val="A6082B"/>
              </a:solidFill>
              <a:latin typeface="Consolas"/>
              <a:cs typeface="Consolas"/>
            </a:endParaRPr>
          </a:p>
        </p:txBody>
      </p:sp>
      <p:sp>
        <p:nvSpPr>
          <p:cNvPr id="3" name="Rectangle : coins arrondis 2">
            <a:extLst>
              <a:ext uri="{FF2B5EF4-FFF2-40B4-BE49-F238E27FC236}">
                <a16:creationId xmlns:a16="http://schemas.microsoft.com/office/drawing/2014/main" id="{42E23669-60B5-7400-4798-CDEAC70D7357}"/>
              </a:ext>
            </a:extLst>
          </p:cNvPr>
          <p:cNvSpPr/>
          <p:nvPr/>
        </p:nvSpPr>
        <p:spPr>
          <a:xfrm>
            <a:off x="838200" y="3848431"/>
            <a:ext cx="3368040" cy="326004"/>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a:extLst>
              <a:ext uri="{FF2B5EF4-FFF2-40B4-BE49-F238E27FC236}">
                <a16:creationId xmlns:a16="http://schemas.microsoft.com/office/drawing/2014/main" id="{97EA32AB-6D24-87C0-FA68-472BEFC2016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650188">
            <a:off x="10657551" y="324322"/>
            <a:ext cx="1052380" cy="1447173"/>
          </a:xfrm>
          <a:prstGeom prst="rect">
            <a:avLst/>
          </a:prstGeom>
          <a:ln>
            <a:solidFill>
              <a:schemeClr val="bg1">
                <a:lumMod val="50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323895621"/>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Jokers</a:t>
            </a:r>
          </a:p>
        </p:txBody>
      </p:sp>
      <p:sp>
        <p:nvSpPr>
          <p:cNvPr id="5" name="Espace réservé du contenu 4"/>
          <p:cNvSpPr>
            <a:spLocks noGrp="1"/>
          </p:cNvSpPr>
          <p:nvPr>
            <p:ph idx="1"/>
          </p:nvPr>
        </p:nvSpPr>
        <p:spPr/>
        <p:txBody>
          <a:bodyPr>
            <a:noAutofit/>
          </a:bodyPr>
          <a:lstStyle/>
          <a:p>
            <a:pPr marL="0" indent="0">
              <a:buNone/>
            </a:pPr>
            <a:r>
              <a:rPr lang="fr-FR" sz="1800" dirty="0">
                <a:solidFill>
                  <a:schemeClr val="accent4"/>
                </a:solidFill>
                <a:latin typeface="Consolas" panose="020B0609020204030204" pitchFamily="49" charset="0"/>
                <a:cs typeface="Consolas" panose="020B0609020204030204" pitchFamily="49" charset="0"/>
              </a:rPr>
              <a:t>List&lt;? </a:t>
            </a:r>
            <a:r>
              <a:rPr lang="fr-FR" sz="1800" dirty="0" err="1">
                <a:solidFill>
                  <a:schemeClr val="accent4"/>
                </a:solidFill>
                <a:latin typeface="Consolas" panose="020B0609020204030204" pitchFamily="49" charset="0"/>
                <a:cs typeface="Consolas" panose="020B0609020204030204" pitchFamily="49" charset="0"/>
              </a:rPr>
              <a:t>extends</a:t>
            </a:r>
            <a:r>
              <a:rPr lang="fr-FR" sz="1800" dirty="0">
                <a:solidFill>
                  <a:schemeClr val="accent4"/>
                </a:solidFill>
                <a:latin typeface="Consolas" panose="020B0609020204030204" pitchFamily="49" charset="0"/>
                <a:cs typeface="Consolas" panose="020B0609020204030204" pitchFamily="49" charset="0"/>
              </a:rPr>
              <a:t> Voiture&gt; </a:t>
            </a:r>
            <a:r>
              <a:rPr lang="fr-FR" sz="1800" dirty="0" err="1">
                <a:solidFill>
                  <a:schemeClr val="accent4"/>
                </a:solidFill>
                <a:latin typeface="Consolas" panose="020B0609020204030204" pitchFamily="49" charset="0"/>
                <a:cs typeface="Consolas" panose="020B0609020204030204" pitchFamily="49" charset="0"/>
              </a:rPr>
              <a:t>listVSP</a:t>
            </a:r>
            <a:r>
              <a:rPr lang="fr-FR" sz="1800" dirty="0">
                <a:solidFill>
                  <a:schemeClr val="accent4"/>
                </a:solidFill>
                <a:latin typeface="Consolas" panose="020B0609020204030204" pitchFamily="49" charset="0"/>
                <a:cs typeface="Consolas" panose="020B0609020204030204" pitchFamily="49" charset="0"/>
              </a:rPr>
              <a:t> = new </a:t>
            </a:r>
            <a:r>
              <a:rPr lang="fr-FR" sz="1800" dirty="0" err="1">
                <a:solidFill>
                  <a:schemeClr val="accent4"/>
                </a:solidFill>
                <a:latin typeface="Consolas" panose="020B0609020204030204" pitchFamily="49" charset="0"/>
                <a:cs typeface="Consolas" panose="020B0609020204030204" pitchFamily="49" charset="0"/>
              </a:rPr>
              <a:t>ArrayList</a:t>
            </a:r>
            <a:r>
              <a:rPr lang="fr-FR" sz="1800" dirty="0">
                <a:solidFill>
                  <a:schemeClr val="accent4"/>
                </a:solidFill>
                <a:latin typeface="Consolas" panose="020B0609020204030204" pitchFamily="49" charset="0"/>
                <a:cs typeface="Consolas" panose="020B0609020204030204" pitchFamily="49" charset="0"/>
              </a:rPr>
              <a:t>&lt;</a:t>
            </a:r>
            <a:r>
              <a:rPr lang="fr-FR" sz="1800" dirty="0" err="1">
                <a:solidFill>
                  <a:schemeClr val="accent4"/>
                </a:solidFill>
                <a:latin typeface="Consolas" panose="020B0609020204030204" pitchFamily="49" charset="0"/>
                <a:cs typeface="Consolas" panose="020B0609020204030204" pitchFamily="49" charset="0"/>
              </a:rPr>
              <a:t>VoitureSansPermis</a:t>
            </a:r>
            <a:r>
              <a:rPr lang="fr-FR" sz="1800" dirty="0">
                <a:solidFill>
                  <a:schemeClr val="accent4"/>
                </a:solidFill>
                <a:latin typeface="Consolas" panose="020B0609020204030204" pitchFamily="49" charset="0"/>
                <a:cs typeface="Consolas" panose="020B0609020204030204" pitchFamily="49" charset="0"/>
              </a:rPr>
              <a:t>&gt;();</a:t>
            </a:r>
          </a:p>
          <a:p>
            <a:pPr marL="0" indent="0">
              <a:lnSpc>
                <a:spcPct val="80000"/>
              </a:lnSpc>
              <a:buNone/>
            </a:pPr>
            <a:endParaRPr lang="fr-FR" sz="1800" dirty="0"/>
          </a:p>
          <a:p>
            <a:pPr marL="0" indent="0">
              <a:lnSpc>
                <a:spcPct val="80000"/>
              </a:lnSpc>
              <a:buNone/>
            </a:pPr>
            <a:r>
              <a:rPr lang="fr-FR" sz="2000" dirty="0"/>
              <a:t>On peut ensuite passer l'objet </a:t>
            </a:r>
            <a:r>
              <a:rPr lang="fr-FR" sz="2000" dirty="0" err="1">
                <a:solidFill>
                  <a:schemeClr val="accent4"/>
                </a:solidFill>
                <a:latin typeface="Consolas" panose="020B0609020204030204" pitchFamily="49" charset="0"/>
                <a:cs typeface="Consolas" panose="020B0609020204030204" pitchFamily="49" charset="0"/>
              </a:rPr>
              <a:t>listVSP</a:t>
            </a:r>
            <a:r>
              <a:rPr lang="fr-FR" sz="2000" dirty="0"/>
              <a:t> à une méthode qui en liste le contenu.</a:t>
            </a:r>
          </a:p>
        </p:txBody>
      </p:sp>
      <p:sp>
        <p:nvSpPr>
          <p:cNvPr id="8" name="ZoneTexte 7">
            <a:extLst>
              <a:ext uri="{FF2B5EF4-FFF2-40B4-BE49-F238E27FC236}">
                <a16:creationId xmlns:a16="http://schemas.microsoft.com/office/drawing/2014/main" id="{E5B7FC0A-CBEF-DF1E-F47A-E68594C26D0A}"/>
              </a:ext>
            </a:extLst>
          </p:cNvPr>
          <p:cNvSpPr txBox="1"/>
          <p:nvPr/>
        </p:nvSpPr>
        <p:spPr>
          <a:xfrm>
            <a:off x="1113183" y="3071565"/>
            <a:ext cx="6782462" cy="1477328"/>
          </a:xfrm>
          <a:prstGeom prst="rect">
            <a:avLst/>
          </a:prstGeom>
          <a:solidFill>
            <a:srgbClr val="2B2B2B"/>
          </a:solidFill>
        </p:spPr>
        <p:txBody>
          <a:bodyPr wrap="square">
            <a:spAutoFit/>
          </a:bodyPr>
          <a:lstStyle/>
          <a:p>
            <a:r>
              <a:rPr lang="fr-BE" dirty="0" err="1">
                <a:solidFill>
                  <a:srgbClr val="CC7832"/>
                </a:solidFill>
                <a:effectLst/>
                <a:latin typeface="Consolas" panose="020B0609020204030204" pitchFamily="49" charset="0"/>
                <a:cs typeface="Consolas" panose="020B0609020204030204" pitchFamily="49" charset="0"/>
              </a:rPr>
              <a:t>static</a:t>
            </a:r>
            <a:r>
              <a:rPr lang="fr-BE" dirty="0">
                <a:solidFill>
                  <a:srgbClr val="CC7832"/>
                </a:solidFill>
                <a:effectLst/>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void</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FFC66D"/>
                </a:solidFill>
                <a:effectLst/>
                <a:latin typeface="Consolas" panose="020B0609020204030204" pitchFamily="49" charset="0"/>
                <a:cs typeface="Consolas" panose="020B0609020204030204" pitchFamily="49" charset="0"/>
              </a:rPr>
              <a:t>afficher</a:t>
            </a:r>
            <a:r>
              <a:rPr lang="fr-BE" dirty="0">
                <a:latin typeface="Consolas" panose="020B0609020204030204" pitchFamily="49" charset="0"/>
                <a:cs typeface="Consolas" panose="020B0609020204030204" pitchFamily="49" charset="0"/>
              </a:rPr>
              <a:t>(List&lt;? </a:t>
            </a:r>
            <a:r>
              <a:rPr lang="fr-BE" dirty="0" err="1">
                <a:solidFill>
                  <a:srgbClr val="CC7832"/>
                </a:solidFill>
                <a:effectLst/>
                <a:latin typeface="Consolas" panose="020B0609020204030204" pitchFamily="49" charset="0"/>
                <a:cs typeface="Consolas" panose="020B0609020204030204" pitchFamily="49" charset="0"/>
              </a:rPr>
              <a:t>extends</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Voiture&gt; </a:t>
            </a:r>
            <a:r>
              <a:rPr lang="fr-BE" dirty="0" err="1">
                <a:latin typeface="Consolas" panose="020B0609020204030204" pitchFamily="49" charset="0"/>
                <a:cs typeface="Consolas" panose="020B0609020204030204" pitchFamily="49" charset="0"/>
              </a:rPr>
              <a:t>list</a:t>
            </a:r>
            <a:r>
              <a:rPr lang="fr-BE" dirty="0">
                <a:latin typeface="Consolas" panose="020B0609020204030204" pitchFamily="49" charset="0"/>
                <a:cs typeface="Consolas" panose="020B0609020204030204" pitchFamily="49" charset="0"/>
              </a:rPr>
              <a:t>) {</a:t>
            </a:r>
          </a:p>
          <a:p>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for </a:t>
            </a:r>
            <a:r>
              <a:rPr lang="fr-BE" dirty="0">
                <a:latin typeface="Consolas" panose="020B0609020204030204" pitchFamily="49" charset="0"/>
                <a:cs typeface="Consolas" panose="020B0609020204030204" pitchFamily="49" charset="0"/>
              </a:rPr>
              <a:t>(Voiture v : </a:t>
            </a:r>
            <a:r>
              <a:rPr lang="fr-BE" dirty="0" err="1">
                <a:latin typeface="Consolas" panose="020B0609020204030204" pitchFamily="49" charset="0"/>
                <a:cs typeface="Consolas" panose="020B0609020204030204" pitchFamily="49" charset="0"/>
              </a:rPr>
              <a:t>list</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System.</a:t>
            </a:r>
            <a:r>
              <a:rPr lang="fr-BE" i="1" dirty="0" err="1">
                <a:solidFill>
                  <a:srgbClr val="9876AA"/>
                </a:solidFill>
                <a:effectLst/>
                <a:latin typeface="Consolas" panose="020B0609020204030204" pitchFamily="49" charset="0"/>
                <a:cs typeface="Consolas" panose="020B0609020204030204" pitchFamily="49" charset="0"/>
              </a:rPr>
              <a:t>out</a:t>
            </a:r>
            <a:r>
              <a:rPr lang="fr-BE" dirty="0" err="1">
                <a:latin typeface="Consolas" panose="020B0609020204030204" pitchFamily="49" charset="0"/>
                <a:cs typeface="Consolas" panose="020B0609020204030204" pitchFamily="49" charset="0"/>
              </a:rPr>
              <a:t>.println</a:t>
            </a:r>
            <a:r>
              <a:rPr lang="fr-BE" dirty="0">
                <a:latin typeface="Consolas" panose="020B0609020204030204" pitchFamily="49" charset="0"/>
                <a:cs typeface="Consolas" panose="020B0609020204030204" pitchFamily="49" charset="0"/>
              </a:rPr>
              <a:t>(</a:t>
            </a:r>
            <a:r>
              <a:rPr lang="fr-BE" dirty="0" err="1">
                <a:latin typeface="Consolas" panose="020B0609020204030204" pitchFamily="49" charset="0"/>
                <a:cs typeface="Consolas" panose="020B0609020204030204" pitchFamily="49" charset="0"/>
              </a:rPr>
              <a:t>v.toString</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6" name="Bulle rectangulaire 5">
            <a:extLst>
              <a:ext uri="{FF2B5EF4-FFF2-40B4-BE49-F238E27FC236}">
                <a16:creationId xmlns:a16="http://schemas.microsoft.com/office/drawing/2014/main" id="{C8A47D8B-4B2F-1043-9B7D-AA6E154398D4}"/>
              </a:ext>
            </a:extLst>
          </p:cNvPr>
          <p:cNvSpPr/>
          <p:nvPr/>
        </p:nvSpPr>
        <p:spPr>
          <a:xfrm>
            <a:off x="7275158" y="3550445"/>
            <a:ext cx="4707923" cy="519568"/>
          </a:xfrm>
          <a:prstGeom prst="wedgeRectCallout">
            <a:avLst>
              <a:gd name="adj1" fmla="val -104757"/>
              <a:gd name="adj2" fmla="val 6316"/>
            </a:avLst>
          </a:prstGeom>
          <a:solidFill>
            <a:schemeClr val="accent4"/>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ln>
                  <a:solidFill>
                    <a:schemeClr val="accent1">
                      <a:lumMod val="50000"/>
                    </a:schemeClr>
                  </a:solidFill>
                </a:ln>
                <a:solidFill>
                  <a:schemeClr val="accent1"/>
                </a:solidFill>
                <a:latin typeface="Consolas"/>
                <a:cs typeface="Consolas"/>
              </a:rPr>
              <a:t>possible puisque tous les éléments de la liste héritent de Voiture</a:t>
            </a:r>
            <a:endParaRPr lang="fr-FR" dirty="0">
              <a:ln>
                <a:solidFill>
                  <a:schemeClr val="accent1">
                    <a:lumMod val="50000"/>
                  </a:schemeClr>
                </a:solidFill>
              </a:ln>
              <a:solidFill>
                <a:schemeClr val="accent1"/>
              </a:solidFill>
            </a:endParaRPr>
          </a:p>
        </p:txBody>
      </p:sp>
      <p:sp>
        <p:nvSpPr>
          <p:cNvPr id="10" name="ZoneTexte 9">
            <a:extLst>
              <a:ext uri="{FF2B5EF4-FFF2-40B4-BE49-F238E27FC236}">
                <a16:creationId xmlns:a16="http://schemas.microsoft.com/office/drawing/2014/main" id="{75A8001D-7BE6-E317-1EE6-B010716145C9}"/>
              </a:ext>
            </a:extLst>
          </p:cNvPr>
          <p:cNvSpPr txBox="1"/>
          <p:nvPr/>
        </p:nvSpPr>
        <p:spPr>
          <a:xfrm>
            <a:off x="838200" y="5191403"/>
            <a:ext cx="8512534" cy="400110"/>
          </a:xfrm>
          <a:prstGeom prst="rect">
            <a:avLst/>
          </a:prstGeom>
          <a:noFill/>
        </p:spPr>
        <p:txBody>
          <a:bodyPr wrap="square">
            <a:spAutoFit/>
          </a:bodyPr>
          <a:lstStyle/>
          <a:p>
            <a:pPr marL="0" indent="0">
              <a:buNone/>
            </a:pPr>
            <a:r>
              <a:rPr lang="fr-FR" sz="2000" dirty="0"/>
              <a:t>Restriction sur le joker: dès qu'on l'utilise, les listes passent en </a:t>
            </a:r>
            <a:r>
              <a:rPr lang="fr-FR" sz="2000" dirty="0">
                <a:solidFill>
                  <a:schemeClr val="accent4"/>
                </a:solidFill>
              </a:rPr>
              <a:t>lecture seule</a:t>
            </a:r>
            <a:r>
              <a:rPr lang="fr-FR" sz="2000" dirty="0"/>
              <a:t>...</a:t>
            </a:r>
          </a:p>
        </p:txBody>
      </p:sp>
      <p:pic>
        <p:nvPicPr>
          <p:cNvPr id="12" name="Image 11">
            <a:extLst>
              <a:ext uri="{FF2B5EF4-FFF2-40B4-BE49-F238E27FC236}">
                <a16:creationId xmlns:a16="http://schemas.microsoft.com/office/drawing/2014/main" id="{93249549-C5D4-E3A7-821A-ED78DDB5C52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650188">
            <a:off x="10657551" y="324322"/>
            <a:ext cx="1052380" cy="1447173"/>
          </a:xfrm>
          <a:prstGeom prst="rect">
            <a:avLst/>
          </a:prstGeom>
          <a:ln>
            <a:solidFill>
              <a:schemeClr val="bg1">
                <a:lumMod val="50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574363162"/>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animBg="1"/>
      <p:bldP spid="10"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Jokers</a:t>
            </a:r>
          </a:p>
        </p:txBody>
      </p:sp>
      <p:sp>
        <p:nvSpPr>
          <p:cNvPr id="5" name="Espace réservé du contenu 4"/>
          <p:cNvSpPr>
            <a:spLocks noGrp="1"/>
          </p:cNvSpPr>
          <p:nvPr>
            <p:ph idx="1"/>
          </p:nvPr>
        </p:nvSpPr>
        <p:spPr/>
        <p:txBody>
          <a:bodyPr>
            <a:noAutofit/>
          </a:bodyPr>
          <a:lstStyle/>
          <a:p>
            <a:pPr marL="274320" lvl="1" indent="0">
              <a:buNone/>
            </a:pPr>
            <a:r>
              <a:rPr lang="fr-FR" sz="1800" dirty="0">
                <a:solidFill>
                  <a:schemeClr val="accent4"/>
                </a:solidFill>
                <a:latin typeface="Consolas"/>
                <a:cs typeface="Consolas"/>
              </a:rPr>
              <a:t>List&lt;? </a:t>
            </a:r>
            <a:r>
              <a:rPr lang="fr-FR" sz="1800" dirty="0" err="1">
                <a:solidFill>
                  <a:schemeClr val="accent4"/>
                </a:solidFill>
                <a:latin typeface="Consolas"/>
                <a:cs typeface="Consolas"/>
              </a:rPr>
              <a:t>extends</a:t>
            </a:r>
            <a:r>
              <a:rPr lang="fr-FR" sz="1800" dirty="0">
                <a:solidFill>
                  <a:schemeClr val="accent4"/>
                </a:solidFill>
                <a:latin typeface="Consolas"/>
                <a:cs typeface="Consolas"/>
              </a:rPr>
              <a:t> </a:t>
            </a:r>
            <a:r>
              <a:rPr lang="fr-FR" sz="1800" dirty="0" err="1">
                <a:solidFill>
                  <a:schemeClr val="accent4"/>
                </a:solidFill>
                <a:latin typeface="Consolas"/>
                <a:cs typeface="Consolas"/>
              </a:rPr>
              <a:t>Number</a:t>
            </a:r>
            <a:r>
              <a:rPr lang="fr-FR" sz="1800" dirty="0">
                <a:solidFill>
                  <a:schemeClr val="accent4"/>
                </a:solidFill>
                <a:latin typeface="Consolas"/>
                <a:cs typeface="Consolas"/>
              </a:rPr>
              <a:t>&gt; </a:t>
            </a:r>
            <a:r>
              <a:rPr lang="fr-FR" sz="1800" dirty="0" err="1">
                <a:solidFill>
                  <a:schemeClr val="accent4"/>
                </a:solidFill>
                <a:latin typeface="Consolas"/>
                <a:cs typeface="Consolas"/>
              </a:rPr>
              <a:t>ls</a:t>
            </a:r>
            <a:r>
              <a:rPr lang="fr-FR" sz="1800" dirty="0">
                <a:solidFill>
                  <a:schemeClr val="accent4"/>
                </a:solidFill>
                <a:latin typeface="Consolas"/>
                <a:cs typeface="Consolas"/>
              </a:rPr>
              <a:t> = new </a:t>
            </a:r>
            <a:r>
              <a:rPr lang="fr-FR" sz="1800" dirty="0" err="1">
                <a:solidFill>
                  <a:schemeClr val="accent4"/>
                </a:solidFill>
                <a:latin typeface="Consolas"/>
                <a:cs typeface="Consolas"/>
              </a:rPr>
              <a:t>ArrayList</a:t>
            </a:r>
            <a:r>
              <a:rPr lang="fr-FR" sz="1800" dirty="0">
                <a:solidFill>
                  <a:schemeClr val="accent4"/>
                </a:solidFill>
                <a:latin typeface="Consolas"/>
                <a:cs typeface="Consolas"/>
              </a:rPr>
              <a:t>(</a:t>
            </a:r>
            <a:r>
              <a:rPr lang="fr-FR" sz="1800" dirty="0" err="1">
                <a:solidFill>
                  <a:schemeClr val="accent4"/>
                </a:solidFill>
                <a:latin typeface="Consolas"/>
                <a:cs typeface="Consolas"/>
              </a:rPr>
              <a:t>Integer</a:t>
            </a:r>
            <a:r>
              <a:rPr lang="fr-FR" sz="1800" dirty="0">
                <a:solidFill>
                  <a:schemeClr val="accent4"/>
                </a:solidFill>
                <a:latin typeface="Consolas"/>
                <a:cs typeface="Consolas"/>
              </a:rPr>
              <a:t>); </a:t>
            </a:r>
          </a:p>
          <a:p>
            <a:pPr marL="274320" lvl="1" indent="0">
              <a:buNone/>
            </a:pPr>
            <a:r>
              <a:rPr lang="fr-FR" sz="1800" dirty="0" err="1">
                <a:solidFill>
                  <a:schemeClr val="accent4"/>
                </a:solidFill>
                <a:latin typeface="Consolas"/>
                <a:cs typeface="Consolas"/>
              </a:rPr>
              <a:t>Number</a:t>
            </a:r>
            <a:r>
              <a:rPr lang="fr-FR" sz="1800" dirty="0">
                <a:solidFill>
                  <a:schemeClr val="accent4"/>
                </a:solidFill>
                <a:latin typeface="Consolas"/>
                <a:cs typeface="Consolas"/>
              </a:rPr>
              <a:t> n1= new Double(1.0);</a:t>
            </a:r>
          </a:p>
          <a:p>
            <a:pPr marL="274320" lvl="1" indent="0">
              <a:buNone/>
            </a:pPr>
            <a:r>
              <a:rPr lang="fr-FR" sz="1800" dirty="0" err="1">
                <a:solidFill>
                  <a:srgbClr val="FF0000"/>
                </a:solidFill>
                <a:latin typeface="Consolas"/>
                <a:cs typeface="Consolas"/>
              </a:rPr>
              <a:t>ls.add</a:t>
            </a:r>
            <a:r>
              <a:rPr lang="fr-FR" sz="1800" dirty="0">
                <a:solidFill>
                  <a:srgbClr val="FF0000"/>
                </a:solidFill>
                <a:latin typeface="Consolas"/>
                <a:cs typeface="Consolas"/>
              </a:rPr>
              <a:t>(n1)</a:t>
            </a:r>
            <a:r>
              <a:rPr lang="fr-FR" sz="1800" dirty="0">
                <a:latin typeface="Consolas"/>
                <a:cs typeface="Consolas"/>
              </a:rPr>
              <a:t> </a:t>
            </a:r>
            <a:r>
              <a:rPr lang="fr-FR" sz="1800" dirty="0">
                <a:solidFill>
                  <a:schemeClr val="tx2">
                    <a:lumMod val="75000"/>
                  </a:schemeClr>
                </a:solidFill>
                <a:latin typeface="Consolas"/>
                <a:cs typeface="Consolas"/>
              </a:rPr>
              <a:t>// NE COMPILE PAS</a:t>
            </a:r>
          </a:p>
          <a:p>
            <a:endParaRPr lang="fr-FR" sz="2000" dirty="0"/>
          </a:p>
          <a:p>
            <a:pPr marL="0" indent="0">
              <a:buNone/>
            </a:pPr>
            <a:r>
              <a:rPr lang="fr-FR" sz="2000" dirty="0"/>
              <a:t>Explication: </a:t>
            </a:r>
          </a:p>
          <a:p>
            <a:pPr marL="0" indent="0">
              <a:buNone/>
            </a:pPr>
            <a:r>
              <a:rPr lang="fr-FR" sz="2000" dirty="0"/>
              <a:t>avec </a:t>
            </a:r>
            <a:r>
              <a:rPr lang="fr-FR" sz="2000" dirty="0">
                <a:solidFill>
                  <a:schemeClr val="accent4"/>
                </a:solidFill>
                <a:latin typeface="Consolas"/>
                <a:cs typeface="Consolas"/>
              </a:rPr>
              <a:t>List&lt;? </a:t>
            </a:r>
            <a:r>
              <a:rPr lang="fr-FR" sz="2000" dirty="0" err="1">
                <a:solidFill>
                  <a:schemeClr val="accent4"/>
                </a:solidFill>
                <a:latin typeface="Consolas"/>
                <a:cs typeface="Consolas"/>
              </a:rPr>
              <a:t>extends</a:t>
            </a:r>
            <a:r>
              <a:rPr lang="fr-FR" sz="2000" dirty="0">
                <a:solidFill>
                  <a:schemeClr val="accent4"/>
                </a:solidFill>
                <a:latin typeface="Consolas"/>
                <a:cs typeface="Consolas"/>
              </a:rPr>
              <a:t> </a:t>
            </a:r>
            <a:r>
              <a:rPr lang="fr-FR" sz="2000" dirty="0" err="1">
                <a:solidFill>
                  <a:schemeClr val="accent4"/>
                </a:solidFill>
                <a:latin typeface="Consolas"/>
                <a:cs typeface="Consolas"/>
              </a:rPr>
              <a:t>Number</a:t>
            </a:r>
            <a:r>
              <a:rPr lang="fr-FR" sz="2000" dirty="0">
                <a:solidFill>
                  <a:schemeClr val="accent4"/>
                </a:solidFill>
                <a:latin typeface="Consolas"/>
                <a:cs typeface="Consolas"/>
              </a:rPr>
              <a:t>&gt;</a:t>
            </a:r>
            <a:r>
              <a:rPr lang="fr-FR" sz="2000" dirty="0"/>
              <a:t>, on ne peut rien ajouter à la liste, parce qu'il est </a:t>
            </a:r>
            <a:r>
              <a:rPr lang="fr-FR" sz="2000" dirty="0">
                <a:solidFill>
                  <a:schemeClr val="accent4"/>
                </a:solidFill>
              </a:rPr>
              <a:t>impossible de savoir quelle sous-classe</a:t>
            </a:r>
            <a:r>
              <a:rPr lang="fr-FR" sz="2000" dirty="0">
                <a:solidFill>
                  <a:schemeClr val="accent2"/>
                </a:solidFill>
              </a:rPr>
              <a:t> </a:t>
            </a:r>
            <a:r>
              <a:rPr lang="fr-FR" sz="2000" dirty="0"/>
              <a:t>de </a:t>
            </a:r>
            <a:r>
              <a:rPr lang="fr-FR" sz="2000" dirty="0" err="1">
                <a:solidFill>
                  <a:schemeClr val="accent4"/>
                </a:solidFill>
                <a:latin typeface="Consolas"/>
                <a:cs typeface="Consolas"/>
              </a:rPr>
              <a:t>Number</a:t>
            </a:r>
            <a:r>
              <a:rPr lang="fr-FR" sz="2000" dirty="0"/>
              <a:t> on peut effectivement ajouter. </a:t>
            </a:r>
          </a:p>
          <a:p>
            <a:pPr marL="0" indent="0">
              <a:buNone/>
            </a:pPr>
            <a:r>
              <a:rPr lang="fr-FR" sz="2000" dirty="0"/>
              <a:t>S'agit-il d'une </a:t>
            </a:r>
            <a:r>
              <a:rPr lang="fr-FR" sz="2000" dirty="0">
                <a:solidFill>
                  <a:schemeClr val="accent4"/>
                </a:solidFill>
                <a:latin typeface="Consolas"/>
                <a:cs typeface="Consolas"/>
              </a:rPr>
              <a:t>List&lt;</a:t>
            </a:r>
            <a:r>
              <a:rPr lang="fr-FR" sz="2000" dirty="0" err="1">
                <a:solidFill>
                  <a:schemeClr val="accent4"/>
                </a:solidFill>
                <a:latin typeface="Consolas"/>
                <a:cs typeface="Consolas"/>
              </a:rPr>
              <a:t>Integer</a:t>
            </a:r>
            <a:r>
              <a:rPr lang="fr-FR" sz="2000" dirty="0">
                <a:solidFill>
                  <a:schemeClr val="accent4"/>
                </a:solidFill>
                <a:latin typeface="Consolas"/>
                <a:cs typeface="Consolas"/>
              </a:rPr>
              <a:t>&gt;</a:t>
            </a:r>
            <a:r>
              <a:rPr lang="fr-FR" sz="2000" dirty="0"/>
              <a:t>, </a:t>
            </a:r>
            <a:r>
              <a:rPr lang="fr-FR" sz="2000" dirty="0">
                <a:solidFill>
                  <a:schemeClr val="accent4"/>
                </a:solidFill>
                <a:latin typeface="Consolas"/>
                <a:cs typeface="Consolas"/>
              </a:rPr>
              <a:t>List&lt;Double&gt;</a:t>
            </a:r>
            <a:r>
              <a:rPr lang="fr-FR" sz="2000" dirty="0"/>
              <a:t> ou d'une </a:t>
            </a:r>
            <a:r>
              <a:rPr lang="fr-FR" sz="2000" dirty="0">
                <a:solidFill>
                  <a:schemeClr val="accent4"/>
                </a:solidFill>
                <a:latin typeface="Consolas"/>
                <a:cs typeface="Consolas"/>
              </a:rPr>
              <a:t>List&lt;Float&gt;</a:t>
            </a:r>
            <a:r>
              <a:rPr lang="fr-FR" sz="2000" dirty="0"/>
              <a:t>? Impossible de savoir! </a:t>
            </a:r>
          </a:p>
          <a:p>
            <a:pPr marL="0" indent="0">
              <a:buNone/>
            </a:pPr>
            <a:r>
              <a:rPr lang="fr-FR" sz="2000" dirty="0"/>
              <a:t>Par conséquent, on ne peut pas ajouter de </a:t>
            </a:r>
            <a:r>
              <a:rPr lang="fr-FR" sz="2000" dirty="0">
                <a:solidFill>
                  <a:schemeClr val="accent4"/>
                </a:solidFill>
                <a:latin typeface="Consolas"/>
                <a:cs typeface="Consolas"/>
              </a:rPr>
              <a:t>Double</a:t>
            </a:r>
            <a:r>
              <a:rPr lang="fr-FR" sz="2000" dirty="0"/>
              <a:t> – qui pourrait 'casser' les règles de typage la liste réellement utilisée</a:t>
            </a:r>
            <a:r>
              <a:rPr lang="fr-FR" sz="1800" dirty="0"/>
              <a:t>...</a:t>
            </a:r>
          </a:p>
        </p:txBody>
      </p:sp>
      <p:pic>
        <p:nvPicPr>
          <p:cNvPr id="7" name="Image 6">
            <a:extLst>
              <a:ext uri="{FF2B5EF4-FFF2-40B4-BE49-F238E27FC236}">
                <a16:creationId xmlns:a16="http://schemas.microsoft.com/office/drawing/2014/main" id="{7A53D742-7F5D-C7E6-1CE8-A65DC9EA0FC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650188">
            <a:off x="10657551" y="324322"/>
            <a:ext cx="1052380" cy="1447173"/>
          </a:xfrm>
          <a:prstGeom prst="rect">
            <a:avLst/>
          </a:prstGeom>
          <a:ln>
            <a:solidFill>
              <a:schemeClr val="bg1">
                <a:lumMod val="50000"/>
              </a:schemeClr>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680663972"/>
      </p:ext>
    </p:extLst>
  </p:cSld>
  <p:clrMapOvr>
    <a:masterClrMapping/>
  </p:clrMapOvr>
  <p:transition>
    <p:push dir="u"/>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D’autres références</a:t>
            </a:r>
          </a:p>
        </p:txBody>
      </p:sp>
      <p:sp>
        <p:nvSpPr>
          <p:cNvPr id="9" name="Espace réservé du contenu 8"/>
          <p:cNvSpPr>
            <a:spLocks noGrp="1"/>
          </p:cNvSpPr>
          <p:nvPr>
            <p:ph idx="1"/>
          </p:nvPr>
        </p:nvSpPr>
        <p:spPr/>
        <p:txBody>
          <a:bodyPr>
            <a:normAutofit/>
          </a:bodyPr>
          <a:lstStyle/>
          <a:p>
            <a:pPr>
              <a:lnSpc>
                <a:spcPct val="150000"/>
              </a:lnSpc>
            </a:pPr>
            <a:r>
              <a:rPr lang="fr-FR" sz="1800" i="1" dirty="0">
                <a:solidFill>
                  <a:schemeClr val="accent2"/>
                </a:solidFill>
                <a:hlinkClick r:id="rId2"/>
              </a:rPr>
              <a:t>http://fr.wikibooks.org/wiki/Programmation_Java/Types_génériques</a:t>
            </a:r>
            <a:endParaRPr lang="fr-FR" sz="1800" i="1" dirty="0">
              <a:solidFill>
                <a:schemeClr val="accent2"/>
              </a:solidFill>
            </a:endParaRPr>
          </a:p>
          <a:p>
            <a:pPr>
              <a:lnSpc>
                <a:spcPct val="150000"/>
              </a:lnSpc>
            </a:pPr>
            <a:endParaRPr lang="fr-FR" sz="1800" i="1" dirty="0">
              <a:solidFill>
                <a:schemeClr val="accent2"/>
              </a:solidFill>
              <a:hlinkClick r:id=""/>
            </a:endParaRPr>
          </a:p>
          <a:p>
            <a:pPr>
              <a:lnSpc>
                <a:spcPct val="150000"/>
              </a:lnSpc>
            </a:pPr>
            <a:r>
              <a:rPr lang="fr-FR" sz="1800" i="1" dirty="0">
                <a:solidFill>
                  <a:schemeClr val="accent2"/>
                </a:solidFill>
                <a:hlinkClick r:id=""/>
              </a:rPr>
              <a:t>http://docs.oracle.com/javase/tutorial/java/generics/index.html</a:t>
            </a:r>
            <a:endParaRPr lang="fr-FR" sz="1800" i="1" dirty="0">
              <a:solidFill>
                <a:schemeClr val="accent2"/>
              </a:solidFill>
            </a:endParaRPr>
          </a:p>
          <a:p>
            <a:pPr>
              <a:lnSpc>
                <a:spcPct val="150000"/>
              </a:lnSpc>
            </a:pPr>
            <a:endParaRPr lang="fr-FR" sz="1800" i="1" dirty="0">
              <a:solidFill>
                <a:schemeClr val="accent2"/>
              </a:solidFill>
            </a:endParaRPr>
          </a:p>
          <a:p>
            <a:pPr>
              <a:lnSpc>
                <a:spcPct val="150000"/>
              </a:lnSpc>
            </a:pPr>
            <a:r>
              <a:rPr lang="fr-FR" sz="1800" i="1" dirty="0">
                <a:solidFill>
                  <a:schemeClr val="accent2"/>
                </a:solidFill>
                <a:hlinkClick r:id="rId3"/>
              </a:rPr>
              <a:t>https://</a:t>
            </a:r>
            <a:r>
              <a:rPr lang="fr-FR" sz="1800" i="1" dirty="0" err="1">
                <a:solidFill>
                  <a:schemeClr val="accent2"/>
                </a:solidFill>
                <a:hlinkClick r:id="rId3"/>
              </a:rPr>
              <a:t>openclassrooms.com</a:t>
            </a:r>
            <a:r>
              <a:rPr lang="fr-FR" sz="1800" i="1" dirty="0">
                <a:solidFill>
                  <a:schemeClr val="accent2"/>
                </a:solidFill>
                <a:hlinkClick r:id="rId3"/>
              </a:rPr>
              <a:t>/</a:t>
            </a:r>
            <a:r>
              <a:rPr lang="fr-FR" sz="1800" i="1" dirty="0" err="1">
                <a:solidFill>
                  <a:schemeClr val="accent2"/>
                </a:solidFill>
                <a:hlinkClick r:id="rId3"/>
              </a:rPr>
              <a:t>fr</a:t>
            </a:r>
            <a:r>
              <a:rPr lang="fr-FR" sz="1800" i="1" dirty="0">
                <a:solidFill>
                  <a:schemeClr val="accent2"/>
                </a:solidFill>
                <a:hlinkClick r:id="rId3"/>
              </a:rPr>
              <a:t>/courses/26832-apprenez-a-programmer-en-java/22404-apprehendez-la-genericite-en-java</a:t>
            </a:r>
            <a:endParaRPr lang="fr-FR" sz="1800" i="1" dirty="0">
              <a:solidFill>
                <a:schemeClr val="accent2"/>
              </a:solidFill>
            </a:endParaRPr>
          </a:p>
          <a:p>
            <a:pPr>
              <a:lnSpc>
                <a:spcPct val="150000"/>
              </a:lnSpc>
            </a:pPr>
            <a:endParaRPr lang="fr-FR" dirty="0"/>
          </a:p>
        </p:txBody>
      </p:sp>
      <p:pic>
        <p:nvPicPr>
          <p:cNvPr id="7170" name="Picture 2" descr="Chaîne tendue PNG transparents - StickPNG">
            <a:extLst>
              <a:ext uri="{FF2B5EF4-FFF2-40B4-BE49-F238E27FC236}">
                <a16:creationId xmlns:a16="http://schemas.microsoft.com/office/drawing/2014/main" id="{B92AE1CB-876D-ED59-0C36-4F39132E70E3}"/>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t="39693" b="39693"/>
          <a:stretch/>
        </p:blipFill>
        <p:spPr bwMode="auto">
          <a:xfrm rot="1476660">
            <a:off x="7279944" y="441435"/>
            <a:ext cx="5321960" cy="877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7286773"/>
      </p:ext>
    </p:extLst>
  </p:cSld>
  <p:clrMapOvr>
    <a:masterClrMapping/>
  </p:clrMapOvr>
  <p:transition>
    <p:push dir="u"/>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pic>
        <p:nvPicPr>
          <p:cNvPr id="1030" name="Picture 6" descr="AI &amp; Big Data | IAV">
            <a:extLst>
              <a:ext uri="{FF2B5EF4-FFF2-40B4-BE49-F238E27FC236}">
                <a16:creationId xmlns:a16="http://schemas.microsoft.com/office/drawing/2014/main" id="{3709C831-3988-E91D-67DA-F5E87D122BEC}"/>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19581" r="19581"/>
          <a:stretch/>
        </p:blipFill>
        <p:spPr bwMode="auto">
          <a:xfrm>
            <a:off x="3407229" y="942975"/>
            <a:ext cx="5377542" cy="4972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3911762"/>
      </p:ext>
    </p:extLst>
  </p:cSld>
  <p:clrMapOvr>
    <a:masterClrMapping/>
  </p:clrMapOvr>
  <p:transition>
    <p:push dir="u"/>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BC18DC-5789-A343-9CF8-610E340ECFCA}"/>
              </a:ext>
            </a:extLst>
          </p:cNvPr>
          <p:cNvSpPr>
            <a:spLocks noGrp="1"/>
          </p:cNvSpPr>
          <p:nvPr>
            <p:ph type="title"/>
          </p:nvPr>
        </p:nvSpPr>
        <p:spPr/>
        <p:txBody>
          <a:bodyPr/>
          <a:lstStyle/>
          <a:p>
            <a:r>
              <a:rPr lang="fr-FR" dirty="0"/>
              <a:t>Exercice</a:t>
            </a:r>
          </a:p>
        </p:txBody>
      </p:sp>
      <p:sp>
        <p:nvSpPr>
          <p:cNvPr id="5" name="Espace réservé du contenu 4">
            <a:extLst>
              <a:ext uri="{FF2B5EF4-FFF2-40B4-BE49-F238E27FC236}">
                <a16:creationId xmlns:a16="http://schemas.microsoft.com/office/drawing/2014/main" id="{3F8D6BDE-490E-3140-9666-7A039C4FFA76}"/>
              </a:ext>
            </a:extLst>
          </p:cNvPr>
          <p:cNvSpPr>
            <a:spLocks noGrp="1"/>
          </p:cNvSpPr>
          <p:nvPr>
            <p:ph idx="1"/>
          </p:nvPr>
        </p:nvSpPr>
        <p:spPr/>
        <p:txBody>
          <a:bodyPr>
            <a:normAutofit lnSpcReduction="10000"/>
          </a:bodyPr>
          <a:lstStyle/>
          <a:p>
            <a:pPr marL="0" indent="0">
              <a:buNone/>
            </a:pPr>
            <a:r>
              <a:rPr lang="fr-FR" dirty="0"/>
              <a:t>Ecrivez une classe </a:t>
            </a:r>
            <a:r>
              <a:rPr lang="fr-FR" sz="2600" dirty="0" err="1">
                <a:solidFill>
                  <a:schemeClr val="accent4"/>
                </a:solidFill>
                <a:latin typeface="Consolas"/>
                <a:cs typeface="Consolas"/>
              </a:rPr>
              <a:t>TripletI</a:t>
            </a:r>
            <a:r>
              <a:rPr lang="fr-FR" dirty="0"/>
              <a:t>, de façon à ce qu’un triplet contienne trois objets de type identique.</a:t>
            </a:r>
          </a:p>
          <a:p>
            <a:pPr marL="0" indent="0">
              <a:buNone/>
            </a:pPr>
            <a:r>
              <a:rPr lang="fr-FR" dirty="0"/>
              <a:t>Ecrivez aussi un programme dans lequel vous créez un triplet de </a:t>
            </a:r>
            <a:r>
              <a:rPr lang="fr-FR" sz="2600" dirty="0">
                <a:solidFill>
                  <a:schemeClr val="accent4"/>
                </a:solidFill>
                <a:latin typeface="Consolas"/>
                <a:cs typeface="Consolas"/>
              </a:rPr>
              <a:t>String</a:t>
            </a:r>
            <a:r>
              <a:rPr lang="fr-FR" dirty="0"/>
              <a:t>, de </a:t>
            </a:r>
            <a:r>
              <a:rPr lang="fr-FR" sz="2600" dirty="0">
                <a:solidFill>
                  <a:schemeClr val="accent4"/>
                </a:solidFill>
                <a:latin typeface="Consolas"/>
                <a:cs typeface="Consolas"/>
              </a:rPr>
              <a:t>Point</a:t>
            </a:r>
            <a:r>
              <a:rPr lang="fr-FR" dirty="0"/>
              <a:t>, et d’</a:t>
            </a:r>
            <a:r>
              <a:rPr lang="fr-FR" sz="2600" dirty="0">
                <a:solidFill>
                  <a:schemeClr val="accent4"/>
                </a:solidFill>
                <a:latin typeface="Consolas"/>
                <a:cs typeface="Consolas"/>
              </a:rPr>
              <a:t>Integer</a:t>
            </a:r>
            <a:r>
              <a:rPr lang="fr-FR" dirty="0"/>
              <a:t>.</a:t>
            </a:r>
          </a:p>
          <a:p>
            <a:pPr marL="0" indent="0">
              <a:buNone/>
            </a:pPr>
            <a:endParaRPr lang="fr-FR" dirty="0"/>
          </a:p>
          <a:p>
            <a:pPr marL="0" indent="0">
              <a:buNone/>
            </a:pPr>
            <a:r>
              <a:rPr lang="fr-FR" dirty="0"/>
              <a:t>Ecrivez </a:t>
            </a:r>
            <a:r>
              <a:rPr lang="fr-FR" dirty="0" err="1"/>
              <a:t>ensite</a:t>
            </a:r>
            <a:r>
              <a:rPr lang="fr-FR" dirty="0"/>
              <a:t> une classe </a:t>
            </a:r>
            <a:r>
              <a:rPr lang="fr-FR" sz="2600" dirty="0" err="1">
                <a:solidFill>
                  <a:schemeClr val="accent4"/>
                </a:solidFill>
                <a:latin typeface="Consolas"/>
                <a:cs typeface="Consolas"/>
              </a:rPr>
              <a:t>TripletD</a:t>
            </a:r>
            <a:r>
              <a:rPr lang="fr-FR" dirty="0"/>
              <a:t>, de façon à ce qu’un triplet contienne trois objets de types différents.</a:t>
            </a:r>
          </a:p>
          <a:p>
            <a:pPr marL="0" indent="0">
              <a:buNone/>
            </a:pPr>
            <a:r>
              <a:rPr lang="fr-FR" dirty="0"/>
              <a:t>Ecrivez aussi un programme dans lequel vous créez un triplet contenant un </a:t>
            </a:r>
            <a:r>
              <a:rPr lang="fr-FR" dirty="0">
                <a:solidFill>
                  <a:schemeClr val="accent4"/>
                </a:solidFill>
                <a:latin typeface="Consolas"/>
                <a:cs typeface="Consolas"/>
              </a:rPr>
              <a:t>String</a:t>
            </a:r>
            <a:r>
              <a:rPr lang="fr-FR" dirty="0"/>
              <a:t>, un </a:t>
            </a:r>
            <a:r>
              <a:rPr lang="fr-FR" dirty="0">
                <a:solidFill>
                  <a:schemeClr val="accent4"/>
                </a:solidFill>
                <a:latin typeface="Consolas"/>
                <a:cs typeface="Consolas"/>
              </a:rPr>
              <a:t>Integer</a:t>
            </a:r>
            <a:r>
              <a:rPr lang="fr-FR" dirty="0"/>
              <a:t> et un </a:t>
            </a:r>
            <a:r>
              <a:rPr lang="fr-FR" sz="2600" dirty="0">
                <a:solidFill>
                  <a:schemeClr val="accent4"/>
                </a:solidFill>
                <a:latin typeface="Consolas"/>
                <a:cs typeface="Consolas"/>
              </a:rPr>
              <a:t>Double</a:t>
            </a:r>
            <a:r>
              <a:rPr lang="fr-FR" dirty="0"/>
              <a:t> et un triplet contenant un </a:t>
            </a:r>
            <a:r>
              <a:rPr lang="fr-FR" sz="2600" dirty="0">
                <a:solidFill>
                  <a:schemeClr val="accent4"/>
                </a:solidFill>
                <a:latin typeface="Consolas"/>
                <a:cs typeface="Consolas"/>
              </a:rPr>
              <a:t>Point</a:t>
            </a:r>
            <a:r>
              <a:rPr lang="fr-FR" dirty="0"/>
              <a:t>, un </a:t>
            </a:r>
            <a:r>
              <a:rPr lang="fr-FR" dirty="0">
                <a:solidFill>
                  <a:schemeClr val="accent4"/>
                </a:solidFill>
                <a:latin typeface="Consolas"/>
                <a:cs typeface="Consolas"/>
              </a:rPr>
              <a:t>Point</a:t>
            </a:r>
            <a:r>
              <a:rPr lang="fr-FR" dirty="0"/>
              <a:t> et un </a:t>
            </a:r>
            <a:r>
              <a:rPr lang="fr-FR" sz="2600" dirty="0">
                <a:solidFill>
                  <a:schemeClr val="accent4"/>
                </a:solidFill>
                <a:latin typeface="Consolas"/>
                <a:cs typeface="Consolas"/>
              </a:rPr>
              <a:t>Integer</a:t>
            </a:r>
            <a:r>
              <a:rPr lang="fr-FR" dirty="0"/>
              <a:t>.</a:t>
            </a:r>
          </a:p>
          <a:p>
            <a:pPr marL="0" indent="0">
              <a:buNone/>
            </a:pPr>
            <a:endParaRPr lang="fr-FR" dirty="0"/>
          </a:p>
        </p:txBody>
      </p:sp>
      <p:pic>
        <p:nvPicPr>
          <p:cNvPr id="3" name="Picture 6" descr="AI &amp; Big Data | IAV">
            <a:extLst>
              <a:ext uri="{FF2B5EF4-FFF2-40B4-BE49-F238E27FC236}">
                <a16:creationId xmlns:a16="http://schemas.microsoft.com/office/drawing/2014/main" id="{816EA68E-5817-C9FC-C8F6-4BB883BC4504}"/>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0494498" y="193110"/>
            <a:ext cx="1427367" cy="1319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7192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0E5BC4-2B9C-7341-9117-D1C784D7E791}"/>
              </a:ext>
            </a:extLst>
          </p:cNvPr>
          <p:cNvSpPr>
            <a:spLocks noGrp="1"/>
          </p:cNvSpPr>
          <p:nvPr>
            <p:ph type="title"/>
          </p:nvPr>
        </p:nvSpPr>
        <p:spPr/>
        <p:txBody>
          <a:bodyPr/>
          <a:lstStyle/>
          <a:p>
            <a:r>
              <a:rPr lang="fr-FR" dirty="0"/>
              <a:t>Exercice</a:t>
            </a:r>
          </a:p>
        </p:txBody>
      </p:sp>
      <p:sp>
        <p:nvSpPr>
          <p:cNvPr id="3" name="Espace réservé du contenu 2">
            <a:extLst>
              <a:ext uri="{FF2B5EF4-FFF2-40B4-BE49-F238E27FC236}">
                <a16:creationId xmlns:a16="http://schemas.microsoft.com/office/drawing/2014/main" id="{9797369A-581C-3A4F-9EBD-83694F77893C}"/>
              </a:ext>
            </a:extLst>
          </p:cNvPr>
          <p:cNvSpPr>
            <a:spLocks noGrp="1"/>
          </p:cNvSpPr>
          <p:nvPr>
            <p:ph idx="1"/>
          </p:nvPr>
        </p:nvSpPr>
        <p:spPr/>
        <p:txBody>
          <a:bodyPr/>
          <a:lstStyle/>
          <a:p>
            <a:pPr marL="0" indent="0">
              <a:buNone/>
            </a:pPr>
            <a:r>
              <a:rPr lang="fr-FR" dirty="0"/>
              <a:t>Créez une classe </a:t>
            </a:r>
            <a:r>
              <a:rPr lang="fr-FR" sz="2600" dirty="0">
                <a:solidFill>
                  <a:schemeClr val="accent4"/>
                </a:solidFill>
                <a:latin typeface="Consolas"/>
                <a:cs typeface="Consolas"/>
              </a:rPr>
              <a:t>Personne</a:t>
            </a:r>
            <a:r>
              <a:rPr lang="fr-FR" dirty="0"/>
              <a:t> et une classe </a:t>
            </a:r>
            <a:r>
              <a:rPr lang="fr-FR" sz="2600" dirty="0">
                <a:solidFill>
                  <a:schemeClr val="accent4"/>
                </a:solidFill>
                <a:latin typeface="Consolas"/>
                <a:cs typeface="Consolas"/>
              </a:rPr>
              <a:t>Etudiant</a:t>
            </a:r>
            <a:r>
              <a:rPr lang="fr-FR" dirty="0"/>
              <a:t> (qui hérite de </a:t>
            </a:r>
            <a:r>
              <a:rPr lang="fr-FR" sz="2600" dirty="0">
                <a:solidFill>
                  <a:schemeClr val="accent4"/>
                </a:solidFill>
                <a:latin typeface="Consolas"/>
                <a:cs typeface="Consolas"/>
              </a:rPr>
              <a:t>Personne</a:t>
            </a:r>
            <a:r>
              <a:rPr lang="fr-FR" dirty="0"/>
              <a:t>), sans logique spécifique. </a:t>
            </a:r>
          </a:p>
          <a:p>
            <a:pPr marL="0" indent="0">
              <a:buNone/>
            </a:pPr>
            <a:r>
              <a:rPr lang="fr-FR" dirty="0"/>
              <a:t>Ecrivez un </a:t>
            </a:r>
            <a:r>
              <a:rPr lang="fr-FR" sz="2600" dirty="0">
                <a:solidFill>
                  <a:schemeClr val="accent4"/>
                </a:solidFill>
                <a:latin typeface="Consolas"/>
                <a:cs typeface="Consolas"/>
              </a:rPr>
              <a:t>Programme</a:t>
            </a:r>
            <a:r>
              <a:rPr lang="fr-FR" dirty="0"/>
              <a:t> dans lequel vous instanciez un triplet de </a:t>
            </a:r>
            <a:r>
              <a:rPr lang="fr-FR" sz="2600" dirty="0">
                <a:solidFill>
                  <a:schemeClr val="accent4"/>
                </a:solidFill>
                <a:latin typeface="Consolas"/>
                <a:cs typeface="Consolas"/>
              </a:rPr>
              <a:t>Personne</a:t>
            </a:r>
            <a:r>
              <a:rPr lang="fr-FR" dirty="0"/>
              <a:t> et un triplet de </a:t>
            </a:r>
            <a:r>
              <a:rPr lang="fr-FR" sz="2600" dirty="0">
                <a:solidFill>
                  <a:schemeClr val="accent4"/>
                </a:solidFill>
                <a:latin typeface="Consolas"/>
                <a:cs typeface="Consolas"/>
              </a:rPr>
              <a:t>Etudiant</a:t>
            </a:r>
            <a:r>
              <a:rPr lang="fr-FR" dirty="0"/>
              <a:t>.</a:t>
            </a:r>
          </a:p>
          <a:p>
            <a:pPr marL="0" indent="0">
              <a:buNone/>
            </a:pPr>
            <a:endParaRPr lang="fr-FR" dirty="0"/>
          </a:p>
          <a:p>
            <a:pPr marL="0" indent="0">
              <a:buNone/>
            </a:pPr>
            <a:r>
              <a:rPr lang="fr-FR" dirty="0"/>
              <a:t>Ecrivez aussi une méthode </a:t>
            </a:r>
            <a:r>
              <a:rPr lang="fr-FR" sz="2600" dirty="0" err="1">
                <a:solidFill>
                  <a:schemeClr val="accent4"/>
                </a:solidFill>
                <a:latin typeface="Consolas"/>
                <a:cs typeface="Consolas"/>
              </a:rPr>
              <a:t>afficheTriplet</a:t>
            </a:r>
            <a:r>
              <a:rPr lang="fr-FR" dirty="0"/>
              <a:t> qui peut traiter un triplet de </a:t>
            </a:r>
            <a:r>
              <a:rPr lang="fr-FR" sz="2600" dirty="0">
                <a:solidFill>
                  <a:schemeClr val="accent4"/>
                </a:solidFill>
                <a:latin typeface="Consolas"/>
                <a:cs typeface="Consolas"/>
              </a:rPr>
              <a:t>Personne</a:t>
            </a:r>
            <a:r>
              <a:rPr lang="fr-FR" dirty="0"/>
              <a:t> ou de </a:t>
            </a:r>
            <a:r>
              <a:rPr lang="fr-FR" sz="2600" dirty="0">
                <a:solidFill>
                  <a:schemeClr val="accent4"/>
                </a:solidFill>
                <a:latin typeface="Consolas"/>
                <a:cs typeface="Consolas"/>
              </a:rPr>
              <a:t>Etudiant</a:t>
            </a:r>
            <a:r>
              <a:rPr lang="fr-FR" dirty="0"/>
              <a:t> (utilisez le joker).</a:t>
            </a:r>
          </a:p>
          <a:p>
            <a:pPr marL="0" indent="0">
              <a:buNone/>
            </a:pPr>
            <a:r>
              <a:rPr lang="fr-FR" dirty="0"/>
              <a:t>Montrez ensuite que la méthode peut traiter chacune des deux types.</a:t>
            </a:r>
          </a:p>
        </p:txBody>
      </p:sp>
      <p:pic>
        <p:nvPicPr>
          <p:cNvPr id="6" name="Picture 6" descr="AI &amp; Big Data | IAV">
            <a:extLst>
              <a:ext uri="{FF2B5EF4-FFF2-40B4-BE49-F238E27FC236}">
                <a16:creationId xmlns:a16="http://schemas.microsoft.com/office/drawing/2014/main" id="{041ED17D-76C4-708F-EF0C-996607D326B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0494498" y="193110"/>
            <a:ext cx="1427367" cy="1319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99015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0E5BC4-2B9C-7341-9117-D1C784D7E791}"/>
              </a:ext>
            </a:extLst>
          </p:cNvPr>
          <p:cNvSpPr>
            <a:spLocks noGrp="1"/>
          </p:cNvSpPr>
          <p:nvPr>
            <p:ph type="title"/>
          </p:nvPr>
        </p:nvSpPr>
        <p:spPr/>
        <p:txBody>
          <a:bodyPr/>
          <a:lstStyle/>
          <a:p>
            <a:r>
              <a:rPr lang="fr-FR" dirty="0"/>
              <a:t>Exercice</a:t>
            </a:r>
          </a:p>
        </p:txBody>
      </p:sp>
      <p:sp>
        <p:nvSpPr>
          <p:cNvPr id="3" name="Espace réservé du contenu 2">
            <a:extLst>
              <a:ext uri="{FF2B5EF4-FFF2-40B4-BE49-F238E27FC236}">
                <a16:creationId xmlns:a16="http://schemas.microsoft.com/office/drawing/2014/main" id="{9797369A-581C-3A4F-9EBD-83694F77893C}"/>
              </a:ext>
            </a:extLst>
          </p:cNvPr>
          <p:cNvSpPr>
            <a:spLocks noGrp="1"/>
          </p:cNvSpPr>
          <p:nvPr>
            <p:ph idx="1"/>
          </p:nvPr>
        </p:nvSpPr>
        <p:spPr/>
        <p:txBody>
          <a:bodyPr>
            <a:normAutofit fontScale="85000" lnSpcReduction="20000"/>
          </a:bodyPr>
          <a:lstStyle/>
          <a:p>
            <a:pPr marL="0" indent="0">
              <a:lnSpc>
                <a:spcPct val="110000"/>
              </a:lnSpc>
              <a:buNone/>
            </a:pPr>
            <a:r>
              <a:rPr lang="fr-FR" dirty="0"/>
              <a:t>Ecrivez à présent une classe </a:t>
            </a:r>
            <a:r>
              <a:rPr lang="fr-FR" sz="2600" dirty="0" err="1">
                <a:solidFill>
                  <a:schemeClr val="accent4"/>
                </a:solidFill>
                <a:latin typeface="Consolas"/>
                <a:cs typeface="Consolas"/>
              </a:rPr>
              <a:t>UtilGenerique</a:t>
            </a:r>
            <a:r>
              <a:rPr lang="fr-FR" dirty="0"/>
              <a:t> dans laquelle vous définirez une </a:t>
            </a:r>
            <a:r>
              <a:rPr lang="fr-FR" dirty="0">
                <a:solidFill>
                  <a:schemeClr val="accent4"/>
                </a:solidFill>
              </a:rPr>
              <a:t>méthode statique générique</a:t>
            </a:r>
            <a:r>
              <a:rPr lang="fr-FR" dirty="0">
                <a:solidFill>
                  <a:schemeClr val="accent2"/>
                </a:solidFill>
              </a:rPr>
              <a:t> </a:t>
            </a:r>
            <a:r>
              <a:rPr lang="fr-FR" sz="2600" dirty="0" err="1">
                <a:solidFill>
                  <a:schemeClr val="accent4"/>
                </a:solidFill>
                <a:latin typeface="Consolas"/>
                <a:cs typeface="Consolas"/>
              </a:rPr>
              <a:t>otGnirts</a:t>
            </a:r>
            <a:r>
              <a:rPr lang="fr-FR" dirty="0"/>
              <a:t> qui retourne une </a:t>
            </a:r>
            <a:r>
              <a:rPr lang="fr-FR" sz="2600" dirty="0">
                <a:solidFill>
                  <a:schemeClr val="accent4"/>
                </a:solidFill>
                <a:latin typeface="Consolas"/>
                <a:cs typeface="Consolas"/>
              </a:rPr>
              <a:t>String</a:t>
            </a:r>
            <a:r>
              <a:rPr lang="fr-FR" dirty="0"/>
              <a:t>.</a:t>
            </a:r>
          </a:p>
          <a:p>
            <a:pPr marL="0" indent="0">
              <a:lnSpc>
                <a:spcPct val="110000"/>
              </a:lnSpc>
              <a:buNone/>
            </a:pPr>
            <a:r>
              <a:rPr lang="fr-FR" dirty="0"/>
              <a:t>Cette méthode retourne le </a:t>
            </a:r>
            <a:r>
              <a:rPr lang="fr-FR" sz="2600" dirty="0" err="1">
                <a:solidFill>
                  <a:schemeClr val="accent4"/>
                </a:solidFill>
                <a:latin typeface="Consolas"/>
                <a:cs typeface="Consolas"/>
              </a:rPr>
              <a:t>toString</a:t>
            </a:r>
            <a:r>
              <a:rPr lang="fr-FR" dirty="0"/>
              <a:t> inversé (d’où son nom incongru). </a:t>
            </a:r>
          </a:p>
          <a:p>
            <a:pPr marL="457200" indent="-457200">
              <a:lnSpc>
                <a:spcPct val="110000"/>
              </a:lnSpc>
              <a:buFont typeface="+mj-lt"/>
              <a:buAutoNum type="arabicPeriod"/>
            </a:pPr>
            <a:r>
              <a:rPr lang="fr-FR" dirty="0"/>
              <a:t>Elle génère le </a:t>
            </a:r>
            <a:r>
              <a:rPr lang="fr-FR" sz="2600" dirty="0" err="1">
                <a:solidFill>
                  <a:schemeClr val="accent4"/>
                </a:solidFill>
                <a:latin typeface="Consolas"/>
                <a:cs typeface="Consolas"/>
              </a:rPr>
              <a:t>toString</a:t>
            </a:r>
            <a:r>
              <a:rPr lang="fr-FR" dirty="0"/>
              <a:t> de l’objet,</a:t>
            </a:r>
          </a:p>
          <a:p>
            <a:pPr marL="457200" indent="-457200">
              <a:lnSpc>
                <a:spcPct val="110000"/>
              </a:lnSpc>
              <a:buFont typeface="+mj-lt"/>
              <a:buAutoNum type="arabicPeriod"/>
            </a:pPr>
            <a:r>
              <a:rPr lang="fr-FR" dirty="0"/>
              <a:t>Elle inverse cette chaîne de caractères (le premier caractère devient le dernier,…) </a:t>
            </a:r>
          </a:p>
          <a:p>
            <a:pPr marL="457200" indent="-457200">
              <a:lnSpc>
                <a:spcPct val="110000"/>
              </a:lnSpc>
              <a:buFont typeface="+mj-lt"/>
              <a:buAutoNum type="arabicPeriod"/>
            </a:pPr>
            <a:r>
              <a:rPr lang="fr-FR" dirty="0"/>
              <a:t>Puis elle la retourne à l’appelant.</a:t>
            </a:r>
          </a:p>
          <a:p>
            <a:pPr>
              <a:lnSpc>
                <a:spcPct val="110000"/>
              </a:lnSpc>
            </a:pPr>
            <a:endParaRPr lang="fr-FR" dirty="0"/>
          </a:p>
          <a:p>
            <a:pPr marL="0" indent="0">
              <a:lnSpc>
                <a:spcPct val="110000"/>
              </a:lnSpc>
              <a:buNone/>
            </a:pPr>
            <a:r>
              <a:rPr lang="fr-FR" dirty="0"/>
              <a:t>Montrez ensuite dans un petit programme que la méthode fonctionne pour différents types d’objets.</a:t>
            </a:r>
          </a:p>
        </p:txBody>
      </p:sp>
      <p:pic>
        <p:nvPicPr>
          <p:cNvPr id="8" name="Picture 6" descr="AI &amp; Big Data | IAV">
            <a:extLst>
              <a:ext uri="{FF2B5EF4-FFF2-40B4-BE49-F238E27FC236}">
                <a16:creationId xmlns:a16="http://schemas.microsoft.com/office/drawing/2014/main" id="{D77670E3-9F47-07BD-948E-CDB0687392A2}"/>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0494498" y="193110"/>
            <a:ext cx="1427367" cy="1319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91336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0E5BC4-2B9C-7341-9117-D1C784D7E791}"/>
              </a:ext>
            </a:extLst>
          </p:cNvPr>
          <p:cNvSpPr>
            <a:spLocks noGrp="1"/>
          </p:cNvSpPr>
          <p:nvPr>
            <p:ph type="title"/>
          </p:nvPr>
        </p:nvSpPr>
        <p:spPr/>
        <p:txBody>
          <a:bodyPr/>
          <a:lstStyle/>
          <a:p>
            <a:r>
              <a:rPr lang="fr-FR" dirty="0"/>
              <a:t>Exercice</a:t>
            </a:r>
          </a:p>
        </p:txBody>
      </p:sp>
      <p:sp>
        <p:nvSpPr>
          <p:cNvPr id="3" name="Espace réservé du contenu 2">
            <a:extLst>
              <a:ext uri="{FF2B5EF4-FFF2-40B4-BE49-F238E27FC236}">
                <a16:creationId xmlns:a16="http://schemas.microsoft.com/office/drawing/2014/main" id="{9797369A-581C-3A4F-9EBD-83694F77893C}"/>
              </a:ext>
            </a:extLst>
          </p:cNvPr>
          <p:cNvSpPr>
            <a:spLocks noGrp="1"/>
          </p:cNvSpPr>
          <p:nvPr>
            <p:ph idx="1"/>
          </p:nvPr>
        </p:nvSpPr>
        <p:spPr>
          <a:xfrm>
            <a:off x="838200" y="4004428"/>
            <a:ext cx="10515600" cy="2172535"/>
          </a:xfrm>
        </p:spPr>
        <p:txBody>
          <a:bodyPr>
            <a:normAutofit fontScale="77500" lnSpcReduction="20000"/>
          </a:bodyPr>
          <a:lstStyle/>
          <a:p>
            <a:pPr marL="0" indent="0">
              <a:lnSpc>
                <a:spcPct val="110000"/>
              </a:lnSpc>
              <a:buNone/>
            </a:pPr>
            <a:r>
              <a:rPr lang="fr-FR" dirty="0"/>
              <a:t>Etant donné la classe </a:t>
            </a:r>
            <a:r>
              <a:rPr lang="fr-FR" sz="2600" dirty="0">
                <a:solidFill>
                  <a:schemeClr val="accent4"/>
                </a:solidFill>
                <a:latin typeface="Consolas"/>
                <a:cs typeface="Consolas"/>
              </a:rPr>
              <a:t>Couple</a:t>
            </a:r>
            <a:r>
              <a:rPr lang="fr-FR" dirty="0"/>
              <a:t> donnée ci-dessus, créez une classe </a:t>
            </a:r>
            <a:r>
              <a:rPr lang="fr-FR" sz="2600" dirty="0" err="1">
                <a:solidFill>
                  <a:schemeClr val="accent4"/>
                </a:solidFill>
                <a:latin typeface="Consolas"/>
                <a:cs typeface="Consolas"/>
              </a:rPr>
              <a:t>CoupleNomme</a:t>
            </a:r>
            <a:r>
              <a:rPr lang="fr-FR" dirty="0"/>
              <a:t> qui hérite de </a:t>
            </a:r>
            <a:r>
              <a:rPr lang="fr-FR" sz="2600" dirty="0">
                <a:solidFill>
                  <a:schemeClr val="accent4"/>
                </a:solidFill>
                <a:latin typeface="Consolas"/>
                <a:cs typeface="Consolas"/>
              </a:rPr>
              <a:t>Couple</a:t>
            </a:r>
            <a:r>
              <a:rPr lang="fr-FR" dirty="0"/>
              <a:t>.</a:t>
            </a:r>
          </a:p>
          <a:p>
            <a:pPr marL="0" indent="0">
              <a:lnSpc>
                <a:spcPct val="110000"/>
              </a:lnSpc>
              <a:buNone/>
            </a:pPr>
            <a:r>
              <a:rPr lang="fr-FR" dirty="0"/>
              <a:t>Cette nouvelle classe possède un </a:t>
            </a:r>
            <a:r>
              <a:rPr lang="fr-FR" sz="2600" dirty="0">
                <a:solidFill>
                  <a:schemeClr val="accent4"/>
                </a:solidFill>
                <a:latin typeface="Consolas"/>
                <a:cs typeface="Consolas"/>
              </a:rPr>
              <a:t>nom</a:t>
            </a:r>
            <a:r>
              <a:rPr lang="fr-FR" dirty="0"/>
              <a:t>, de type </a:t>
            </a:r>
            <a:r>
              <a:rPr lang="fr-FR" sz="2600" dirty="0">
                <a:solidFill>
                  <a:schemeClr val="accent4"/>
                </a:solidFill>
                <a:latin typeface="Consolas"/>
                <a:cs typeface="Consolas"/>
              </a:rPr>
              <a:t>String</a:t>
            </a:r>
            <a:r>
              <a:rPr lang="fr-FR" dirty="0"/>
              <a:t>, initialisé dans le constructeur.</a:t>
            </a:r>
          </a:p>
          <a:p>
            <a:pPr marL="0" indent="0">
              <a:lnSpc>
                <a:spcPct val="110000"/>
              </a:lnSpc>
              <a:buNone/>
            </a:pPr>
            <a:r>
              <a:rPr lang="fr-FR" dirty="0"/>
              <a:t>Elle redéfinit aussi la méthode affiche de </a:t>
            </a:r>
            <a:r>
              <a:rPr lang="fr-FR" sz="2600" dirty="0">
                <a:solidFill>
                  <a:schemeClr val="accent4"/>
                </a:solidFill>
                <a:latin typeface="Consolas"/>
                <a:cs typeface="Consolas"/>
              </a:rPr>
              <a:t>Couple&lt;</a:t>
            </a:r>
            <a:r>
              <a:rPr lang="fr-FR" sz="2600" dirty="0" err="1">
                <a:solidFill>
                  <a:schemeClr val="accent4"/>
                </a:solidFill>
                <a:latin typeface="Consolas"/>
                <a:cs typeface="Consolas"/>
              </a:rPr>
              <a:t>T</a:t>
            </a:r>
            <a:r>
              <a:rPr lang="fr-FR" sz="2600" dirty="0">
                <a:solidFill>
                  <a:schemeClr val="accent4"/>
                </a:solidFill>
                <a:latin typeface="Consolas"/>
                <a:cs typeface="Consolas"/>
              </a:rPr>
              <a:t>&gt;</a:t>
            </a:r>
            <a:r>
              <a:rPr lang="fr-FR" dirty="0"/>
              <a:t> pour y inclure le nom, et a un getter.</a:t>
            </a:r>
          </a:p>
          <a:p>
            <a:pPr marL="0" indent="0">
              <a:lnSpc>
                <a:spcPct val="110000"/>
              </a:lnSpc>
              <a:buNone/>
            </a:pPr>
            <a:r>
              <a:rPr lang="fr-FR" dirty="0"/>
              <a:t>Montrez ensuite dans un petit programme que cette nouvelle classe fonctionne.</a:t>
            </a:r>
          </a:p>
        </p:txBody>
      </p:sp>
      <p:sp>
        <p:nvSpPr>
          <p:cNvPr id="5" name="ZoneTexte 4">
            <a:extLst>
              <a:ext uri="{FF2B5EF4-FFF2-40B4-BE49-F238E27FC236}">
                <a16:creationId xmlns:a16="http://schemas.microsoft.com/office/drawing/2014/main" id="{A90CBC49-B076-BB61-2A4C-692916B5E985}"/>
              </a:ext>
            </a:extLst>
          </p:cNvPr>
          <p:cNvSpPr txBox="1"/>
          <p:nvPr/>
        </p:nvSpPr>
        <p:spPr>
          <a:xfrm>
            <a:off x="4000193" y="522784"/>
            <a:ext cx="6494306" cy="3323987"/>
          </a:xfrm>
          <a:prstGeom prst="rect">
            <a:avLst/>
          </a:prstGeom>
          <a:solidFill>
            <a:srgbClr val="2B2B2B"/>
          </a:solidFill>
        </p:spPr>
        <p:txBody>
          <a:bodyPr wrap="square">
            <a:spAutoFit/>
          </a:bodyPr>
          <a:lstStyle/>
          <a:p>
            <a:r>
              <a:rPr lang="fr-BE" sz="1400" dirty="0">
                <a:solidFill>
                  <a:srgbClr val="CC7832"/>
                </a:solidFill>
                <a:effectLst/>
                <a:latin typeface="Consolas" panose="020B0609020204030204" pitchFamily="49" charset="0"/>
                <a:cs typeface="Consolas" panose="020B0609020204030204" pitchFamily="49" charset="0"/>
              </a:rPr>
              <a:t>public class </a:t>
            </a:r>
            <a:r>
              <a:rPr lang="fr-BE" sz="1400" dirty="0">
                <a:latin typeface="Consolas" panose="020B0609020204030204" pitchFamily="49" charset="0"/>
                <a:cs typeface="Consolas" panose="020B0609020204030204" pitchFamily="49" charset="0"/>
              </a:rPr>
              <a:t>Couple&lt;</a:t>
            </a:r>
            <a:r>
              <a:rPr lang="fr-BE" sz="1400" dirty="0" err="1">
                <a:solidFill>
                  <a:srgbClr val="507874"/>
                </a:solidFill>
                <a:effectLst/>
                <a:latin typeface="Consolas" panose="020B0609020204030204" pitchFamily="49" charset="0"/>
                <a:cs typeface="Consolas" panose="020B0609020204030204" pitchFamily="49" charset="0"/>
              </a:rPr>
              <a:t>T</a:t>
            </a:r>
            <a:r>
              <a:rPr lang="fr-BE" sz="1400" dirty="0">
                <a:latin typeface="Consolas" panose="020B0609020204030204" pitchFamily="49" charset="0"/>
                <a:cs typeface="Consolas" panose="020B0609020204030204" pitchFamily="49" charset="0"/>
              </a:rPr>
              <a:t>&gt;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private</a:t>
            </a: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solidFill>
                  <a:srgbClr val="507874"/>
                </a:solidFill>
                <a:effectLst/>
                <a:latin typeface="Consolas" panose="020B0609020204030204" pitchFamily="49" charset="0"/>
                <a:cs typeface="Consolas" panose="020B0609020204030204" pitchFamily="49" charset="0"/>
              </a:rPr>
              <a:t>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public </a:t>
            </a:r>
            <a:r>
              <a:rPr lang="fr-BE" sz="1400" dirty="0">
                <a:solidFill>
                  <a:srgbClr val="FFC66D"/>
                </a:solidFill>
                <a:effectLst/>
                <a:latin typeface="Consolas" panose="020B0609020204030204" pitchFamily="49" charset="0"/>
                <a:cs typeface="Consolas" panose="020B0609020204030204" pitchFamily="49" charset="0"/>
              </a:rPr>
              <a:t>Couple</a:t>
            </a:r>
            <a:r>
              <a:rPr lang="fr-BE" sz="1400" dirty="0">
                <a:latin typeface="Consolas" panose="020B0609020204030204" pitchFamily="49" charset="0"/>
                <a:cs typeface="Consolas" panose="020B0609020204030204" pitchFamily="49" charset="0"/>
              </a:rPr>
              <a:t>(</a:t>
            </a:r>
            <a:r>
              <a:rPr lang="fr-BE" sz="1400" dirty="0" err="1">
                <a:solidFill>
                  <a:srgbClr val="507874"/>
                </a:solidFill>
                <a:effectLst/>
                <a:latin typeface="Consolas" panose="020B0609020204030204" pitchFamily="49" charset="0"/>
                <a:cs typeface="Consolas" panose="020B0609020204030204" pitchFamily="49" charset="0"/>
              </a:rPr>
              <a:t>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solidFill>
                  <a:srgbClr val="507874"/>
                </a:solidFill>
                <a:effectLst/>
                <a:latin typeface="Consolas" panose="020B0609020204030204" pitchFamily="49" charset="0"/>
                <a:cs typeface="Consolas" panose="020B0609020204030204" pitchFamily="49" charset="0"/>
              </a:rPr>
              <a:t>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second)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 </a:t>
            </a:r>
            <a:r>
              <a:rPr lang="fr-BE" sz="1400" dirty="0">
                <a:latin typeface="Consolas" panose="020B0609020204030204" pitchFamily="49" charset="0"/>
                <a:cs typeface="Consolas" panose="020B0609020204030204" pitchFamily="49" charset="0"/>
              </a:rPr>
              <a:t>= second</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CC7832"/>
                </a:solidFill>
                <a:effectLst/>
                <a:latin typeface="Consolas" panose="020B0609020204030204" pitchFamily="49" charset="0"/>
                <a:cs typeface="Consolas" panose="020B0609020204030204" pitchFamily="49" charset="0"/>
              </a:rPr>
              <a:t>void</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FFC66D"/>
                </a:solidFill>
                <a:effectLst/>
                <a:latin typeface="Consolas" panose="020B0609020204030204" pitchFamily="49" charset="0"/>
                <a:cs typeface="Consolas" panose="020B0609020204030204" pitchFamily="49" charset="0"/>
              </a:rPr>
              <a:t>affiche</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"premier:"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a:t>
            </a:r>
            <a:r>
              <a:rPr lang="fr-BE" sz="1400" dirty="0">
                <a:solidFill>
                  <a:srgbClr val="6A8759"/>
                </a:solidFill>
                <a:effectLst/>
                <a:latin typeface="Consolas" panose="020B0609020204030204" pitchFamily="49" charset="0"/>
                <a:cs typeface="Consolas" panose="020B0609020204030204" pitchFamily="49" charset="0"/>
              </a:rPr>
              <a:t>", second:"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507874"/>
                </a:solidFill>
                <a:effectLst/>
                <a:latin typeface="Consolas" panose="020B0609020204030204" pitchFamily="49" charset="0"/>
                <a:cs typeface="Consolas" panose="020B0609020204030204" pitchFamily="49" charset="0"/>
              </a:rPr>
              <a:t>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err="1">
                <a:solidFill>
                  <a:srgbClr val="FFC66D"/>
                </a:solidFill>
                <a:effectLst/>
                <a:latin typeface="Consolas" panose="020B0609020204030204" pitchFamily="49" charset="0"/>
                <a:cs typeface="Consolas" panose="020B0609020204030204" pitchFamily="49" charset="0"/>
              </a:rPr>
              <a:t>getPremier</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return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pic>
        <p:nvPicPr>
          <p:cNvPr id="6" name="Picture 6" descr="AI &amp; Big Data | IAV">
            <a:extLst>
              <a:ext uri="{FF2B5EF4-FFF2-40B4-BE49-F238E27FC236}">
                <a16:creationId xmlns:a16="http://schemas.microsoft.com/office/drawing/2014/main" id="{851ADC0F-1C55-4B45-0E9A-F474640B34A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0494498" y="193110"/>
            <a:ext cx="1427367" cy="1319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238644"/>
      </p:ext>
    </p:extLst>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ThemeEphec2022</Template>
  <TotalTime>50365</TotalTime>
  <Words>5519</Words>
  <Application>Microsoft Macintosh PowerPoint</Application>
  <PresentationFormat>Grand écran</PresentationFormat>
  <Paragraphs>575</Paragraphs>
  <Slides>76</Slides>
  <Notes>3</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76</vt:i4>
      </vt:variant>
    </vt:vector>
  </HeadingPairs>
  <TitlesOfParts>
    <vt:vector size="82" baseType="lpstr">
      <vt:lpstr>Arial</vt:lpstr>
      <vt:lpstr>Calibri</vt:lpstr>
      <vt:lpstr>Consolas</vt:lpstr>
      <vt:lpstr>Corbel</vt:lpstr>
      <vt:lpstr>Monaco</vt:lpstr>
      <vt:lpstr>ThemeEphec2022</vt:lpstr>
      <vt:lpstr>JAVA 2</vt:lpstr>
      <vt:lpstr>Les exceptions</vt:lpstr>
      <vt:lpstr>Gestion des exceptions</vt:lpstr>
      <vt:lpstr>Au dernier cours, nous avons vu…</vt:lpstr>
      <vt:lpstr>Exercice (1/3)</vt:lpstr>
      <vt:lpstr>Exercice (2/3)</vt:lpstr>
      <vt:lpstr>Contrôle de l’IBAN</vt:lpstr>
      <vt:lpstr>Exercice (3/3)</vt:lpstr>
      <vt:lpstr>Gestion des exceptions</vt:lpstr>
      <vt:lpstr>Communiquer avec le gestionnaire</vt:lpstr>
      <vt:lpstr>Communiquer via l'objet</vt:lpstr>
      <vt:lpstr>Communiquer via l'objet</vt:lpstr>
      <vt:lpstr>Communiquer via l'objet</vt:lpstr>
      <vt:lpstr>Communiquer via Exception</vt:lpstr>
      <vt:lpstr>Communiquer  via Exception</vt:lpstr>
      <vt:lpstr>Communiquer via Exception</vt:lpstr>
      <vt:lpstr>Communiquer via Exception</vt:lpstr>
      <vt:lpstr>Exercice</vt:lpstr>
      <vt:lpstr>Gestion des exceptions</vt:lpstr>
      <vt:lpstr>Le mécanisme de gestion des exceptions</vt:lpstr>
      <vt:lpstr>Gestion des exceptions</vt:lpstr>
      <vt:lpstr>Les Exceptions Standard</vt:lpstr>
      <vt:lpstr>Les Exceptions Standard</vt:lpstr>
      <vt:lpstr>Exercice (1/2)</vt:lpstr>
      <vt:lpstr>Exercice (2/2)</vt:lpstr>
      <vt:lpstr>Gestion des exceptions</vt:lpstr>
      <vt:lpstr>La méthode PrintStackTrace</vt:lpstr>
      <vt:lpstr>Exercice</vt:lpstr>
      <vt:lpstr>Les types génériques</vt:lpstr>
      <vt:lpstr>Types génériques</vt:lpstr>
      <vt:lpstr>Les types génériques</vt:lpstr>
      <vt:lpstr>Les types génériques</vt:lpstr>
      <vt:lpstr>Types génériques</vt:lpstr>
      <vt:lpstr>Exemple de classe générique</vt:lpstr>
      <vt:lpstr>Exemple de classe générique</vt:lpstr>
      <vt:lpstr>Exemple de classe générique</vt:lpstr>
      <vt:lpstr>Exemple de classe générique</vt:lpstr>
      <vt:lpstr>Utilisation de classe générique</vt:lpstr>
      <vt:lpstr>Utilisation de classe générique</vt:lpstr>
      <vt:lpstr>Avec ou sans type générique…</vt:lpstr>
      <vt:lpstr>Exercice</vt:lpstr>
      <vt:lpstr>Types génériques</vt:lpstr>
      <vt:lpstr>Classe générique à deux types</vt:lpstr>
      <vt:lpstr>Exercice</vt:lpstr>
      <vt:lpstr>Convention sur les noms de types</vt:lpstr>
      <vt:lpstr>Types génériques</vt:lpstr>
      <vt:lpstr>Que se passe-t-il à la compilation?</vt:lpstr>
      <vt:lpstr>Compilation de la classe générique</vt:lpstr>
      <vt:lpstr>Compilation de la classe client</vt:lpstr>
      <vt:lpstr>Quelques limitations des types génériques</vt:lpstr>
      <vt:lpstr>Quelques limitations des types génériques</vt:lpstr>
      <vt:lpstr>Types génériques</vt:lpstr>
      <vt:lpstr>Méthodes génériques</vt:lpstr>
      <vt:lpstr>Méthodes génériques</vt:lpstr>
      <vt:lpstr>Types génériques</vt:lpstr>
      <vt:lpstr>Limitations sur le type &lt;T&gt;…</vt:lpstr>
      <vt:lpstr>Limitations sur le type &lt;T&gt; d’une classe</vt:lpstr>
      <vt:lpstr>Limitations sur le type &lt;T&gt; d’une méthode</vt:lpstr>
      <vt:lpstr>Le type &lt;T&gt; doit implémenter une interface</vt:lpstr>
      <vt:lpstr>Types génériques</vt:lpstr>
      <vt:lpstr>Héritage entre types Génériques</vt:lpstr>
      <vt:lpstr>Héritages non possibles</vt:lpstr>
      <vt:lpstr>Un cas particulier…</vt:lpstr>
      <vt:lpstr>Un cas particulier…</vt:lpstr>
      <vt:lpstr>Un cas particulier…</vt:lpstr>
      <vt:lpstr>Un cas particulier…</vt:lpstr>
      <vt:lpstr>Solution: les Jokers (wildcards)</vt:lpstr>
      <vt:lpstr>Les Jokers</vt:lpstr>
      <vt:lpstr>Les Jokers</vt:lpstr>
      <vt:lpstr>Les Jokers</vt:lpstr>
      <vt:lpstr>D’autres références</vt:lpstr>
      <vt:lpstr>Exercices</vt:lpstr>
      <vt:lpstr>Exercice</vt:lpstr>
      <vt:lpstr>Exercice</vt:lpstr>
      <vt:lpstr>Exercice</vt:lpstr>
      <vt:lpstr>Exercice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38</cp:revision>
  <dcterms:created xsi:type="dcterms:W3CDTF">2023-01-04T13:50:20Z</dcterms:created>
  <dcterms:modified xsi:type="dcterms:W3CDTF">2023-03-07T16:59:31Z</dcterms:modified>
</cp:coreProperties>
</file>